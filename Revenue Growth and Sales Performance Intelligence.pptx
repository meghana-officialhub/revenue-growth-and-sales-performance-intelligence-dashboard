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embeddedFontLst>
    <p:embeddedFont>
      <p:font typeface="Liter" panose="02000503030000020004" pitchFamily="34" charset="0"/>
      <p:regular r:id="rId18"/>
    </p:embeddedFont>
    <p:embeddedFont>
      <p:font typeface="Liter" panose="02000503030000020004" pitchFamily="34" charset="-122"/>
      <p:regular r:id="rId19"/>
    </p:embeddedFont>
    <p:embeddedFont>
      <p:font typeface="Liter" panose="02000503030000020004" pitchFamily="34" charset="-120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61c9e9e06488b1f4b178b552b890c8733589542f.jpg"/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4A5C6A">
                  <a:alpha val="60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380888" y="457043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Text 2"/>
          <p:cNvSpPr/>
          <p:nvPr/>
        </p:nvSpPr>
        <p:spPr>
          <a:xfrm>
            <a:off x="1104698" y="380888"/>
            <a:ext cx="3286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31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Business Intelligence Report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0888" y="1411789"/>
            <a:ext cx="8877300" cy="2266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Growth &amp;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Performance Intelligence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0888" y="390345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5"/>
          <p:cNvSpPr/>
          <p:nvPr/>
        </p:nvSpPr>
        <p:spPr>
          <a:xfrm>
            <a:off x="380888" y="4170108"/>
            <a:ext cx="6515100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Turning Sales &amp; Operational Data into Strategic Revenue Decisions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0653" y="602928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0" name="Text 7"/>
          <p:cNvSpPr/>
          <p:nvPr/>
        </p:nvSpPr>
        <p:spPr>
          <a:xfrm>
            <a:off x="671243" y="6000750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500547" y="602928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2" name="Text 9"/>
          <p:cNvSpPr/>
          <p:nvPr/>
        </p:nvSpPr>
        <p:spPr>
          <a:xfrm>
            <a:off x="1782568" y="6000750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DAX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336613" y="602928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4" name="Text 11"/>
          <p:cNvSpPr/>
          <p:nvPr/>
        </p:nvSpPr>
        <p:spPr>
          <a:xfrm>
            <a:off x="2607918" y="6000750"/>
            <a:ext cx="933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 Schema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41527" y="5753190"/>
            <a:ext cx="1066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Prepared by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22477" y="5981767"/>
            <a:ext cx="10858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Meghana M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41527" y="6248423"/>
            <a:ext cx="1066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March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5704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" name="Shape 1"/>
          <p:cNvSpPr/>
          <p:nvPr/>
        </p:nvSpPr>
        <p:spPr>
          <a:xfrm>
            <a:off x="547530" y="60935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4" name="Text 2"/>
          <p:cNvSpPr/>
          <p:nvPr/>
        </p:nvSpPr>
        <p:spPr>
          <a:xfrm>
            <a:off x="1066508" y="380888"/>
            <a:ext cx="3619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3"/>
            <a:ext cx="37814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8859" y="1218818"/>
            <a:ext cx="7552247" cy="1390650"/>
          </a:xfrm>
          <a:custGeom>
            <a:avLst/>
            <a:gdLst/>
            <a:ahLst/>
            <a:cxnLst/>
            <a:rect l="l" t="t" r="r" b="b"/>
            <a:pathLst>
              <a:path w="7552247" h="1390650">
                <a:moveTo>
                  <a:pt x="35943" y="0"/>
                </a:moveTo>
                <a:lnTo>
                  <a:pt x="7437949" y="0"/>
                </a:lnTo>
                <a:cubicBezTo>
                  <a:pt x="7501074" y="0"/>
                  <a:pt x="7552247" y="51173"/>
                  <a:pt x="7552247" y="114298"/>
                </a:cubicBezTo>
                <a:lnTo>
                  <a:pt x="7552247" y="1276352"/>
                </a:lnTo>
                <a:cubicBezTo>
                  <a:pt x="7552247" y="1339477"/>
                  <a:pt x="7501074" y="1390650"/>
                  <a:pt x="7437949" y="1390650"/>
                </a:cubicBezTo>
                <a:lnTo>
                  <a:pt x="35943" y="1390650"/>
                </a:lnTo>
                <a:cubicBezTo>
                  <a:pt x="16092" y="1390650"/>
                  <a:pt x="0" y="1374558"/>
                  <a:pt x="0" y="135470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398859" y="1218818"/>
            <a:ext cx="35943" cy="1390650"/>
          </a:xfrm>
          <a:custGeom>
            <a:avLst/>
            <a:gdLst/>
            <a:ahLst/>
            <a:cxnLst/>
            <a:rect l="l" t="t" r="r" b="b"/>
            <a:pathLst>
              <a:path w="35943" h="1390650">
                <a:moveTo>
                  <a:pt x="35943" y="0"/>
                </a:moveTo>
                <a:lnTo>
                  <a:pt x="35943" y="0"/>
                </a:lnTo>
                <a:lnTo>
                  <a:pt x="35943" y="1390650"/>
                </a:lnTo>
                <a:lnTo>
                  <a:pt x="35943" y="1390650"/>
                </a:lnTo>
                <a:cubicBezTo>
                  <a:pt x="16092" y="1390650"/>
                  <a:pt x="0" y="1374558"/>
                  <a:pt x="0" y="135470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6"/>
          <p:cNvSpPr/>
          <p:nvPr/>
        </p:nvSpPr>
        <p:spPr>
          <a:xfrm>
            <a:off x="569141" y="1371128"/>
            <a:ext cx="7324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Multi-Dimensional E-Commerce Environment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9141" y="1713938"/>
            <a:ext cx="7305675" cy="742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dataset represents a comprehensive e-commerce sales environment containing </a:t>
            </a: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~100,000 orders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across multiple states, integrating financial, operational, and customer experience metrics for holistic business intelligence.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482" y="2765170"/>
            <a:ext cx="3702889" cy="1569289"/>
          </a:xfrm>
          <a:custGeom>
            <a:avLst/>
            <a:gdLst/>
            <a:ahLst/>
            <a:cxnLst/>
            <a:rect l="l" t="t" r="r" b="b"/>
            <a:pathLst>
              <a:path w="3702889" h="1569289">
                <a:moveTo>
                  <a:pt x="114307" y="0"/>
                </a:moveTo>
                <a:lnTo>
                  <a:pt x="3588582" y="0"/>
                </a:lnTo>
                <a:cubicBezTo>
                  <a:pt x="3651712" y="0"/>
                  <a:pt x="3702889" y="51177"/>
                  <a:pt x="3702889" y="114307"/>
                </a:cubicBezTo>
                <a:lnTo>
                  <a:pt x="3702889" y="1454982"/>
                </a:lnTo>
                <a:cubicBezTo>
                  <a:pt x="3702889" y="1518112"/>
                  <a:pt x="3651712" y="1569289"/>
                  <a:pt x="3588582" y="1569289"/>
                </a:cubicBezTo>
                <a:lnTo>
                  <a:pt x="114307" y="1569289"/>
                </a:lnTo>
                <a:cubicBezTo>
                  <a:pt x="51177" y="1569289"/>
                  <a:pt x="0" y="1518112"/>
                  <a:pt x="0" y="1454982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0386" y="2921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674927" y="3025759"/>
            <a:ext cx="107156" cy="171450"/>
          </a:xfrm>
          <a:custGeom>
            <a:avLst/>
            <a:gdLst/>
            <a:ahLst/>
            <a:cxnLst/>
            <a:rect l="l" t="t" r="r" b="b"/>
            <a:pathLst>
              <a:path w="107156" h="171450">
                <a:moveTo>
                  <a:pt x="45541" y="8037"/>
                </a:moveTo>
                <a:cubicBezTo>
                  <a:pt x="45541" y="3583"/>
                  <a:pt x="49124" y="0"/>
                  <a:pt x="53578" y="0"/>
                </a:cubicBezTo>
                <a:cubicBezTo>
                  <a:pt x="58032" y="0"/>
                  <a:pt x="61615" y="3583"/>
                  <a:pt x="61615" y="8037"/>
                </a:cubicBezTo>
                <a:lnTo>
                  <a:pt x="61615" y="21431"/>
                </a:lnTo>
                <a:lnTo>
                  <a:pt x="80367" y="21431"/>
                </a:lnTo>
                <a:cubicBezTo>
                  <a:pt x="86294" y="21431"/>
                  <a:pt x="91083" y="26220"/>
                  <a:pt x="91083" y="32147"/>
                </a:cubicBezTo>
                <a:cubicBezTo>
                  <a:pt x="91083" y="38074"/>
                  <a:pt x="86294" y="42863"/>
                  <a:pt x="80367" y="42863"/>
                </a:cubicBezTo>
                <a:lnTo>
                  <a:pt x="41891" y="42863"/>
                </a:lnTo>
                <a:cubicBezTo>
                  <a:pt x="33553" y="42863"/>
                  <a:pt x="26789" y="49627"/>
                  <a:pt x="26789" y="57965"/>
                </a:cubicBezTo>
                <a:cubicBezTo>
                  <a:pt x="26789" y="65499"/>
                  <a:pt x="32314" y="71862"/>
                  <a:pt x="39748" y="72933"/>
                </a:cubicBezTo>
                <a:lnTo>
                  <a:pt x="70422" y="77320"/>
                </a:lnTo>
                <a:cubicBezTo>
                  <a:pt x="88437" y="79898"/>
                  <a:pt x="101798" y="95302"/>
                  <a:pt x="101798" y="113485"/>
                </a:cubicBezTo>
                <a:cubicBezTo>
                  <a:pt x="101798" y="133677"/>
                  <a:pt x="85424" y="150019"/>
                  <a:pt x="65265" y="150019"/>
                </a:cubicBezTo>
                <a:lnTo>
                  <a:pt x="61615" y="150019"/>
                </a:lnTo>
                <a:lnTo>
                  <a:pt x="61615" y="163413"/>
                </a:lnTo>
                <a:cubicBezTo>
                  <a:pt x="61615" y="167867"/>
                  <a:pt x="58032" y="171450"/>
                  <a:pt x="53578" y="171450"/>
                </a:cubicBezTo>
                <a:cubicBezTo>
                  <a:pt x="49124" y="171450"/>
                  <a:pt x="45541" y="167867"/>
                  <a:pt x="45541" y="163413"/>
                </a:cubicBezTo>
                <a:lnTo>
                  <a:pt x="45541" y="150019"/>
                </a:lnTo>
                <a:lnTo>
                  <a:pt x="21431" y="150019"/>
                </a:lnTo>
                <a:cubicBezTo>
                  <a:pt x="15504" y="150019"/>
                  <a:pt x="10716" y="145230"/>
                  <a:pt x="10716" y="139303"/>
                </a:cubicBezTo>
                <a:cubicBezTo>
                  <a:pt x="10716" y="133376"/>
                  <a:pt x="15504" y="128588"/>
                  <a:pt x="21431" y="128588"/>
                </a:cubicBezTo>
                <a:lnTo>
                  <a:pt x="65265" y="128588"/>
                </a:lnTo>
                <a:cubicBezTo>
                  <a:pt x="73603" y="128588"/>
                  <a:pt x="80367" y="121823"/>
                  <a:pt x="80367" y="113485"/>
                </a:cubicBezTo>
                <a:cubicBezTo>
                  <a:pt x="80367" y="105951"/>
                  <a:pt x="74842" y="99588"/>
                  <a:pt x="67408" y="98517"/>
                </a:cubicBezTo>
                <a:lnTo>
                  <a:pt x="36735" y="94130"/>
                </a:lnTo>
                <a:cubicBezTo>
                  <a:pt x="18719" y="91585"/>
                  <a:pt x="5358" y="76148"/>
                  <a:pt x="5358" y="57965"/>
                </a:cubicBezTo>
                <a:cubicBezTo>
                  <a:pt x="5358" y="37806"/>
                  <a:pt x="21733" y="21431"/>
                  <a:pt x="41891" y="21431"/>
                </a:cubicBezTo>
                <a:lnTo>
                  <a:pt x="45541" y="21431"/>
                </a:lnTo>
                <a:lnTo>
                  <a:pt x="45541" y="8037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3" name="Text 11"/>
          <p:cNvSpPr/>
          <p:nvPr/>
        </p:nvSpPr>
        <p:spPr>
          <a:xfrm>
            <a:off x="1035507" y="2978247"/>
            <a:ext cx="1371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Financial Metrics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0386" y="3416195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tracking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0386" y="3682851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Order value analysis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0386" y="3949505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Freight cost data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5252" y="2765170"/>
            <a:ext cx="3702889" cy="1569289"/>
          </a:xfrm>
          <a:custGeom>
            <a:avLst/>
            <a:gdLst/>
            <a:ahLst/>
            <a:cxnLst/>
            <a:rect l="l" t="t" r="r" b="b"/>
            <a:pathLst>
              <a:path w="3702889" h="1569289">
                <a:moveTo>
                  <a:pt x="114307" y="0"/>
                </a:moveTo>
                <a:lnTo>
                  <a:pt x="3588582" y="0"/>
                </a:lnTo>
                <a:cubicBezTo>
                  <a:pt x="3651712" y="0"/>
                  <a:pt x="3702889" y="51177"/>
                  <a:pt x="3702889" y="114307"/>
                </a:cubicBezTo>
                <a:lnTo>
                  <a:pt x="3702889" y="1454982"/>
                </a:lnTo>
                <a:cubicBezTo>
                  <a:pt x="3702889" y="1518112"/>
                  <a:pt x="3651712" y="1569289"/>
                  <a:pt x="3588582" y="1569289"/>
                </a:cubicBezTo>
                <a:lnTo>
                  <a:pt x="114307" y="1569289"/>
                </a:lnTo>
                <a:cubicBezTo>
                  <a:pt x="51177" y="1569289"/>
                  <a:pt x="0" y="1518112"/>
                  <a:pt x="0" y="1454982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01157" y="29210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4524982" y="3025759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63155"/>
                </a:moveTo>
                <a:cubicBezTo>
                  <a:pt x="0" y="28262"/>
                  <a:pt x="28798" y="0"/>
                  <a:pt x="64294" y="0"/>
                </a:cubicBezTo>
                <a:cubicBezTo>
                  <a:pt x="99789" y="0"/>
                  <a:pt x="128588" y="28262"/>
                  <a:pt x="128588" y="63155"/>
                </a:cubicBezTo>
                <a:cubicBezTo>
                  <a:pt x="128588" y="103104"/>
                  <a:pt x="88337" y="150990"/>
                  <a:pt x="71527" y="169240"/>
                </a:cubicBezTo>
                <a:cubicBezTo>
                  <a:pt x="67575" y="173526"/>
                  <a:pt x="60979" y="173526"/>
                  <a:pt x="57027" y="169240"/>
                </a:cubicBezTo>
                <a:cubicBezTo>
                  <a:pt x="40217" y="150990"/>
                  <a:pt x="-33" y="103104"/>
                  <a:pt x="-33" y="63155"/>
                </a:cubicBezTo>
                <a:close/>
                <a:moveTo>
                  <a:pt x="64294" y="85725"/>
                </a:moveTo>
                <a:cubicBezTo>
                  <a:pt x="76122" y="85725"/>
                  <a:pt x="85725" y="76122"/>
                  <a:pt x="85725" y="64294"/>
                </a:cubicBezTo>
                <a:cubicBezTo>
                  <a:pt x="85725" y="52466"/>
                  <a:pt x="76122" y="42863"/>
                  <a:pt x="64294" y="42863"/>
                </a:cubicBezTo>
                <a:cubicBezTo>
                  <a:pt x="52466" y="42863"/>
                  <a:pt x="42863" y="52466"/>
                  <a:pt x="42863" y="64294"/>
                </a:cubicBezTo>
                <a:cubicBezTo>
                  <a:pt x="42863" y="76122"/>
                  <a:pt x="52466" y="85725"/>
                  <a:pt x="64294" y="85725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0" name="Text 18"/>
          <p:cNvSpPr/>
          <p:nvPr/>
        </p:nvSpPr>
        <p:spPr>
          <a:xfrm>
            <a:off x="4896277" y="2978247"/>
            <a:ext cx="1352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Geographic Data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01157" y="3416195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Customer state locations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01157" y="3682851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Seller state distribution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01157" y="3949505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Regional performance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482" y="4493487"/>
            <a:ext cx="3702889" cy="1569289"/>
          </a:xfrm>
          <a:custGeom>
            <a:avLst/>
            <a:gdLst/>
            <a:ahLst/>
            <a:cxnLst/>
            <a:rect l="l" t="t" r="r" b="b"/>
            <a:pathLst>
              <a:path w="3702889" h="1569289">
                <a:moveTo>
                  <a:pt x="114307" y="0"/>
                </a:moveTo>
                <a:lnTo>
                  <a:pt x="3588582" y="0"/>
                </a:lnTo>
                <a:cubicBezTo>
                  <a:pt x="3651712" y="0"/>
                  <a:pt x="3702889" y="51177"/>
                  <a:pt x="3702889" y="114307"/>
                </a:cubicBezTo>
                <a:lnTo>
                  <a:pt x="3702889" y="1454982"/>
                </a:lnTo>
                <a:cubicBezTo>
                  <a:pt x="3702889" y="1518112"/>
                  <a:pt x="3651712" y="1569289"/>
                  <a:pt x="3588582" y="1569289"/>
                </a:cubicBezTo>
                <a:lnTo>
                  <a:pt x="114307" y="1569289"/>
                </a:lnTo>
                <a:cubicBezTo>
                  <a:pt x="51177" y="1569289"/>
                  <a:pt x="0" y="1518112"/>
                  <a:pt x="0" y="1454982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0386" y="46493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653496" y="475407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23698" y="42863"/>
                </a:moveTo>
                <a:lnTo>
                  <a:pt x="112213" y="26789"/>
                </a:lnTo>
                <a:lnTo>
                  <a:pt x="37840" y="26789"/>
                </a:lnTo>
                <a:lnTo>
                  <a:pt x="26354" y="42863"/>
                </a:lnTo>
                <a:lnTo>
                  <a:pt x="123698" y="42863"/>
                </a:lnTo>
                <a:close/>
                <a:moveTo>
                  <a:pt x="0" y="49727"/>
                </a:moveTo>
                <a:cubicBezTo>
                  <a:pt x="0" y="45274"/>
                  <a:pt x="1406" y="40920"/>
                  <a:pt x="3985" y="37270"/>
                </a:cubicBezTo>
                <a:lnTo>
                  <a:pt x="20393" y="14332"/>
                </a:lnTo>
                <a:cubicBezTo>
                  <a:pt x="24412" y="8706"/>
                  <a:pt x="30908" y="5358"/>
                  <a:pt x="37806" y="5358"/>
                </a:cubicBezTo>
                <a:lnTo>
                  <a:pt x="112179" y="5358"/>
                </a:lnTo>
                <a:cubicBezTo>
                  <a:pt x="119111" y="5358"/>
                  <a:pt x="125607" y="8706"/>
                  <a:pt x="129626" y="14332"/>
                </a:cubicBezTo>
                <a:lnTo>
                  <a:pt x="146000" y="37270"/>
                </a:lnTo>
                <a:cubicBezTo>
                  <a:pt x="148612" y="40920"/>
                  <a:pt x="149985" y="45274"/>
                  <a:pt x="149985" y="49727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9727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7" name="Text 25"/>
          <p:cNvSpPr/>
          <p:nvPr/>
        </p:nvSpPr>
        <p:spPr>
          <a:xfrm>
            <a:off x="1035507" y="4706563"/>
            <a:ext cx="1076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Product Data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0386" y="5144510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Category classification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0386" y="5411166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Product ID tracking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0386" y="5677821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SKU-level details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45252" y="4493487"/>
            <a:ext cx="3702889" cy="1569289"/>
          </a:xfrm>
          <a:custGeom>
            <a:avLst/>
            <a:gdLst/>
            <a:ahLst/>
            <a:cxnLst/>
            <a:rect l="l" t="t" r="r" b="b"/>
            <a:pathLst>
              <a:path w="3702889" h="1569289">
                <a:moveTo>
                  <a:pt x="114307" y="0"/>
                </a:moveTo>
                <a:lnTo>
                  <a:pt x="3588582" y="0"/>
                </a:lnTo>
                <a:cubicBezTo>
                  <a:pt x="3651712" y="0"/>
                  <a:pt x="3702889" y="51177"/>
                  <a:pt x="3702889" y="114307"/>
                </a:cubicBezTo>
                <a:lnTo>
                  <a:pt x="3702889" y="1454982"/>
                </a:lnTo>
                <a:cubicBezTo>
                  <a:pt x="3702889" y="1518112"/>
                  <a:pt x="3651712" y="1569289"/>
                  <a:pt x="3588582" y="1569289"/>
                </a:cubicBezTo>
                <a:lnTo>
                  <a:pt x="114307" y="1569289"/>
                </a:lnTo>
                <a:cubicBezTo>
                  <a:pt x="51177" y="1569289"/>
                  <a:pt x="0" y="1518112"/>
                  <a:pt x="0" y="1454982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01157" y="464939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14266" y="475407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52831" y="83046"/>
                  <a:pt x="34826" y="65040"/>
                  <a:pt x="34826" y="42863"/>
                </a:cubicBezTo>
                <a:cubicBezTo>
                  <a:pt x="34826" y="20685"/>
                  <a:pt x="52831" y="2679"/>
                  <a:pt x="75009" y="2679"/>
                </a:cubicBezTo>
                <a:cubicBezTo>
                  <a:pt x="97187" y="2679"/>
                  <a:pt x="115193" y="20685"/>
                  <a:pt x="115193" y="42862"/>
                </a:cubicBezTo>
                <a:cubicBezTo>
                  <a:pt x="115193" y="65040"/>
                  <a:pt x="97187" y="83046"/>
                  <a:pt x="75009" y="83046"/>
                </a:cubicBezTo>
                <a:close/>
                <a:moveTo>
                  <a:pt x="64796" y="101798"/>
                </a:moveTo>
                <a:lnTo>
                  <a:pt x="85223" y="101798"/>
                </a:lnTo>
                <a:cubicBezTo>
                  <a:pt x="88471" y="101798"/>
                  <a:pt x="91083" y="104410"/>
                  <a:pt x="91083" y="107659"/>
                </a:cubicBezTo>
                <a:cubicBezTo>
                  <a:pt x="91083" y="109065"/>
                  <a:pt x="90581" y="110404"/>
                  <a:pt x="89676" y="111476"/>
                </a:cubicBezTo>
                <a:lnTo>
                  <a:pt x="80501" y="122192"/>
                </a:lnTo>
                <a:lnTo>
                  <a:pt x="90882" y="160734"/>
                </a:lnTo>
                <a:lnTo>
                  <a:pt x="91083" y="160734"/>
                </a:lnTo>
                <a:lnTo>
                  <a:pt x="102669" y="114356"/>
                </a:lnTo>
                <a:cubicBezTo>
                  <a:pt x="103406" y="111443"/>
                  <a:pt x="106386" y="109668"/>
                  <a:pt x="109199" y="110739"/>
                </a:cubicBezTo>
                <a:cubicBezTo>
                  <a:pt x="129927" y="118642"/>
                  <a:pt x="144661" y="138734"/>
                  <a:pt x="144661" y="162241"/>
                </a:cubicBezTo>
                <a:cubicBezTo>
                  <a:pt x="144661" y="167298"/>
                  <a:pt x="140542" y="171417"/>
                  <a:pt x="135486" y="171417"/>
                </a:cubicBezTo>
                <a:lnTo>
                  <a:pt x="14533" y="171450"/>
                </a:lnTo>
                <a:cubicBezTo>
                  <a:pt x="9477" y="171450"/>
                  <a:pt x="5358" y="167331"/>
                  <a:pt x="5358" y="162275"/>
                </a:cubicBezTo>
                <a:cubicBezTo>
                  <a:pt x="5358" y="138767"/>
                  <a:pt x="20092" y="118676"/>
                  <a:pt x="40820" y="110773"/>
                </a:cubicBezTo>
                <a:cubicBezTo>
                  <a:pt x="43633" y="109701"/>
                  <a:pt x="46613" y="111476"/>
                  <a:pt x="47350" y="114389"/>
                </a:cubicBezTo>
                <a:lnTo>
                  <a:pt x="58936" y="160768"/>
                </a:lnTo>
                <a:lnTo>
                  <a:pt x="59137" y="160768"/>
                </a:lnTo>
                <a:lnTo>
                  <a:pt x="69518" y="122225"/>
                </a:lnTo>
                <a:lnTo>
                  <a:pt x="60342" y="111509"/>
                </a:lnTo>
                <a:cubicBezTo>
                  <a:pt x="59438" y="110438"/>
                  <a:pt x="58936" y="109098"/>
                  <a:pt x="58936" y="107692"/>
                </a:cubicBezTo>
                <a:cubicBezTo>
                  <a:pt x="58936" y="104444"/>
                  <a:pt x="61548" y="101832"/>
                  <a:pt x="64796" y="101832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4" name="Text 32"/>
          <p:cNvSpPr/>
          <p:nvPr/>
        </p:nvSpPr>
        <p:spPr>
          <a:xfrm>
            <a:off x="4896277" y="4706563"/>
            <a:ext cx="1524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Seller Performance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01157" y="5144510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Seller ID mapping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01157" y="5411166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contribution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01157" y="5677821"/>
            <a:ext cx="34671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06022" y="1222412"/>
            <a:ext cx="3702889" cy="1226389"/>
          </a:xfrm>
          <a:custGeom>
            <a:avLst/>
            <a:gdLst/>
            <a:ahLst/>
            <a:cxnLst/>
            <a:rect l="l" t="t" r="r" b="b"/>
            <a:pathLst>
              <a:path w="3702889" h="1226389">
                <a:moveTo>
                  <a:pt x="114299" y="0"/>
                </a:moveTo>
                <a:lnTo>
                  <a:pt x="3588589" y="0"/>
                </a:lnTo>
                <a:cubicBezTo>
                  <a:pt x="3651715" y="0"/>
                  <a:pt x="3702889" y="51174"/>
                  <a:pt x="3702889" y="114299"/>
                </a:cubicBezTo>
                <a:lnTo>
                  <a:pt x="3702889" y="1112089"/>
                </a:lnTo>
                <a:cubicBezTo>
                  <a:pt x="3702889" y="1175215"/>
                  <a:pt x="3651715" y="1226389"/>
                  <a:pt x="3588589" y="1226389"/>
                </a:cubicBezTo>
                <a:lnTo>
                  <a:pt x="114299" y="1226389"/>
                </a:lnTo>
                <a:cubicBezTo>
                  <a:pt x="51174" y="1226389"/>
                  <a:pt x="0" y="1175215"/>
                  <a:pt x="0" y="1112089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80977" y="142582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0" name="Text 38"/>
          <p:cNvSpPr/>
          <p:nvPr/>
        </p:nvSpPr>
        <p:spPr>
          <a:xfrm>
            <a:off x="8471477" y="1378317"/>
            <a:ext cx="326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Operational Metrics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80977" y="17971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2" name="Text 40"/>
          <p:cNvSpPr/>
          <p:nvPr/>
        </p:nvSpPr>
        <p:spPr>
          <a:xfrm>
            <a:off x="8528470" y="1759092"/>
            <a:ext cx="2581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Delivery timelines &amp; duration tracking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61927" y="210190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9050" y="28575"/>
                </a:moveTo>
                <a:cubicBezTo>
                  <a:pt x="19050" y="18068"/>
                  <a:pt x="27593" y="9525"/>
                  <a:pt x="38100" y="9525"/>
                </a:cubicBezTo>
                <a:lnTo>
                  <a:pt x="123825" y="9525"/>
                </a:lnTo>
                <a:cubicBezTo>
                  <a:pt x="134332" y="9525"/>
                  <a:pt x="142875" y="18068"/>
                  <a:pt x="142875" y="28575"/>
                </a:cubicBezTo>
                <a:lnTo>
                  <a:pt x="142875" y="38100"/>
                </a:lnTo>
                <a:lnTo>
                  <a:pt x="157966" y="38100"/>
                </a:lnTo>
                <a:cubicBezTo>
                  <a:pt x="163026" y="38100"/>
                  <a:pt x="167878" y="40094"/>
                  <a:pt x="171450" y="43666"/>
                </a:cubicBezTo>
                <a:lnTo>
                  <a:pt x="184934" y="57150"/>
                </a:lnTo>
                <a:cubicBezTo>
                  <a:pt x="188506" y="60722"/>
                  <a:pt x="190500" y="65574"/>
                  <a:pt x="190500" y="70634"/>
                </a:cubicBezTo>
                <a:lnTo>
                  <a:pt x="190500" y="114300"/>
                </a:lnTo>
                <a:cubicBezTo>
                  <a:pt x="190500" y="124807"/>
                  <a:pt x="181957" y="133350"/>
                  <a:pt x="171450" y="133350"/>
                </a:cubicBezTo>
                <a:lnTo>
                  <a:pt x="170468" y="133350"/>
                </a:lnTo>
                <a:cubicBezTo>
                  <a:pt x="167372" y="144334"/>
                  <a:pt x="157252" y="152400"/>
                  <a:pt x="145256" y="152400"/>
                </a:cubicBezTo>
                <a:cubicBezTo>
                  <a:pt x="133261" y="152400"/>
                  <a:pt x="123170" y="144334"/>
                  <a:pt x="120045" y="133350"/>
                </a:cubicBezTo>
                <a:lnTo>
                  <a:pt x="89505" y="133350"/>
                </a:lnTo>
                <a:cubicBezTo>
                  <a:pt x="86410" y="144334"/>
                  <a:pt x="76289" y="152400"/>
                  <a:pt x="64294" y="152400"/>
                </a:cubicBezTo>
                <a:cubicBezTo>
                  <a:pt x="52298" y="152400"/>
                  <a:pt x="42208" y="144334"/>
                  <a:pt x="39082" y="133350"/>
                </a:cubicBezTo>
                <a:lnTo>
                  <a:pt x="38100" y="133350"/>
                </a:lnTo>
                <a:cubicBezTo>
                  <a:pt x="27593" y="133350"/>
                  <a:pt x="19050" y="124807"/>
                  <a:pt x="19050" y="114300"/>
                </a:cubicBez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96828"/>
                  <a:pt x="0" y="92869"/>
                </a:cubicBezTo>
                <a:cubicBezTo>
                  <a:pt x="0" y="88910"/>
                  <a:pt x="3185" y="85725"/>
                  <a:pt x="7144" y="85725"/>
                </a:cubicBezTo>
                <a:lnTo>
                  <a:pt x="40481" y="85725"/>
                </a:lnTo>
                <a:cubicBezTo>
                  <a:pt x="44440" y="85725"/>
                  <a:pt x="47625" y="82540"/>
                  <a:pt x="47625" y="78581"/>
                </a:cubicBezTo>
                <a:cubicBezTo>
                  <a:pt x="47625" y="74622"/>
                  <a:pt x="44440" y="71438"/>
                  <a:pt x="40481" y="71438"/>
                </a:cubicBezTo>
                <a:lnTo>
                  <a:pt x="7144" y="71438"/>
                </a:lnTo>
                <a:cubicBezTo>
                  <a:pt x="3185" y="71438"/>
                  <a:pt x="0" y="68253"/>
                  <a:pt x="0" y="64294"/>
                </a:cubicBezTo>
                <a:cubicBezTo>
                  <a:pt x="0" y="60335"/>
                  <a:pt x="3185" y="57150"/>
                  <a:pt x="7144" y="57150"/>
                </a:cubicBezTo>
                <a:lnTo>
                  <a:pt x="59531" y="57150"/>
                </a:lnTo>
                <a:cubicBezTo>
                  <a:pt x="63490" y="57150"/>
                  <a:pt x="66675" y="53965"/>
                  <a:pt x="66675" y="50006"/>
                </a:cubicBezTo>
                <a:cubicBezTo>
                  <a:pt x="66675" y="46047"/>
                  <a:pt x="63490" y="42863"/>
                  <a:pt x="59531" y="42863"/>
                </a:cubicBezTo>
                <a:lnTo>
                  <a:pt x="7144" y="42863"/>
                </a:lnTo>
                <a:cubicBezTo>
                  <a:pt x="3185" y="42863"/>
                  <a:pt x="0" y="39678"/>
                  <a:pt x="0" y="35719"/>
                </a:cubicBezTo>
                <a:cubicBezTo>
                  <a:pt x="0" y="31760"/>
                  <a:pt x="3185" y="28575"/>
                  <a:pt x="7144" y="28575"/>
                </a:cubicBezTo>
                <a:lnTo>
                  <a:pt x="19050" y="28575"/>
                </a:lnTo>
                <a:close/>
                <a:moveTo>
                  <a:pt x="171450" y="85725"/>
                </a:moveTo>
                <a:lnTo>
                  <a:pt x="171450" y="70634"/>
                </a:lnTo>
                <a:lnTo>
                  <a:pt x="157966" y="57150"/>
                </a:lnTo>
                <a:lnTo>
                  <a:pt x="142875" y="57150"/>
                </a:lnTo>
                <a:lnTo>
                  <a:pt x="142875" y="85725"/>
                </a:lnTo>
                <a:lnTo>
                  <a:pt x="171450" y="85725"/>
                </a:lnTo>
                <a:close/>
                <a:moveTo>
                  <a:pt x="76200" y="126206"/>
                </a:moveTo>
                <a:cubicBezTo>
                  <a:pt x="76200" y="119635"/>
                  <a:pt x="70865" y="114300"/>
                  <a:pt x="64294" y="114300"/>
                </a:cubicBezTo>
                <a:cubicBezTo>
                  <a:pt x="57723" y="114300"/>
                  <a:pt x="52388" y="119635"/>
                  <a:pt x="52388" y="126206"/>
                </a:cubicBezTo>
                <a:cubicBezTo>
                  <a:pt x="52388" y="132777"/>
                  <a:pt x="57723" y="138113"/>
                  <a:pt x="64294" y="138113"/>
                </a:cubicBezTo>
                <a:cubicBezTo>
                  <a:pt x="70865" y="138113"/>
                  <a:pt x="76200" y="132777"/>
                  <a:pt x="76200" y="126206"/>
                </a:cubicBezTo>
                <a:close/>
                <a:moveTo>
                  <a:pt x="145256" y="138113"/>
                </a:moveTo>
                <a:cubicBezTo>
                  <a:pt x="151827" y="138113"/>
                  <a:pt x="157163" y="132777"/>
                  <a:pt x="157163" y="126206"/>
                </a:cubicBezTo>
                <a:cubicBezTo>
                  <a:pt x="157163" y="119635"/>
                  <a:pt x="151827" y="114300"/>
                  <a:pt x="145256" y="114300"/>
                </a:cubicBezTo>
                <a:cubicBezTo>
                  <a:pt x="138685" y="114300"/>
                  <a:pt x="133350" y="119635"/>
                  <a:pt x="133350" y="126206"/>
                </a:cubicBezTo>
                <a:cubicBezTo>
                  <a:pt x="133350" y="132777"/>
                  <a:pt x="138685" y="138113"/>
                  <a:pt x="145256" y="138113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4" name="Text 42"/>
          <p:cNvSpPr/>
          <p:nvPr/>
        </p:nvSpPr>
        <p:spPr>
          <a:xfrm>
            <a:off x="8528470" y="2063825"/>
            <a:ext cx="21431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Order-to-delivery performance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6022" y="2607805"/>
            <a:ext cx="3702889" cy="1226389"/>
          </a:xfrm>
          <a:custGeom>
            <a:avLst/>
            <a:gdLst/>
            <a:ahLst/>
            <a:cxnLst/>
            <a:rect l="l" t="t" r="r" b="b"/>
            <a:pathLst>
              <a:path w="3702889" h="1226389">
                <a:moveTo>
                  <a:pt x="114299" y="0"/>
                </a:moveTo>
                <a:lnTo>
                  <a:pt x="3588589" y="0"/>
                </a:lnTo>
                <a:cubicBezTo>
                  <a:pt x="3651715" y="0"/>
                  <a:pt x="3702889" y="51174"/>
                  <a:pt x="3702889" y="114299"/>
                </a:cubicBezTo>
                <a:lnTo>
                  <a:pt x="3702889" y="1112089"/>
                </a:lnTo>
                <a:cubicBezTo>
                  <a:pt x="3702889" y="1175215"/>
                  <a:pt x="3651715" y="1226389"/>
                  <a:pt x="3588589" y="1226389"/>
                </a:cubicBezTo>
                <a:lnTo>
                  <a:pt x="114299" y="1226389"/>
                </a:lnTo>
                <a:cubicBezTo>
                  <a:pt x="51174" y="1226389"/>
                  <a:pt x="0" y="1175215"/>
                  <a:pt x="0" y="1112089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80977" y="281122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386" y="107792"/>
                </a:moveTo>
                <a:cubicBezTo>
                  <a:pt x="62218" y="117169"/>
                  <a:pt x="73268" y="123230"/>
                  <a:pt x="85725" y="123230"/>
                </a:cubicBezTo>
                <a:cubicBezTo>
                  <a:pt x="98182" y="123230"/>
                  <a:pt x="109232" y="117169"/>
                  <a:pt x="116064" y="107792"/>
                </a:cubicBezTo>
                <a:cubicBezTo>
                  <a:pt x="118676" y="104209"/>
                  <a:pt x="123698" y="103406"/>
                  <a:pt x="127282" y="106018"/>
                </a:cubicBezTo>
                <a:cubicBezTo>
                  <a:pt x="130865" y="108630"/>
                  <a:pt x="131668" y="113653"/>
                  <a:pt x="129056" y="117236"/>
                </a:cubicBezTo>
                <a:cubicBezTo>
                  <a:pt x="119312" y="130597"/>
                  <a:pt x="103540" y="139303"/>
                  <a:pt x="85725" y="139303"/>
                </a:cubicBezTo>
                <a:cubicBezTo>
                  <a:pt x="67910" y="139303"/>
                  <a:pt x="52138" y="130597"/>
                  <a:pt x="42394" y="117236"/>
                </a:cubicBezTo>
                <a:cubicBezTo>
                  <a:pt x="39782" y="113653"/>
                  <a:pt x="40585" y="108630"/>
                  <a:pt x="44168" y="106018"/>
                </a:cubicBezTo>
                <a:cubicBezTo>
                  <a:pt x="47752" y="103406"/>
                  <a:pt x="52774" y="104209"/>
                  <a:pt x="55386" y="107792"/>
                </a:cubicBezTo>
                <a:close/>
                <a:moveTo>
                  <a:pt x="48220" y="69652"/>
                </a:moveTo>
                <a:cubicBezTo>
                  <a:pt x="48220" y="63737"/>
                  <a:pt x="53022" y="58936"/>
                  <a:pt x="58936" y="58936"/>
                </a:cubicBezTo>
                <a:cubicBezTo>
                  <a:pt x="64850" y="58936"/>
                  <a:pt x="69652" y="63737"/>
                  <a:pt x="69652" y="69652"/>
                </a:cubicBezTo>
                <a:cubicBezTo>
                  <a:pt x="69652" y="75566"/>
                  <a:pt x="64850" y="80367"/>
                  <a:pt x="58936" y="80367"/>
                </a:cubicBezTo>
                <a:cubicBezTo>
                  <a:pt x="53022" y="80367"/>
                  <a:pt x="48220" y="75566"/>
                  <a:pt x="48220" y="69652"/>
                </a:cubicBezTo>
                <a:close/>
                <a:moveTo>
                  <a:pt x="112514" y="58936"/>
                </a:moveTo>
                <a:cubicBezTo>
                  <a:pt x="118428" y="58936"/>
                  <a:pt x="123230" y="63737"/>
                  <a:pt x="123230" y="69652"/>
                </a:cubicBezTo>
                <a:cubicBezTo>
                  <a:pt x="123230" y="75566"/>
                  <a:pt x="118428" y="80367"/>
                  <a:pt x="112514" y="80367"/>
                </a:cubicBezTo>
                <a:cubicBezTo>
                  <a:pt x="106600" y="80367"/>
                  <a:pt x="101798" y="75566"/>
                  <a:pt x="101798" y="69652"/>
                </a:cubicBezTo>
                <a:cubicBezTo>
                  <a:pt x="101798" y="63737"/>
                  <a:pt x="106600" y="58936"/>
                  <a:pt x="112514" y="58936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7" name="Text 45"/>
          <p:cNvSpPr/>
          <p:nvPr/>
        </p:nvSpPr>
        <p:spPr>
          <a:xfrm>
            <a:off x="8471477" y="2763710"/>
            <a:ext cx="326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Customer Experience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71452" y="318256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9" name="Text 47"/>
          <p:cNvSpPr/>
          <p:nvPr/>
        </p:nvSpPr>
        <p:spPr>
          <a:xfrm>
            <a:off x="8528470" y="3144486"/>
            <a:ext cx="1466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Review score ratings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71452" y="348729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51" name="Text 49"/>
          <p:cNvSpPr/>
          <p:nvPr/>
        </p:nvSpPr>
        <p:spPr>
          <a:xfrm>
            <a:off x="8528470" y="3449219"/>
            <a:ext cx="2105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Review category classification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06022" y="3993198"/>
            <a:ext cx="3702889" cy="1835989"/>
          </a:xfrm>
          <a:custGeom>
            <a:avLst/>
            <a:gdLst/>
            <a:ahLst/>
            <a:cxnLst/>
            <a:rect l="l" t="t" r="r" b="b"/>
            <a:pathLst>
              <a:path w="3702889" h="1835989">
                <a:moveTo>
                  <a:pt x="114309" y="0"/>
                </a:moveTo>
                <a:lnTo>
                  <a:pt x="3588580" y="0"/>
                </a:lnTo>
                <a:cubicBezTo>
                  <a:pt x="3651711" y="0"/>
                  <a:pt x="3702889" y="51178"/>
                  <a:pt x="3702889" y="114309"/>
                </a:cubicBezTo>
                <a:lnTo>
                  <a:pt x="3702889" y="1721680"/>
                </a:lnTo>
                <a:cubicBezTo>
                  <a:pt x="3702889" y="1784811"/>
                  <a:pt x="3651711" y="1835989"/>
                  <a:pt x="3588580" y="1835989"/>
                </a:cubicBezTo>
                <a:lnTo>
                  <a:pt x="114309" y="1835989"/>
                </a:lnTo>
                <a:cubicBezTo>
                  <a:pt x="51178" y="1835989"/>
                  <a:pt x="0" y="1784811"/>
                  <a:pt x="0" y="1721680"/>
                </a:cubicBezTo>
                <a:lnTo>
                  <a:pt x="0" y="114309"/>
                </a:lnTo>
                <a:cubicBezTo>
                  <a:pt x="0" y="51178"/>
                  <a:pt x="51178" y="0"/>
                  <a:pt x="114309" y="0"/>
                </a:cubicBezTo>
                <a:close/>
              </a:path>
            </a:pathLst>
          </a:custGeom>
          <a:solidFill>
            <a:srgbClr val="2B2D42">
              <a:alpha val="8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80977" y="419661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54" name="Text 52"/>
          <p:cNvSpPr/>
          <p:nvPr/>
        </p:nvSpPr>
        <p:spPr>
          <a:xfrm>
            <a:off x="8471477" y="4149104"/>
            <a:ext cx="326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Constraints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61927" y="4529879"/>
            <a:ext cx="133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95142" y="4529879"/>
            <a:ext cx="1619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direct profit column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61927" y="4834612"/>
            <a:ext cx="133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95142" y="4834612"/>
            <a:ext cx="1752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marketing spend data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261927" y="5139344"/>
            <a:ext cx="133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395142" y="5139344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customer lifetime tracking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261927" y="5444077"/>
            <a:ext cx="133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•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95142" y="5444077"/>
            <a:ext cx="2124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No detailed cancellation codes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5704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" name="Shape 1"/>
          <p:cNvSpPr/>
          <p:nvPr/>
        </p:nvSpPr>
        <p:spPr>
          <a:xfrm>
            <a:off x="504668" y="609352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4" name="Text 2"/>
          <p:cNvSpPr/>
          <p:nvPr/>
        </p:nvSpPr>
        <p:spPr>
          <a:xfrm>
            <a:off x="1066508" y="380887"/>
            <a:ext cx="515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Transformation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2"/>
            <a:ext cx="53149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Preparation Process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8859" y="1218817"/>
            <a:ext cx="3694622" cy="2971800"/>
          </a:xfrm>
          <a:custGeom>
            <a:avLst/>
            <a:gdLst/>
            <a:ahLst/>
            <a:cxnLst/>
            <a:rect l="l" t="t" r="r" b="b"/>
            <a:pathLst>
              <a:path w="3694622" h="2971800">
                <a:moveTo>
                  <a:pt x="35943" y="0"/>
                </a:moveTo>
                <a:lnTo>
                  <a:pt x="3580326" y="0"/>
                </a:lnTo>
                <a:cubicBezTo>
                  <a:pt x="3643408" y="0"/>
                  <a:pt x="3694622" y="51214"/>
                  <a:pt x="3694622" y="114295"/>
                </a:cubicBezTo>
                <a:lnTo>
                  <a:pt x="3694622" y="2857505"/>
                </a:lnTo>
                <a:cubicBezTo>
                  <a:pt x="3694622" y="2920586"/>
                  <a:pt x="3643408" y="2971800"/>
                  <a:pt x="3580326" y="2971800"/>
                </a:cubicBezTo>
                <a:lnTo>
                  <a:pt x="35943" y="2971800"/>
                </a:lnTo>
                <a:cubicBezTo>
                  <a:pt x="16092" y="2971800"/>
                  <a:pt x="0" y="2955708"/>
                  <a:pt x="0" y="29358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398859" y="1218817"/>
            <a:ext cx="35943" cy="2971800"/>
          </a:xfrm>
          <a:custGeom>
            <a:avLst/>
            <a:gdLst/>
            <a:ahLst/>
            <a:cxnLst/>
            <a:rect l="l" t="t" r="r" b="b"/>
            <a:pathLst>
              <a:path w="35943" h="2971800">
                <a:moveTo>
                  <a:pt x="35943" y="0"/>
                </a:moveTo>
                <a:lnTo>
                  <a:pt x="35943" y="0"/>
                </a:lnTo>
                <a:lnTo>
                  <a:pt x="35943" y="2971800"/>
                </a:lnTo>
                <a:lnTo>
                  <a:pt x="35943" y="2971800"/>
                </a:lnTo>
                <a:cubicBezTo>
                  <a:pt x="16092" y="2971800"/>
                  <a:pt x="0" y="2955708"/>
                  <a:pt x="0" y="29358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Shape 6"/>
          <p:cNvSpPr/>
          <p:nvPr/>
        </p:nvSpPr>
        <p:spPr>
          <a:xfrm>
            <a:off x="569141" y="13711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9" name="Text 7"/>
          <p:cNvSpPr/>
          <p:nvPr/>
        </p:nvSpPr>
        <p:spPr>
          <a:xfrm>
            <a:off x="521516" y="1371128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0529" y="1466378"/>
            <a:ext cx="12668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9141" y="1942515"/>
            <a:ext cx="3448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Power Query Editor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9141" y="2285326"/>
            <a:ext cx="19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9529" y="2247249"/>
            <a:ext cx="1914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Removed duplicate records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9141" y="2590058"/>
            <a:ext cx="19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9529" y="2551981"/>
            <a:ext cx="1847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Standardized date formats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9141" y="2894791"/>
            <a:ext cx="19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9529" y="2856714"/>
            <a:ext cx="2381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Validated state &amp; category naming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9141" y="3199523"/>
            <a:ext cx="19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9529" y="3161447"/>
            <a:ext cx="2228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Created delivery duration metric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9141" y="3504256"/>
            <a:ext cx="190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9529" y="3466179"/>
            <a:ext cx="18478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Categorized review scores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59629" y="1218817"/>
            <a:ext cx="3694622" cy="2971800"/>
          </a:xfrm>
          <a:custGeom>
            <a:avLst/>
            <a:gdLst/>
            <a:ahLst/>
            <a:cxnLst/>
            <a:rect l="l" t="t" r="r" b="b"/>
            <a:pathLst>
              <a:path w="3694622" h="2971800">
                <a:moveTo>
                  <a:pt x="35943" y="0"/>
                </a:moveTo>
                <a:lnTo>
                  <a:pt x="3580326" y="0"/>
                </a:lnTo>
                <a:cubicBezTo>
                  <a:pt x="3643408" y="0"/>
                  <a:pt x="3694622" y="51214"/>
                  <a:pt x="3694622" y="114295"/>
                </a:cubicBezTo>
                <a:lnTo>
                  <a:pt x="3694622" y="2857505"/>
                </a:lnTo>
                <a:cubicBezTo>
                  <a:pt x="3694622" y="2920586"/>
                  <a:pt x="3643408" y="2971800"/>
                  <a:pt x="3580326" y="2971800"/>
                </a:cubicBezTo>
                <a:lnTo>
                  <a:pt x="35943" y="2971800"/>
                </a:lnTo>
                <a:cubicBezTo>
                  <a:pt x="16092" y="2971800"/>
                  <a:pt x="0" y="2955708"/>
                  <a:pt x="0" y="29358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4259629" y="1218817"/>
            <a:ext cx="35943" cy="2971800"/>
          </a:xfrm>
          <a:custGeom>
            <a:avLst/>
            <a:gdLst/>
            <a:ahLst/>
            <a:cxnLst/>
            <a:rect l="l" t="t" r="r" b="b"/>
            <a:pathLst>
              <a:path w="35943" h="2971800">
                <a:moveTo>
                  <a:pt x="35943" y="0"/>
                </a:moveTo>
                <a:lnTo>
                  <a:pt x="35943" y="0"/>
                </a:lnTo>
                <a:lnTo>
                  <a:pt x="35943" y="2971800"/>
                </a:lnTo>
                <a:lnTo>
                  <a:pt x="35943" y="2971800"/>
                </a:lnTo>
                <a:cubicBezTo>
                  <a:pt x="16092" y="2971800"/>
                  <a:pt x="0" y="2955708"/>
                  <a:pt x="0" y="29358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4" name="Shape 22"/>
          <p:cNvSpPr/>
          <p:nvPr/>
        </p:nvSpPr>
        <p:spPr>
          <a:xfrm>
            <a:off x="4429911" y="13711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5" name="Text 23"/>
          <p:cNvSpPr/>
          <p:nvPr/>
        </p:nvSpPr>
        <p:spPr>
          <a:xfrm>
            <a:off x="4382286" y="1371128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01299" y="1466378"/>
            <a:ext cx="1781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29911" y="1942515"/>
            <a:ext cx="3448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DAX Calculated Measures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29911" y="2285326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58489" y="2247249"/>
            <a:ext cx="2038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 Revenue &amp; Total Orders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29911" y="259005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58489" y="2551981"/>
            <a:ext cx="1924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Average Order Value (AOV)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29911" y="2894791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58489" y="2856714"/>
            <a:ext cx="1638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YoY Revenue Growth 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29911" y="3199523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58489" y="3161447"/>
            <a:ext cx="12763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Positive Review 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29911" y="3504256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58489" y="3466179"/>
            <a:ext cx="1771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Freight-to-Revenue Ratio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29911" y="380898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58489" y="3770912"/>
            <a:ext cx="20097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Cumulative Seller Revenue 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20400" y="1218817"/>
            <a:ext cx="3694622" cy="2971800"/>
          </a:xfrm>
          <a:custGeom>
            <a:avLst/>
            <a:gdLst/>
            <a:ahLst/>
            <a:cxnLst/>
            <a:rect l="l" t="t" r="r" b="b"/>
            <a:pathLst>
              <a:path w="3694622" h="2971800">
                <a:moveTo>
                  <a:pt x="35943" y="0"/>
                </a:moveTo>
                <a:lnTo>
                  <a:pt x="3580326" y="0"/>
                </a:lnTo>
                <a:cubicBezTo>
                  <a:pt x="3643408" y="0"/>
                  <a:pt x="3694622" y="51214"/>
                  <a:pt x="3694622" y="114295"/>
                </a:cubicBezTo>
                <a:lnTo>
                  <a:pt x="3694622" y="2857505"/>
                </a:lnTo>
                <a:cubicBezTo>
                  <a:pt x="3694622" y="2920586"/>
                  <a:pt x="3643408" y="2971800"/>
                  <a:pt x="3580326" y="2971800"/>
                </a:cubicBezTo>
                <a:lnTo>
                  <a:pt x="35943" y="2971800"/>
                </a:lnTo>
                <a:cubicBezTo>
                  <a:pt x="16092" y="2971800"/>
                  <a:pt x="0" y="2955708"/>
                  <a:pt x="0" y="29358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8120400" y="1218817"/>
            <a:ext cx="35943" cy="2971800"/>
          </a:xfrm>
          <a:custGeom>
            <a:avLst/>
            <a:gdLst/>
            <a:ahLst/>
            <a:cxnLst/>
            <a:rect l="l" t="t" r="r" b="b"/>
            <a:pathLst>
              <a:path w="35943" h="2971800">
                <a:moveTo>
                  <a:pt x="35943" y="0"/>
                </a:moveTo>
                <a:lnTo>
                  <a:pt x="35943" y="0"/>
                </a:lnTo>
                <a:lnTo>
                  <a:pt x="35943" y="2971800"/>
                </a:lnTo>
                <a:lnTo>
                  <a:pt x="35943" y="2971800"/>
                </a:lnTo>
                <a:cubicBezTo>
                  <a:pt x="16092" y="2971800"/>
                  <a:pt x="0" y="2955708"/>
                  <a:pt x="0" y="29358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42" name="Shape 40"/>
          <p:cNvSpPr/>
          <p:nvPr/>
        </p:nvSpPr>
        <p:spPr>
          <a:xfrm>
            <a:off x="8290681" y="13711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43" name="Text 41"/>
          <p:cNvSpPr/>
          <p:nvPr/>
        </p:nvSpPr>
        <p:spPr>
          <a:xfrm>
            <a:off x="8243056" y="1371128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862069" y="1466378"/>
            <a:ext cx="13144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Data Modeling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90681" y="1942515"/>
            <a:ext cx="34480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 Schema Architecture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90681" y="2247249"/>
            <a:ext cx="3371850" cy="838200"/>
          </a:xfrm>
          <a:custGeom>
            <a:avLst/>
            <a:gdLst/>
            <a:ahLst/>
            <a:cxnLst/>
            <a:rect l="l" t="t" r="r" b="b"/>
            <a:pathLst>
              <a:path w="3371850" h="838200">
                <a:moveTo>
                  <a:pt x="76201" y="0"/>
                </a:moveTo>
                <a:lnTo>
                  <a:pt x="3295649" y="0"/>
                </a:lnTo>
                <a:cubicBezTo>
                  <a:pt x="3337734" y="0"/>
                  <a:pt x="3371850" y="34116"/>
                  <a:pt x="3371850" y="76201"/>
                </a:cubicBezTo>
                <a:lnTo>
                  <a:pt x="3371850" y="761999"/>
                </a:lnTo>
                <a:cubicBezTo>
                  <a:pt x="3371850" y="804084"/>
                  <a:pt x="3337734" y="838200"/>
                  <a:pt x="32956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8366836" y="2323404"/>
            <a:ext cx="3295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Fact Table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66836" y="2590058"/>
            <a:ext cx="3295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Orders/Sales Fact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66836" y="2818636"/>
            <a:ext cx="3286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>
                    <a:alpha val="70000"/>
                  </a:srgbClr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Revenue, Freight, Delivery Days, Review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90681" y="3161334"/>
            <a:ext cx="3371850" cy="609600"/>
          </a:xfrm>
          <a:custGeom>
            <a:avLst/>
            <a:gdLst/>
            <a:ahLst/>
            <a:cxnLst/>
            <a:rect l="l" t="t" r="r" b="b"/>
            <a:pathLst>
              <a:path w="3371850" h="609600">
                <a:moveTo>
                  <a:pt x="76200" y="0"/>
                </a:moveTo>
                <a:lnTo>
                  <a:pt x="3295650" y="0"/>
                </a:lnTo>
                <a:cubicBezTo>
                  <a:pt x="3337706" y="0"/>
                  <a:pt x="3371850" y="34144"/>
                  <a:pt x="3371850" y="76200"/>
                </a:cubicBezTo>
                <a:lnTo>
                  <a:pt x="3371850" y="533400"/>
                </a:lnTo>
                <a:cubicBezTo>
                  <a:pt x="3371850" y="575456"/>
                  <a:pt x="3337706" y="609600"/>
                  <a:pt x="32956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</p:spPr>
      </p:sp>
      <p:sp>
        <p:nvSpPr>
          <p:cNvPr id="51" name="Text 49"/>
          <p:cNvSpPr/>
          <p:nvPr/>
        </p:nvSpPr>
        <p:spPr>
          <a:xfrm>
            <a:off x="8366836" y="3237488"/>
            <a:ext cx="3295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Dimension Tables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66836" y="3504144"/>
            <a:ext cx="3286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Date, Customer State, Seller, Product, Category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84482" y="4345782"/>
            <a:ext cx="11427664" cy="1302589"/>
          </a:xfrm>
          <a:custGeom>
            <a:avLst/>
            <a:gdLst/>
            <a:ahLst/>
            <a:cxnLst/>
            <a:rect l="l" t="t" r="r" b="b"/>
            <a:pathLst>
              <a:path w="11427664" h="1302589">
                <a:moveTo>
                  <a:pt x="114302" y="0"/>
                </a:moveTo>
                <a:lnTo>
                  <a:pt x="11313362" y="0"/>
                </a:lnTo>
                <a:cubicBezTo>
                  <a:pt x="11376489" y="0"/>
                  <a:pt x="11427664" y="51175"/>
                  <a:pt x="11427664" y="114302"/>
                </a:cubicBezTo>
                <a:lnTo>
                  <a:pt x="11427664" y="1188287"/>
                </a:lnTo>
                <a:cubicBezTo>
                  <a:pt x="11427664" y="1251414"/>
                  <a:pt x="11376489" y="1302589"/>
                  <a:pt x="11313362" y="1302589"/>
                </a:cubicBezTo>
                <a:lnTo>
                  <a:pt x="114302" y="1302589"/>
                </a:lnTo>
                <a:cubicBezTo>
                  <a:pt x="51175" y="1302589"/>
                  <a:pt x="0" y="1251414"/>
                  <a:pt x="0" y="1188287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8011" y="453976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55" name="Text 53"/>
          <p:cNvSpPr/>
          <p:nvPr/>
        </p:nvSpPr>
        <p:spPr>
          <a:xfrm>
            <a:off x="778511" y="4501686"/>
            <a:ext cx="10972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Transformation Impact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68949" y="4882574"/>
            <a:ext cx="2809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99K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02286" y="52634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Clean Orders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284777" y="4882574"/>
            <a:ext cx="2809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8+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318115" y="52634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KPI Measures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100606" y="4882574"/>
            <a:ext cx="2809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133943" y="52634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Dimension Tables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916434" y="4882574"/>
            <a:ext cx="28098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&lt;2s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949771" y="5263460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Query Response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165" y="446578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74456" y="0"/>
                </a:moveTo>
                <a:lnTo>
                  <a:pt x="446728" y="0"/>
                </a:lnTo>
                <a:cubicBezTo>
                  <a:pt x="487822" y="0"/>
                  <a:pt x="521185" y="33363"/>
                  <a:pt x="521185" y="74456"/>
                </a:cubicBezTo>
                <a:lnTo>
                  <a:pt x="521185" y="446728"/>
                </a:lnTo>
                <a:cubicBezTo>
                  <a:pt x="521185" y="487849"/>
                  <a:pt x="487849" y="521185"/>
                  <a:pt x="446728" y="521185"/>
                </a:cubicBezTo>
                <a:lnTo>
                  <a:pt x="74456" y="521185"/>
                </a:lnTo>
                <a:cubicBezTo>
                  <a:pt x="33363" y="521185"/>
                  <a:pt x="0" y="487822"/>
                  <a:pt x="0" y="446728"/>
                </a:cubicBezTo>
                <a:lnTo>
                  <a:pt x="0" y="74456"/>
                </a:lnTo>
                <a:cubicBezTo>
                  <a:pt x="0" y="33335"/>
                  <a:pt x="33335" y="0"/>
                  <a:pt x="74456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" name="Shape 1"/>
          <p:cNvSpPr/>
          <p:nvPr/>
        </p:nvSpPr>
        <p:spPr>
          <a:xfrm>
            <a:off x="521031" y="595399"/>
            <a:ext cx="223365" cy="223365"/>
          </a:xfrm>
          <a:custGeom>
            <a:avLst/>
            <a:gdLst/>
            <a:ahLst/>
            <a:cxnLst/>
            <a:rect l="l" t="t" r="r" b="b"/>
            <a:pathLst>
              <a:path w="223365" h="223365">
                <a:moveTo>
                  <a:pt x="27921" y="27921"/>
                </a:moveTo>
                <a:cubicBezTo>
                  <a:pt x="27921" y="20199"/>
                  <a:pt x="21682" y="13960"/>
                  <a:pt x="13960" y="13960"/>
                </a:cubicBezTo>
                <a:cubicBezTo>
                  <a:pt x="6239" y="13960"/>
                  <a:pt x="0" y="20199"/>
                  <a:pt x="0" y="27921"/>
                </a:cubicBezTo>
                <a:lnTo>
                  <a:pt x="0" y="174504"/>
                </a:lnTo>
                <a:cubicBezTo>
                  <a:pt x="0" y="193786"/>
                  <a:pt x="15618" y="209405"/>
                  <a:pt x="34901" y="209405"/>
                </a:cubicBezTo>
                <a:lnTo>
                  <a:pt x="209405" y="209405"/>
                </a:lnTo>
                <a:cubicBezTo>
                  <a:pt x="217126" y="209405"/>
                  <a:pt x="223365" y="203166"/>
                  <a:pt x="223365" y="195444"/>
                </a:cubicBezTo>
                <a:cubicBezTo>
                  <a:pt x="223365" y="187722"/>
                  <a:pt x="217126" y="181484"/>
                  <a:pt x="209405" y="181484"/>
                </a:cubicBezTo>
                <a:lnTo>
                  <a:pt x="34901" y="181484"/>
                </a:lnTo>
                <a:cubicBezTo>
                  <a:pt x="31062" y="181484"/>
                  <a:pt x="27921" y="178343"/>
                  <a:pt x="27921" y="174504"/>
                </a:cubicBezTo>
                <a:lnTo>
                  <a:pt x="27921" y="27921"/>
                </a:lnTo>
                <a:close/>
                <a:moveTo>
                  <a:pt x="205304" y="65701"/>
                </a:moveTo>
                <a:cubicBezTo>
                  <a:pt x="210757" y="60247"/>
                  <a:pt x="210757" y="51391"/>
                  <a:pt x="205304" y="45938"/>
                </a:cubicBezTo>
                <a:cubicBezTo>
                  <a:pt x="199850" y="40485"/>
                  <a:pt x="190994" y="40485"/>
                  <a:pt x="185541" y="45938"/>
                </a:cubicBezTo>
                <a:lnTo>
                  <a:pt x="139603" y="91920"/>
                </a:lnTo>
                <a:lnTo>
                  <a:pt x="114562" y="66922"/>
                </a:lnTo>
                <a:cubicBezTo>
                  <a:pt x="109109" y="61469"/>
                  <a:pt x="100252" y="61469"/>
                  <a:pt x="94799" y="66922"/>
                </a:cubicBezTo>
                <a:lnTo>
                  <a:pt x="52918" y="108803"/>
                </a:lnTo>
                <a:cubicBezTo>
                  <a:pt x="47465" y="114256"/>
                  <a:pt x="47465" y="123112"/>
                  <a:pt x="52918" y="128566"/>
                </a:cubicBezTo>
                <a:cubicBezTo>
                  <a:pt x="58372" y="134019"/>
                  <a:pt x="67228" y="134019"/>
                  <a:pt x="72681" y="128566"/>
                </a:cubicBezTo>
                <a:lnTo>
                  <a:pt x="104702" y="96544"/>
                </a:lnTo>
                <a:lnTo>
                  <a:pt x="129744" y="121586"/>
                </a:lnTo>
                <a:cubicBezTo>
                  <a:pt x="135197" y="127039"/>
                  <a:pt x="144053" y="127039"/>
                  <a:pt x="149506" y="121586"/>
                </a:cubicBezTo>
                <a:lnTo>
                  <a:pt x="205347" y="65744"/>
                </a:lnTo>
                <a:close/>
              </a:path>
            </a:pathLst>
          </a:custGeom>
          <a:solidFill>
            <a:srgbClr val="1A1D24"/>
          </a:solidFill>
        </p:spPr>
      </p:sp>
      <p:sp>
        <p:nvSpPr>
          <p:cNvPr id="4" name="Text 2"/>
          <p:cNvSpPr/>
          <p:nvPr/>
        </p:nvSpPr>
        <p:spPr>
          <a:xfrm>
            <a:off x="1042084" y="260406"/>
            <a:ext cx="5733032" cy="1861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5" b="1" kern="0" spc="5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Performance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42084" y="595399"/>
            <a:ext cx="5891249" cy="4467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Executive Revenue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5677" y="1194419"/>
            <a:ext cx="2743244" cy="1198303"/>
          </a:xfrm>
          <a:custGeom>
            <a:avLst/>
            <a:gdLst/>
            <a:ahLst/>
            <a:cxnLst/>
            <a:rect l="l" t="t" r="r" b="b"/>
            <a:pathLst>
              <a:path w="2743244" h="1198303">
                <a:moveTo>
                  <a:pt x="111682" y="0"/>
                </a:moveTo>
                <a:lnTo>
                  <a:pt x="2631562" y="0"/>
                </a:lnTo>
                <a:cubicBezTo>
                  <a:pt x="2693201" y="0"/>
                  <a:pt x="2743244" y="50043"/>
                  <a:pt x="2743244" y="111682"/>
                </a:cubicBezTo>
                <a:lnTo>
                  <a:pt x="2743244" y="1086622"/>
                </a:lnTo>
                <a:cubicBezTo>
                  <a:pt x="2743244" y="1148260"/>
                  <a:pt x="2693201" y="1198303"/>
                  <a:pt x="2631562" y="1198303"/>
                </a:cubicBezTo>
                <a:lnTo>
                  <a:pt x="111682" y="1198303"/>
                </a:lnTo>
                <a:cubicBezTo>
                  <a:pt x="50043" y="1198303"/>
                  <a:pt x="0" y="1148260"/>
                  <a:pt x="0" y="1086622"/>
                </a:cubicBezTo>
                <a:lnTo>
                  <a:pt x="0" y="111682"/>
                </a:lnTo>
                <a:cubicBezTo>
                  <a:pt x="0" y="50043"/>
                  <a:pt x="50043" y="0"/>
                  <a:pt x="11168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0784" y="1346754"/>
            <a:ext cx="2512855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4249" y="1644508"/>
            <a:ext cx="2605924" cy="372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4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$13.59M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5437" y="2053987"/>
            <a:ext cx="2503548" cy="1861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Across all orders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75294" y="1194419"/>
            <a:ext cx="2743244" cy="1198303"/>
          </a:xfrm>
          <a:custGeom>
            <a:avLst/>
            <a:gdLst/>
            <a:ahLst/>
            <a:cxnLst/>
            <a:rect l="l" t="t" r="r" b="b"/>
            <a:pathLst>
              <a:path w="2743244" h="1198303">
                <a:moveTo>
                  <a:pt x="111682" y="0"/>
                </a:moveTo>
                <a:lnTo>
                  <a:pt x="2631562" y="0"/>
                </a:lnTo>
                <a:cubicBezTo>
                  <a:pt x="2693201" y="0"/>
                  <a:pt x="2743244" y="50043"/>
                  <a:pt x="2743244" y="111682"/>
                </a:cubicBezTo>
                <a:lnTo>
                  <a:pt x="2743244" y="1086622"/>
                </a:lnTo>
                <a:cubicBezTo>
                  <a:pt x="2743244" y="1148260"/>
                  <a:pt x="2693201" y="1198303"/>
                  <a:pt x="2631562" y="1198303"/>
                </a:cubicBezTo>
                <a:lnTo>
                  <a:pt x="111682" y="1198303"/>
                </a:lnTo>
                <a:cubicBezTo>
                  <a:pt x="50043" y="1198303"/>
                  <a:pt x="0" y="1148260"/>
                  <a:pt x="0" y="1086622"/>
                </a:cubicBezTo>
                <a:lnTo>
                  <a:pt x="0" y="111682"/>
                </a:lnTo>
                <a:cubicBezTo>
                  <a:pt x="0" y="50043"/>
                  <a:pt x="50043" y="0"/>
                  <a:pt x="111682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9585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0401" y="1346754"/>
            <a:ext cx="2512855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Total Orders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43866" y="1644508"/>
            <a:ext cx="2605924" cy="372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4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99K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95054" y="2053987"/>
            <a:ext cx="2503548" cy="1861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Processed orders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4911" y="1194419"/>
            <a:ext cx="2743244" cy="1198303"/>
          </a:xfrm>
          <a:custGeom>
            <a:avLst/>
            <a:gdLst/>
            <a:ahLst/>
            <a:cxnLst/>
            <a:rect l="l" t="t" r="r" b="b"/>
            <a:pathLst>
              <a:path w="2743244" h="1198303">
                <a:moveTo>
                  <a:pt x="111682" y="0"/>
                </a:moveTo>
                <a:lnTo>
                  <a:pt x="2631562" y="0"/>
                </a:lnTo>
                <a:cubicBezTo>
                  <a:pt x="2693201" y="0"/>
                  <a:pt x="2743244" y="50043"/>
                  <a:pt x="2743244" y="111682"/>
                </a:cubicBezTo>
                <a:lnTo>
                  <a:pt x="2743244" y="1086622"/>
                </a:lnTo>
                <a:cubicBezTo>
                  <a:pt x="2743244" y="1148260"/>
                  <a:pt x="2693201" y="1198303"/>
                  <a:pt x="2631562" y="1198303"/>
                </a:cubicBezTo>
                <a:lnTo>
                  <a:pt x="111682" y="1198303"/>
                </a:lnTo>
                <a:cubicBezTo>
                  <a:pt x="50043" y="1198303"/>
                  <a:pt x="0" y="1148260"/>
                  <a:pt x="0" y="1086622"/>
                </a:cubicBezTo>
                <a:lnTo>
                  <a:pt x="0" y="111682"/>
                </a:lnTo>
                <a:cubicBezTo>
                  <a:pt x="0" y="50043"/>
                  <a:pt x="50043" y="0"/>
                  <a:pt x="11168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0017" y="1346754"/>
            <a:ext cx="2512855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Average Order Value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43483" y="1644508"/>
            <a:ext cx="2605924" cy="372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4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$136.68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4671" y="2053987"/>
            <a:ext cx="2503548" cy="1861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 transaction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74528" y="1194419"/>
            <a:ext cx="2743244" cy="1198303"/>
          </a:xfrm>
          <a:custGeom>
            <a:avLst/>
            <a:gdLst/>
            <a:ahLst/>
            <a:cxnLst/>
            <a:rect l="l" t="t" r="r" b="b"/>
            <a:pathLst>
              <a:path w="2743244" h="1198303">
                <a:moveTo>
                  <a:pt x="111682" y="0"/>
                </a:moveTo>
                <a:lnTo>
                  <a:pt x="2631562" y="0"/>
                </a:lnTo>
                <a:cubicBezTo>
                  <a:pt x="2693201" y="0"/>
                  <a:pt x="2743244" y="50043"/>
                  <a:pt x="2743244" y="111682"/>
                </a:cubicBezTo>
                <a:lnTo>
                  <a:pt x="2743244" y="1086622"/>
                </a:lnTo>
                <a:cubicBezTo>
                  <a:pt x="2743244" y="1148260"/>
                  <a:pt x="2693201" y="1198303"/>
                  <a:pt x="2631562" y="1198303"/>
                </a:cubicBezTo>
                <a:lnTo>
                  <a:pt x="111682" y="1198303"/>
                </a:lnTo>
                <a:cubicBezTo>
                  <a:pt x="50043" y="1198303"/>
                  <a:pt x="0" y="1148260"/>
                  <a:pt x="0" y="1086622"/>
                </a:cubicBezTo>
                <a:lnTo>
                  <a:pt x="0" y="111682"/>
                </a:lnTo>
                <a:cubicBezTo>
                  <a:pt x="0" y="50043"/>
                  <a:pt x="50043" y="0"/>
                  <a:pt x="11168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635" y="1346754"/>
            <a:ext cx="2512855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YoY Growth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3100" y="1644508"/>
            <a:ext cx="2605924" cy="372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4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2.05%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94288" y="2053987"/>
            <a:ext cx="2503548" cy="1861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Year-over-year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5677" y="2548196"/>
            <a:ext cx="7573510" cy="4306798"/>
          </a:xfrm>
          <a:custGeom>
            <a:avLst/>
            <a:gdLst/>
            <a:ahLst/>
            <a:cxnLst/>
            <a:rect l="l" t="t" r="r" b="b"/>
            <a:pathLst>
              <a:path w="7573510" h="4306798">
                <a:moveTo>
                  <a:pt x="111675" y="0"/>
                </a:moveTo>
                <a:lnTo>
                  <a:pt x="7461834" y="0"/>
                </a:lnTo>
                <a:cubicBezTo>
                  <a:pt x="7523511" y="0"/>
                  <a:pt x="7573510" y="49999"/>
                  <a:pt x="7573510" y="111675"/>
                </a:cubicBezTo>
                <a:lnTo>
                  <a:pt x="7573510" y="4195123"/>
                </a:lnTo>
                <a:cubicBezTo>
                  <a:pt x="7573510" y="4256799"/>
                  <a:pt x="7523511" y="4306798"/>
                  <a:pt x="7461834" y="4306798"/>
                </a:cubicBezTo>
                <a:lnTo>
                  <a:pt x="111675" y="4306798"/>
                </a:lnTo>
                <a:cubicBezTo>
                  <a:pt x="49999" y="4306798"/>
                  <a:pt x="0" y="4256799"/>
                  <a:pt x="0" y="4195123"/>
                </a:cubicBezTo>
                <a:lnTo>
                  <a:pt x="0" y="111675"/>
                </a:lnTo>
                <a:cubicBezTo>
                  <a:pt x="0" y="50040"/>
                  <a:pt x="50040" y="0"/>
                  <a:pt x="111675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1278" y="2737735"/>
            <a:ext cx="186137" cy="186137"/>
          </a:xfrm>
          <a:custGeom>
            <a:avLst/>
            <a:gdLst/>
            <a:ahLst/>
            <a:cxnLst/>
            <a:rect l="l" t="t" r="r" b="b"/>
            <a:pathLst>
              <a:path w="186137" h="186137">
                <a:moveTo>
                  <a:pt x="11634" y="11634"/>
                </a:moveTo>
                <a:cubicBezTo>
                  <a:pt x="18068" y="11634"/>
                  <a:pt x="23267" y="16832"/>
                  <a:pt x="23267" y="23267"/>
                </a:cubicBezTo>
                <a:lnTo>
                  <a:pt x="23267" y="145420"/>
                </a:lnTo>
                <a:cubicBezTo>
                  <a:pt x="23267" y="148619"/>
                  <a:pt x="25885" y="151237"/>
                  <a:pt x="29084" y="151237"/>
                </a:cubicBezTo>
                <a:lnTo>
                  <a:pt x="174504" y="151237"/>
                </a:lnTo>
                <a:cubicBezTo>
                  <a:pt x="180939" y="151237"/>
                  <a:pt x="186137" y="156435"/>
                  <a:pt x="186137" y="162870"/>
                </a:cubicBezTo>
                <a:cubicBezTo>
                  <a:pt x="186137" y="169305"/>
                  <a:pt x="180939" y="174504"/>
                  <a:pt x="174504" y="174504"/>
                </a:cubicBezTo>
                <a:lnTo>
                  <a:pt x="29084" y="174504"/>
                </a:lnTo>
                <a:cubicBezTo>
                  <a:pt x="13015" y="174504"/>
                  <a:pt x="0" y="161489"/>
                  <a:pt x="0" y="145420"/>
                </a:cubicBezTo>
                <a:lnTo>
                  <a:pt x="0" y="23267"/>
                </a:lnTo>
                <a:cubicBezTo>
                  <a:pt x="0" y="16832"/>
                  <a:pt x="5199" y="11634"/>
                  <a:pt x="11634" y="11634"/>
                </a:cubicBezTo>
                <a:close/>
                <a:moveTo>
                  <a:pt x="87252" y="34901"/>
                </a:moveTo>
                <a:cubicBezTo>
                  <a:pt x="89688" y="34901"/>
                  <a:pt x="92014" y="35919"/>
                  <a:pt x="93687" y="37736"/>
                </a:cubicBezTo>
                <a:lnTo>
                  <a:pt x="119535" y="65912"/>
                </a:lnTo>
                <a:lnTo>
                  <a:pt x="136331" y="49079"/>
                </a:lnTo>
                <a:cubicBezTo>
                  <a:pt x="139748" y="45662"/>
                  <a:pt x="145274" y="45662"/>
                  <a:pt x="148655" y="49079"/>
                </a:cubicBezTo>
                <a:lnTo>
                  <a:pt x="171923" y="72346"/>
                </a:lnTo>
                <a:cubicBezTo>
                  <a:pt x="173559" y="73982"/>
                  <a:pt x="174467" y="76200"/>
                  <a:pt x="174467" y="78527"/>
                </a:cubicBezTo>
                <a:lnTo>
                  <a:pt x="174467" y="119244"/>
                </a:lnTo>
                <a:cubicBezTo>
                  <a:pt x="174467" y="124079"/>
                  <a:pt x="170577" y="127969"/>
                  <a:pt x="165742" y="127969"/>
                </a:cubicBezTo>
                <a:lnTo>
                  <a:pt x="55223" y="127969"/>
                </a:lnTo>
                <a:cubicBezTo>
                  <a:pt x="50388" y="127969"/>
                  <a:pt x="46498" y="124079"/>
                  <a:pt x="46498" y="119244"/>
                </a:cubicBezTo>
                <a:lnTo>
                  <a:pt x="46498" y="78527"/>
                </a:lnTo>
                <a:cubicBezTo>
                  <a:pt x="46498" y="76345"/>
                  <a:pt x="47334" y="74237"/>
                  <a:pt x="48788" y="72637"/>
                </a:cubicBezTo>
                <a:lnTo>
                  <a:pt x="80781" y="37736"/>
                </a:lnTo>
                <a:cubicBezTo>
                  <a:pt x="82417" y="35919"/>
                  <a:pt x="84780" y="34901"/>
                  <a:pt x="87216" y="34901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4" name="Text 22"/>
          <p:cNvSpPr/>
          <p:nvPr/>
        </p:nvSpPr>
        <p:spPr>
          <a:xfrm>
            <a:off x="760683" y="2700531"/>
            <a:ext cx="7129063" cy="260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5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Trend Over Time</a:t>
            </a:r>
            <a:endParaRPr lang="en-US" sz="1600" dirty="0"/>
          </a:p>
        </p:txBody>
      </p:sp>
      <p:pic>
        <p:nvPicPr>
          <p:cNvPr id="25" name="Image 0" descr="https://kimi-img.moonshot.cn/pub/slides/26-03-03-13:43:41-d6j7a3e4t3omi6g0gkcg.png"/>
          <p:cNvPicPr>
            <a:picLocks noChangeAspect="1"/>
          </p:cNvPicPr>
          <p:nvPr/>
        </p:nvPicPr>
        <p:blipFill>
          <a:blip r:embed="rId1"/>
          <a:srcRect t="11" b="11"/>
          <a:stretch>
            <a:fillRect/>
          </a:stretch>
        </p:blipFill>
        <p:spPr>
          <a:xfrm>
            <a:off x="528011" y="3035489"/>
            <a:ext cx="7082528" cy="3666907"/>
          </a:xfrm>
          <a:prstGeom prst="roundRect">
            <a:avLst>
              <a:gd name="adj" fmla="val 0"/>
            </a:avLst>
          </a:prstGeom>
        </p:spPr>
      </p:pic>
      <p:sp>
        <p:nvSpPr>
          <p:cNvPr id="26" name="Shape 23"/>
          <p:cNvSpPr/>
          <p:nvPr/>
        </p:nvSpPr>
        <p:spPr>
          <a:xfrm>
            <a:off x="8122000" y="2544684"/>
            <a:ext cx="3703081" cy="1451872"/>
          </a:xfrm>
          <a:custGeom>
            <a:avLst/>
            <a:gdLst/>
            <a:ahLst/>
            <a:cxnLst/>
            <a:rect l="l" t="t" r="r" b="b"/>
            <a:pathLst>
              <a:path w="3703081" h="1451872">
                <a:moveTo>
                  <a:pt x="35120" y="0"/>
                </a:moveTo>
                <a:lnTo>
                  <a:pt x="3591403" y="0"/>
                </a:lnTo>
                <a:cubicBezTo>
                  <a:pt x="3653081" y="0"/>
                  <a:pt x="3703081" y="50000"/>
                  <a:pt x="3703081" y="111678"/>
                </a:cubicBezTo>
                <a:lnTo>
                  <a:pt x="3703081" y="1340194"/>
                </a:lnTo>
                <a:cubicBezTo>
                  <a:pt x="3703081" y="1401872"/>
                  <a:pt x="3653081" y="1451872"/>
                  <a:pt x="3591403" y="1451872"/>
                </a:cubicBezTo>
                <a:lnTo>
                  <a:pt x="35120" y="1451872"/>
                </a:lnTo>
                <a:cubicBezTo>
                  <a:pt x="15724" y="1451872"/>
                  <a:pt x="0" y="1436148"/>
                  <a:pt x="0" y="1416751"/>
                </a:cubicBezTo>
                <a:lnTo>
                  <a:pt x="0" y="35120"/>
                </a:lnTo>
                <a:cubicBezTo>
                  <a:pt x="0" y="15737"/>
                  <a:pt x="15737" y="0"/>
                  <a:pt x="3512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8122000" y="2544684"/>
            <a:ext cx="35120" cy="1451872"/>
          </a:xfrm>
          <a:custGeom>
            <a:avLst/>
            <a:gdLst/>
            <a:ahLst/>
            <a:cxnLst/>
            <a:rect l="l" t="t" r="r" b="b"/>
            <a:pathLst>
              <a:path w="35120" h="1451872">
                <a:moveTo>
                  <a:pt x="35120" y="0"/>
                </a:moveTo>
                <a:lnTo>
                  <a:pt x="35120" y="0"/>
                </a:lnTo>
                <a:lnTo>
                  <a:pt x="35120" y="1451872"/>
                </a:lnTo>
                <a:lnTo>
                  <a:pt x="35120" y="1451872"/>
                </a:lnTo>
                <a:cubicBezTo>
                  <a:pt x="15724" y="1451872"/>
                  <a:pt x="0" y="1436148"/>
                  <a:pt x="0" y="1416751"/>
                </a:cubicBezTo>
                <a:lnTo>
                  <a:pt x="0" y="35120"/>
                </a:lnTo>
                <a:cubicBezTo>
                  <a:pt x="0" y="15737"/>
                  <a:pt x="15737" y="0"/>
                  <a:pt x="3512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8" name="Shape 25"/>
          <p:cNvSpPr/>
          <p:nvPr/>
        </p:nvSpPr>
        <p:spPr>
          <a:xfrm>
            <a:off x="8327937" y="2739930"/>
            <a:ext cx="125643" cy="167524"/>
          </a:xfrm>
          <a:custGeom>
            <a:avLst/>
            <a:gdLst/>
            <a:ahLst/>
            <a:cxnLst/>
            <a:rect l="l" t="t" r="r" b="b"/>
            <a:pathLst>
              <a:path w="125643" h="167524">
                <a:moveTo>
                  <a:pt x="0" y="61709"/>
                </a:moveTo>
                <a:cubicBezTo>
                  <a:pt x="0" y="27615"/>
                  <a:pt x="28139" y="0"/>
                  <a:pt x="62821" y="0"/>
                </a:cubicBezTo>
                <a:cubicBezTo>
                  <a:pt x="97504" y="0"/>
                  <a:pt x="125643" y="27615"/>
                  <a:pt x="125643" y="61709"/>
                </a:cubicBezTo>
                <a:cubicBezTo>
                  <a:pt x="125643" y="100743"/>
                  <a:pt x="86314" y="147532"/>
                  <a:pt x="69889" y="165364"/>
                </a:cubicBezTo>
                <a:cubicBezTo>
                  <a:pt x="66028" y="169552"/>
                  <a:pt x="59582" y="169552"/>
                  <a:pt x="55721" y="165364"/>
                </a:cubicBezTo>
                <a:cubicBezTo>
                  <a:pt x="39296" y="147532"/>
                  <a:pt x="-33" y="100743"/>
                  <a:pt x="-33" y="61709"/>
                </a:cubicBezTo>
                <a:close/>
                <a:moveTo>
                  <a:pt x="62821" y="83762"/>
                </a:moveTo>
                <a:cubicBezTo>
                  <a:pt x="74379" y="83762"/>
                  <a:pt x="83762" y="74379"/>
                  <a:pt x="83762" y="62821"/>
                </a:cubicBezTo>
                <a:cubicBezTo>
                  <a:pt x="83762" y="51264"/>
                  <a:pt x="74379" y="41881"/>
                  <a:pt x="62821" y="41881"/>
                </a:cubicBezTo>
                <a:cubicBezTo>
                  <a:pt x="51264" y="41881"/>
                  <a:pt x="41881" y="51264"/>
                  <a:pt x="41881" y="62821"/>
                </a:cubicBezTo>
                <a:cubicBezTo>
                  <a:pt x="41881" y="74379"/>
                  <a:pt x="51264" y="83762"/>
                  <a:pt x="62821" y="83762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9" name="Text 26"/>
          <p:cNvSpPr/>
          <p:nvPr/>
        </p:nvSpPr>
        <p:spPr>
          <a:xfrm>
            <a:off x="8493134" y="2693505"/>
            <a:ext cx="3266711" cy="260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Top Revenue States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288383" y="3028355"/>
            <a:ext cx="260592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SP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582295" y="3102766"/>
            <a:ext cx="2689685" cy="74455"/>
          </a:xfrm>
          <a:custGeom>
            <a:avLst/>
            <a:gdLst/>
            <a:ahLst/>
            <a:cxnLst/>
            <a:rect l="l" t="t" r="r" b="b"/>
            <a:pathLst>
              <a:path w="2689685" h="74455">
                <a:moveTo>
                  <a:pt x="37227" y="0"/>
                </a:moveTo>
                <a:lnTo>
                  <a:pt x="2652458" y="0"/>
                </a:lnTo>
                <a:cubicBezTo>
                  <a:pt x="2673018" y="0"/>
                  <a:pt x="2689685" y="16667"/>
                  <a:pt x="2689685" y="37227"/>
                </a:cubicBezTo>
                <a:lnTo>
                  <a:pt x="2689685" y="37227"/>
                </a:lnTo>
                <a:cubicBezTo>
                  <a:pt x="2689685" y="57788"/>
                  <a:pt x="2673018" y="74455"/>
                  <a:pt x="2652458" y="74455"/>
                </a:cubicBezTo>
                <a:lnTo>
                  <a:pt x="37227" y="74455"/>
                </a:lnTo>
                <a:cubicBezTo>
                  <a:pt x="16681" y="74455"/>
                  <a:pt x="0" y="57774"/>
                  <a:pt x="0" y="37227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2B2D42"/>
          </a:solidFill>
        </p:spPr>
      </p:sp>
      <p:sp>
        <p:nvSpPr>
          <p:cNvPr id="32" name="Shape 29"/>
          <p:cNvSpPr/>
          <p:nvPr/>
        </p:nvSpPr>
        <p:spPr>
          <a:xfrm>
            <a:off x="8582295" y="3102766"/>
            <a:ext cx="2280183" cy="74455"/>
          </a:xfrm>
          <a:custGeom>
            <a:avLst/>
            <a:gdLst/>
            <a:ahLst/>
            <a:cxnLst/>
            <a:rect l="l" t="t" r="r" b="b"/>
            <a:pathLst>
              <a:path w="2280183" h="74455">
                <a:moveTo>
                  <a:pt x="37227" y="0"/>
                </a:moveTo>
                <a:lnTo>
                  <a:pt x="2242956" y="0"/>
                </a:lnTo>
                <a:cubicBezTo>
                  <a:pt x="2263516" y="0"/>
                  <a:pt x="2280183" y="16667"/>
                  <a:pt x="2280183" y="37227"/>
                </a:cubicBezTo>
                <a:lnTo>
                  <a:pt x="2280183" y="37227"/>
                </a:lnTo>
                <a:cubicBezTo>
                  <a:pt x="2280183" y="57788"/>
                  <a:pt x="2263516" y="74455"/>
                  <a:pt x="2242956" y="74455"/>
                </a:cubicBezTo>
                <a:lnTo>
                  <a:pt x="37227" y="74455"/>
                </a:lnTo>
                <a:cubicBezTo>
                  <a:pt x="16681" y="74455"/>
                  <a:pt x="0" y="57774"/>
                  <a:pt x="0" y="37227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3" name="Text 30"/>
          <p:cNvSpPr/>
          <p:nvPr/>
        </p:nvSpPr>
        <p:spPr>
          <a:xfrm>
            <a:off x="11381271" y="3028355"/>
            <a:ext cx="362968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35%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288383" y="3326109"/>
            <a:ext cx="241979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RJ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570113" y="3400520"/>
            <a:ext cx="2698992" cy="74455"/>
          </a:xfrm>
          <a:custGeom>
            <a:avLst/>
            <a:gdLst/>
            <a:ahLst/>
            <a:cxnLst/>
            <a:rect l="l" t="t" r="r" b="b"/>
            <a:pathLst>
              <a:path w="2698992" h="74455">
                <a:moveTo>
                  <a:pt x="37227" y="0"/>
                </a:moveTo>
                <a:lnTo>
                  <a:pt x="2661765" y="0"/>
                </a:lnTo>
                <a:cubicBezTo>
                  <a:pt x="2682325" y="0"/>
                  <a:pt x="2698992" y="16667"/>
                  <a:pt x="2698992" y="37227"/>
                </a:cubicBezTo>
                <a:lnTo>
                  <a:pt x="2698992" y="37227"/>
                </a:lnTo>
                <a:cubicBezTo>
                  <a:pt x="2698992" y="57788"/>
                  <a:pt x="2682325" y="74455"/>
                  <a:pt x="2661765" y="74455"/>
                </a:cubicBezTo>
                <a:lnTo>
                  <a:pt x="37227" y="74455"/>
                </a:lnTo>
                <a:cubicBezTo>
                  <a:pt x="16681" y="74455"/>
                  <a:pt x="0" y="57774"/>
                  <a:pt x="0" y="37227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2B2D42"/>
          </a:solidFill>
        </p:spPr>
      </p:sp>
      <p:sp>
        <p:nvSpPr>
          <p:cNvPr id="36" name="Shape 33"/>
          <p:cNvSpPr/>
          <p:nvPr/>
        </p:nvSpPr>
        <p:spPr>
          <a:xfrm>
            <a:off x="8570113" y="3400520"/>
            <a:ext cx="1749692" cy="74455"/>
          </a:xfrm>
          <a:custGeom>
            <a:avLst/>
            <a:gdLst/>
            <a:ahLst/>
            <a:cxnLst/>
            <a:rect l="l" t="t" r="r" b="b"/>
            <a:pathLst>
              <a:path w="1749692" h="74455">
                <a:moveTo>
                  <a:pt x="37227" y="0"/>
                </a:moveTo>
                <a:lnTo>
                  <a:pt x="1712464" y="0"/>
                </a:lnTo>
                <a:cubicBezTo>
                  <a:pt x="1733024" y="0"/>
                  <a:pt x="1749692" y="16667"/>
                  <a:pt x="1749692" y="37227"/>
                </a:cubicBezTo>
                <a:lnTo>
                  <a:pt x="1749692" y="37227"/>
                </a:lnTo>
                <a:cubicBezTo>
                  <a:pt x="1749692" y="57788"/>
                  <a:pt x="1733024" y="74455"/>
                  <a:pt x="1712464" y="74455"/>
                </a:cubicBezTo>
                <a:lnTo>
                  <a:pt x="37227" y="74455"/>
                </a:lnTo>
                <a:cubicBezTo>
                  <a:pt x="16681" y="74455"/>
                  <a:pt x="0" y="57774"/>
                  <a:pt x="0" y="37227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7" name="Text 34"/>
          <p:cNvSpPr/>
          <p:nvPr/>
        </p:nvSpPr>
        <p:spPr>
          <a:xfrm>
            <a:off x="11376881" y="3326109"/>
            <a:ext cx="372275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28%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288383" y="3623863"/>
            <a:ext cx="307127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MG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636841" y="3698274"/>
            <a:ext cx="2652458" cy="74455"/>
          </a:xfrm>
          <a:custGeom>
            <a:avLst/>
            <a:gdLst/>
            <a:ahLst/>
            <a:cxnLst/>
            <a:rect l="l" t="t" r="r" b="b"/>
            <a:pathLst>
              <a:path w="2652458" h="74455">
                <a:moveTo>
                  <a:pt x="37227" y="0"/>
                </a:moveTo>
                <a:lnTo>
                  <a:pt x="2615231" y="0"/>
                </a:lnTo>
                <a:cubicBezTo>
                  <a:pt x="2635791" y="0"/>
                  <a:pt x="2652458" y="16667"/>
                  <a:pt x="2652458" y="37227"/>
                </a:cubicBezTo>
                <a:lnTo>
                  <a:pt x="2652458" y="37227"/>
                </a:lnTo>
                <a:cubicBezTo>
                  <a:pt x="2652458" y="57788"/>
                  <a:pt x="2635791" y="74455"/>
                  <a:pt x="2615231" y="74455"/>
                </a:cubicBezTo>
                <a:lnTo>
                  <a:pt x="37227" y="74455"/>
                </a:lnTo>
                <a:cubicBezTo>
                  <a:pt x="16681" y="74455"/>
                  <a:pt x="0" y="57774"/>
                  <a:pt x="0" y="37227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2B2D42"/>
          </a:solidFill>
        </p:spPr>
      </p:sp>
      <p:sp>
        <p:nvSpPr>
          <p:cNvPr id="40" name="Shape 37"/>
          <p:cNvSpPr/>
          <p:nvPr/>
        </p:nvSpPr>
        <p:spPr>
          <a:xfrm>
            <a:off x="8636841" y="3698274"/>
            <a:ext cx="1191279" cy="74455"/>
          </a:xfrm>
          <a:custGeom>
            <a:avLst/>
            <a:gdLst/>
            <a:ahLst/>
            <a:cxnLst/>
            <a:rect l="l" t="t" r="r" b="b"/>
            <a:pathLst>
              <a:path w="1191279" h="74455">
                <a:moveTo>
                  <a:pt x="37227" y="0"/>
                </a:moveTo>
                <a:lnTo>
                  <a:pt x="1154052" y="0"/>
                </a:lnTo>
                <a:cubicBezTo>
                  <a:pt x="1174612" y="0"/>
                  <a:pt x="1191279" y="16667"/>
                  <a:pt x="1191279" y="37227"/>
                </a:cubicBezTo>
                <a:lnTo>
                  <a:pt x="1191279" y="37227"/>
                </a:lnTo>
                <a:cubicBezTo>
                  <a:pt x="1191279" y="57788"/>
                  <a:pt x="1174612" y="74455"/>
                  <a:pt x="1154052" y="74455"/>
                </a:cubicBezTo>
                <a:lnTo>
                  <a:pt x="37227" y="74455"/>
                </a:lnTo>
                <a:cubicBezTo>
                  <a:pt x="16681" y="74455"/>
                  <a:pt x="0" y="57774"/>
                  <a:pt x="0" y="37227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1" name="Text 38"/>
          <p:cNvSpPr/>
          <p:nvPr/>
        </p:nvSpPr>
        <p:spPr>
          <a:xfrm>
            <a:off x="11403879" y="3623863"/>
            <a:ext cx="344354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18%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122000" y="4144850"/>
            <a:ext cx="3703081" cy="1377417"/>
          </a:xfrm>
          <a:custGeom>
            <a:avLst/>
            <a:gdLst/>
            <a:ahLst/>
            <a:cxnLst/>
            <a:rect l="l" t="t" r="r" b="b"/>
            <a:pathLst>
              <a:path w="3703081" h="1377417">
                <a:moveTo>
                  <a:pt x="35120" y="0"/>
                </a:moveTo>
                <a:lnTo>
                  <a:pt x="3591400" y="0"/>
                </a:lnTo>
                <a:cubicBezTo>
                  <a:pt x="3653080" y="0"/>
                  <a:pt x="3703081" y="50001"/>
                  <a:pt x="3703081" y="111681"/>
                </a:cubicBezTo>
                <a:lnTo>
                  <a:pt x="3703081" y="1265736"/>
                </a:lnTo>
                <a:cubicBezTo>
                  <a:pt x="3703081" y="1327416"/>
                  <a:pt x="3653080" y="1377417"/>
                  <a:pt x="3591400" y="1377417"/>
                </a:cubicBezTo>
                <a:lnTo>
                  <a:pt x="35120" y="1377417"/>
                </a:lnTo>
                <a:cubicBezTo>
                  <a:pt x="15724" y="1377417"/>
                  <a:pt x="0" y="1361693"/>
                  <a:pt x="0" y="1342296"/>
                </a:cubicBezTo>
                <a:lnTo>
                  <a:pt x="0" y="35120"/>
                </a:lnTo>
                <a:cubicBezTo>
                  <a:pt x="0" y="15737"/>
                  <a:pt x="15737" y="0"/>
                  <a:pt x="3512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43" name="Shape 40"/>
          <p:cNvSpPr/>
          <p:nvPr/>
        </p:nvSpPr>
        <p:spPr>
          <a:xfrm>
            <a:off x="8122000" y="4144850"/>
            <a:ext cx="35120" cy="1377417"/>
          </a:xfrm>
          <a:custGeom>
            <a:avLst/>
            <a:gdLst/>
            <a:ahLst/>
            <a:cxnLst/>
            <a:rect l="l" t="t" r="r" b="b"/>
            <a:pathLst>
              <a:path w="35120" h="1377417">
                <a:moveTo>
                  <a:pt x="35120" y="0"/>
                </a:moveTo>
                <a:lnTo>
                  <a:pt x="35120" y="0"/>
                </a:lnTo>
                <a:lnTo>
                  <a:pt x="35120" y="1377417"/>
                </a:lnTo>
                <a:lnTo>
                  <a:pt x="35120" y="1377417"/>
                </a:lnTo>
                <a:cubicBezTo>
                  <a:pt x="15724" y="1377417"/>
                  <a:pt x="0" y="1361693"/>
                  <a:pt x="0" y="1342296"/>
                </a:cubicBezTo>
                <a:lnTo>
                  <a:pt x="0" y="35120"/>
                </a:lnTo>
                <a:cubicBezTo>
                  <a:pt x="0" y="15737"/>
                  <a:pt x="15737" y="0"/>
                  <a:pt x="3512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4" name="Shape 41"/>
          <p:cNvSpPr/>
          <p:nvPr/>
        </p:nvSpPr>
        <p:spPr>
          <a:xfrm>
            <a:off x="8296526" y="4340096"/>
            <a:ext cx="188464" cy="167524"/>
          </a:xfrm>
          <a:custGeom>
            <a:avLst/>
            <a:gdLst/>
            <a:ahLst/>
            <a:cxnLst/>
            <a:rect l="l" t="t" r="r" b="b"/>
            <a:pathLst>
              <a:path w="188464" h="167524">
                <a:moveTo>
                  <a:pt x="131270" y="12793"/>
                </a:moveTo>
                <a:lnTo>
                  <a:pt x="179761" y="61971"/>
                </a:lnTo>
                <a:cubicBezTo>
                  <a:pt x="188824" y="71165"/>
                  <a:pt x="188824" y="85889"/>
                  <a:pt x="179761" y="95083"/>
                </a:cubicBezTo>
                <a:lnTo>
                  <a:pt x="128588" y="146878"/>
                </a:lnTo>
                <a:cubicBezTo>
                  <a:pt x="125545" y="149953"/>
                  <a:pt x="120571" y="149986"/>
                  <a:pt x="117496" y="146943"/>
                </a:cubicBezTo>
                <a:cubicBezTo>
                  <a:pt x="114420" y="143900"/>
                  <a:pt x="114387" y="138927"/>
                  <a:pt x="117430" y="135851"/>
                </a:cubicBezTo>
                <a:lnTo>
                  <a:pt x="168603" y="84024"/>
                </a:lnTo>
                <a:cubicBezTo>
                  <a:pt x="171614" y="80981"/>
                  <a:pt x="171614" y="76040"/>
                  <a:pt x="168603" y="72997"/>
                </a:cubicBezTo>
                <a:lnTo>
                  <a:pt x="120080" y="23852"/>
                </a:lnTo>
                <a:cubicBezTo>
                  <a:pt x="117038" y="20777"/>
                  <a:pt x="117070" y="15804"/>
                  <a:pt x="120146" y="12761"/>
                </a:cubicBezTo>
                <a:cubicBezTo>
                  <a:pt x="123222" y="9718"/>
                  <a:pt x="128195" y="9750"/>
                  <a:pt x="131238" y="12826"/>
                </a:cubicBezTo>
                <a:close/>
                <a:moveTo>
                  <a:pt x="10503" y="75091"/>
                </a:moveTo>
                <a:lnTo>
                  <a:pt x="10503" y="31411"/>
                </a:lnTo>
                <a:cubicBezTo>
                  <a:pt x="10503" y="19861"/>
                  <a:pt x="19893" y="10470"/>
                  <a:pt x="31443" y="10470"/>
                </a:cubicBezTo>
                <a:lnTo>
                  <a:pt x="75124" y="10470"/>
                </a:lnTo>
                <a:cubicBezTo>
                  <a:pt x="80686" y="10470"/>
                  <a:pt x="86019" y="12662"/>
                  <a:pt x="89946" y="16589"/>
                </a:cubicBezTo>
                <a:lnTo>
                  <a:pt x="137062" y="63705"/>
                </a:lnTo>
                <a:cubicBezTo>
                  <a:pt x="145242" y="71885"/>
                  <a:pt x="145242" y="85136"/>
                  <a:pt x="137062" y="93316"/>
                </a:cubicBezTo>
                <a:lnTo>
                  <a:pt x="93381" y="136996"/>
                </a:lnTo>
                <a:cubicBezTo>
                  <a:pt x="85201" y="145176"/>
                  <a:pt x="71950" y="145176"/>
                  <a:pt x="63770" y="136996"/>
                </a:cubicBezTo>
                <a:lnTo>
                  <a:pt x="16654" y="89880"/>
                </a:lnTo>
                <a:cubicBezTo>
                  <a:pt x="12728" y="85954"/>
                  <a:pt x="10536" y="80621"/>
                  <a:pt x="10536" y="75058"/>
                </a:cubicBezTo>
                <a:close/>
                <a:moveTo>
                  <a:pt x="57619" y="47116"/>
                </a:moveTo>
                <a:cubicBezTo>
                  <a:pt x="57619" y="41337"/>
                  <a:pt x="52927" y="36646"/>
                  <a:pt x="47149" y="36646"/>
                </a:cubicBezTo>
                <a:cubicBezTo>
                  <a:pt x="41370" y="36646"/>
                  <a:pt x="36679" y="41337"/>
                  <a:pt x="36679" y="47116"/>
                </a:cubicBezTo>
                <a:cubicBezTo>
                  <a:pt x="36679" y="52895"/>
                  <a:pt x="41370" y="57586"/>
                  <a:pt x="47149" y="57586"/>
                </a:cubicBezTo>
                <a:cubicBezTo>
                  <a:pt x="52927" y="57586"/>
                  <a:pt x="57619" y="52895"/>
                  <a:pt x="57619" y="47116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5" name="Text 42"/>
          <p:cNvSpPr/>
          <p:nvPr/>
        </p:nvSpPr>
        <p:spPr>
          <a:xfrm>
            <a:off x="8493134" y="4293673"/>
            <a:ext cx="3266711" cy="260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Top Categories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288383" y="4702935"/>
            <a:ext cx="74455" cy="74455"/>
          </a:xfrm>
          <a:custGeom>
            <a:avLst/>
            <a:gdLst/>
            <a:ahLst/>
            <a:cxnLst/>
            <a:rect l="l" t="t" r="r" b="b"/>
            <a:pathLst>
              <a:path w="74455" h="74455">
                <a:moveTo>
                  <a:pt x="37227" y="0"/>
                </a:moveTo>
                <a:lnTo>
                  <a:pt x="37227" y="0"/>
                </a:lnTo>
                <a:cubicBezTo>
                  <a:pt x="57774" y="0"/>
                  <a:pt x="74455" y="16681"/>
                  <a:pt x="74455" y="37227"/>
                </a:cubicBezTo>
                <a:lnTo>
                  <a:pt x="74455" y="37227"/>
                </a:lnTo>
                <a:cubicBezTo>
                  <a:pt x="74455" y="57774"/>
                  <a:pt x="57774" y="74455"/>
                  <a:pt x="37227" y="74455"/>
                </a:cubicBezTo>
                <a:lnTo>
                  <a:pt x="37227" y="74455"/>
                </a:lnTo>
                <a:cubicBezTo>
                  <a:pt x="16681" y="74455"/>
                  <a:pt x="0" y="57774"/>
                  <a:pt x="0" y="37227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7" name="Text 44"/>
          <p:cNvSpPr/>
          <p:nvPr/>
        </p:nvSpPr>
        <p:spPr>
          <a:xfrm>
            <a:off x="8437245" y="4628515"/>
            <a:ext cx="1390650" cy="223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altLang="en-US" sz="11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health_and_beauty</a:t>
            </a:r>
            <a:endParaRPr lang="en-IN" altLang="en-US" sz="1175" dirty="0">
              <a:solidFill>
                <a:srgbClr val="8D99AE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8288383" y="4963482"/>
            <a:ext cx="74455" cy="74455"/>
          </a:xfrm>
          <a:custGeom>
            <a:avLst/>
            <a:gdLst/>
            <a:ahLst/>
            <a:cxnLst/>
            <a:rect l="l" t="t" r="r" b="b"/>
            <a:pathLst>
              <a:path w="74455" h="74455">
                <a:moveTo>
                  <a:pt x="37227" y="0"/>
                </a:moveTo>
                <a:lnTo>
                  <a:pt x="37227" y="0"/>
                </a:lnTo>
                <a:cubicBezTo>
                  <a:pt x="57774" y="0"/>
                  <a:pt x="74455" y="16681"/>
                  <a:pt x="74455" y="37227"/>
                </a:cubicBezTo>
                <a:lnTo>
                  <a:pt x="74455" y="37227"/>
                </a:lnTo>
                <a:cubicBezTo>
                  <a:pt x="74455" y="57774"/>
                  <a:pt x="57774" y="74455"/>
                  <a:pt x="37227" y="74455"/>
                </a:cubicBezTo>
                <a:lnTo>
                  <a:pt x="37227" y="74455"/>
                </a:lnTo>
                <a:cubicBezTo>
                  <a:pt x="16681" y="74455"/>
                  <a:pt x="0" y="57774"/>
                  <a:pt x="0" y="37227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9" name="Text 46"/>
          <p:cNvSpPr/>
          <p:nvPr/>
        </p:nvSpPr>
        <p:spPr>
          <a:xfrm>
            <a:off x="8437205" y="4889072"/>
            <a:ext cx="1330882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altLang="en-US" sz="11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watches_and_gifts</a:t>
            </a:r>
            <a:endParaRPr lang="en-IN" altLang="en-US" sz="1175" dirty="0">
              <a:solidFill>
                <a:srgbClr val="8D99AE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8288383" y="5224031"/>
            <a:ext cx="74455" cy="74455"/>
          </a:xfrm>
          <a:custGeom>
            <a:avLst/>
            <a:gdLst/>
            <a:ahLst/>
            <a:cxnLst/>
            <a:rect l="l" t="t" r="r" b="b"/>
            <a:pathLst>
              <a:path w="74455" h="74455">
                <a:moveTo>
                  <a:pt x="37227" y="0"/>
                </a:moveTo>
                <a:lnTo>
                  <a:pt x="37227" y="0"/>
                </a:lnTo>
                <a:cubicBezTo>
                  <a:pt x="57774" y="0"/>
                  <a:pt x="74455" y="16681"/>
                  <a:pt x="74455" y="37227"/>
                </a:cubicBezTo>
                <a:lnTo>
                  <a:pt x="74455" y="37227"/>
                </a:lnTo>
                <a:cubicBezTo>
                  <a:pt x="74455" y="57774"/>
                  <a:pt x="57774" y="74455"/>
                  <a:pt x="37227" y="74455"/>
                </a:cubicBezTo>
                <a:lnTo>
                  <a:pt x="37227" y="74455"/>
                </a:lnTo>
                <a:cubicBezTo>
                  <a:pt x="16681" y="74455"/>
                  <a:pt x="0" y="57774"/>
                  <a:pt x="0" y="37227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51" name="Text 48"/>
          <p:cNvSpPr/>
          <p:nvPr/>
        </p:nvSpPr>
        <p:spPr>
          <a:xfrm>
            <a:off x="8437205" y="5149619"/>
            <a:ext cx="1340189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IN" altLang="en-US" sz="11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bed_bath_table</a:t>
            </a:r>
            <a:endParaRPr lang="en-IN" altLang="en-US" sz="1175" dirty="0">
              <a:solidFill>
                <a:srgbClr val="8D99AE"/>
              </a:solidFill>
              <a:latin typeface="Liter" panose="02000503030000020004" pitchFamily="34" charset="0"/>
              <a:ea typeface="Liter" panose="02000503030000020004" pitchFamily="34" charset="-122"/>
              <a:cs typeface="Liter" panose="02000503030000020004" pitchFamily="34" charset="-12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8107952" y="5674118"/>
            <a:ext cx="3711158" cy="1179690"/>
          </a:xfrm>
          <a:custGeom>
            <a:avLst/>
            <a:gdLst/>
            <a:ahLst/>
            <a:cxnLst/>
            <a:rect l="l" t="t" r="r" b="b"/>
            <a:pathLst>
              <a:path w="3711158" h="1179690">
                <a:moveTo>
                  <a:pt x="111681" y="0"/>
                </a:moveTo>
                <a:lnTo>
                  <a:pt x="3599477" y="0"/>
                </a:lnTo>
                <a:cubicBezTo>
                  <a:pt x="3661157" y="0"/>
                  <a:pt x="3711158" y="50001"/>
                  <a:pt x="3711158" y="111681"/>
                </a:cubicBezTo>
                <a:lnTo>
                  <a:pt x="3711158" y="1068008"/>
                </a:lnTo>
                <a:cubicBezTo>
                  <a:pt x="3711158" y="1129688"/>
                  <a:pt x="3661157" y="1179690"/>
                  <a:pt x="3599477" y="1179690"/>
                </a:cubicBezTo>
                <a:lnTo>
                  <a:pt x="111681" y="1179690"/>
                </a:lnTo>
                <a:cubicBezTo>
                  <a:pt x="50001" y="1179690"/>
                  <a:pt x="0" y="1129688"/>
                  <a:pt x="0" y="1068008"/>
                </a:cubicBezTo>
                <a:lnTo>
                  <a:pt x="0" y="111681"/>
                </a:lnTo>
                <a:cubicBezTo>
                  <a:pt x="0" y="50043"/>
                  <a:pt x="50043" y="0"/>
                  <a:pt x="11168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297514" y="5863658"/>
            <a:ext cx="111682" cy="148910"/>
          </a:xfrm>
          <a:custGeom>
            <a:avLst/>
            <a:gdLst/>
            <a:ahLst/>
            <a:cxnLst/>
            <a:rect l="l" t="t" r="r" b="b"/>
            <a:pathLst>
              <a:path w="111682" h="148910">
                <a:moveTo>
                  <a:pt x="85187" y="111682"/>
                </a:moveTo>
                <a:cubicBezTo>
                  <a:pt x="87310" y="105197"/>
                  <a:pt x="91556" y="99322"/>
                  <a:pt x="96355" y="94261"/>
                </a:cubicBezTo>
                <a:cubicBezTo>
                  <a:pt x="105866" y="84256"/>
                  <a:pt x="111682" y="70732"/>
                  <a:pt x="111682" y="55841"/>
                </a:cubicBezTo>
                <a:cubicBezTo>
                  <a:pt x="111682" y="25012"/>
                  <a:pt x="86670" y="0"/>
                  <a:pt x="55841" y="0"/>
                </a:cubicBezTo>
                <a:cubicBezTo>
                  <a:pt x="25012" y="0"/>
                  <a:pt x="0" y="25012"/>
                  <a:pt x="0" y="55841"/>
                </a:cubicBezTo>
                <a:cubicBezTo>
                  <a:pt x="0" y="70732"/>
                  <a:pt x="5817" y="84256"/>
                  <a:pt x="15327" y="94261"/>
                </a:cubicBezTo>
                <a:cubicBezTo>
                  <a:pt x="20126" y="99322"/>
                  <a:pt x="24401" y="105197"/>
                  <a:pt x="26495" y="111682"/>
                </a:cubicBezTo>
                <a:lnTo>
                  <a:pt x="85158" y="111682"/>
                </a:lnTo>
                <a:close/>
                <a:moveTo>
                  <a:pt x="83762" y="125643"/>
                </a:moveTo>
                <a:lnTo>
                  <a:pt x="27921" y="125643"/>
                </a:lnTo>
                <a:lnTo>
                  <a:pt x="27921" y="130296"/>
                </a:lnTo>
                <a:cubicBezTo>
                  <a:pt x="27921" y="143151"/>
                  <a:pt x="38333" y="153563"/>
                  <a:pt x="51188" y="153563"/>
                </a:cubicBezTo>
                <a:lnTo>
                  <a:pt x="60495" y="153563"/>
                </a:lnTo>
                <a:cubicBezTo>
                  <a:pt x="73350" y="153563"/>
                  <a:pt x="83762" y="143151"/>
                  <a:pt x="83762" y="130296"/>
                </a:cubicBezTo>
                <a:lnTo>
                  <a:pt x="83762" y="125643"/>
                </a:lnTo>
                <a:close/>
                <a:moveTo>
                  <a:pt x="53515" y="32574"/>
                </a:moveTo>
                <a:cubicBezTo>
                  <a:pt x="41939" y="32574"/>
                  <a:pt x="32574" y="41939"/>
                  <a:pt x="32574" y="53515"/>
                </a:cubicBezTo>
                <a:cubicBezTo>
                  <a:pt x="32574" y="57383"/>
                  <a:pt x="29462" y="60495"/>
                  <a:pt x="25594" y="60495"/>
                </a:cubicBezTo>
                <a:cubicBezTo>
                  <a:pt x="21726" y="60495"/>
                  <a:pt x="18614" y="57383"/>
                  <a:pt x="18614" y="53515"/>
                </a:cubicBezTo>
                <a:cubicBezTo>
                  <a:pt x="18614" y="34232"/>
                  <a:pt x="34232" y="18614"/>
                  <a:pt x="53515" y="18614"/>
                </a:cubicBezTo>
                <a:cubicBezTo>
                  <a:pt x="57383" y="18614"/>
                  <a:pt x="60495" y="21726"/>
                  <a:pt x="60495" y="25594"/>
                </a:cubicBezTo>
                <a:cubicBezTo>
                  <a:pt x="60495" y="29462"/>
                  <a:pt x="57383" y="32574"/>
                  <a:pt x="53515" y="32574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54" name="Text 51"/>
          <p:cNvSpPr/>
          <p:nvPr/>
        </p:nvSpPr>
        <p:spPr>
          <a:xfrm>
            <a:off x="8446424" y="5826453"/>
            <a:ext cx="3294632" cy="22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260286" y="6087002"/>
            <a:ext cx="3480769" cy="61425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Growth is stable but not accelerating — strategic expansion and operational improvements are required.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5704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" name="Shape 1"/>
          <p:cNvSpPr/>
          <p:nvPr/>
        </p:nvSpPr>
        <p:spPr>
          <a:xfrm>
            <a:off x="533243" y="6093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lnTo>
                  <a:pt x="100013" y="28575"/>
                </a:lnTo>
                <a:cubicBezTo>
                  <a:pt x="100013" y="32504"/>
                  <a:pt x="103227" y="35719"/>
                  <a:pt x="107156" y="35719"/>
                </a:cubicBezTo>
                <a:lnTo>
                  <a:pt x="121444" y="35719"/>
                </a:lnTo>
                <a:cubicBezTo>
                  <a:pt x="125373" y="35719"/>
                  <a:pt x="128588" y="32504"/>
                  <a:pt x="128588" y="28575"/>
                </a:cubicBezTo>
                <a:lnTo>
                  <a:pt x="128588" y="0"/>
                </a:lnTo>
                <a:lnTo>
                  <a:pt x="142875" y="0"/>
                </a:lnTo>
                <a:cubicBezTo>
                  <a:pt x="158636" y="0"/>
                  <a:pt x="171450" y="12814"/>
                  <a:pt x="171450" y="28575"/>
                </a:cubicBezTo>
                <a:lnTo>
                  <a:pt x="171450" y="85725"/>
                </a:lnTo>
                <a:cubicBezTo>
                  <a:pt x="171450" y="88181"/>
                  <a:pt x="171137" y="90592"/>
                  <a:pt x="170557" y="92869"/>
                </a:cubicBezTo>
                <a:lnTo>
                  <a:pt x="58043" y="92869"/>
                </a:lnTo>
                <a:cubicBezTo>
                  <a:pt x="57463" y="90592"/>
                  <a:pt x="57150" y="88181"/>
                  <a:pt x="57150" y="85725"/>
                </a:cubicBezTo>
                <a:lnTo>
                  <a:pt x="57150" y="28575"/>
                </a:lnTo>
                <a:cubicBezTo>
                  <a:pt x="57150" y="12814"/>
                  <a:pt x="69964" y="0"/>
                  <a:pt x="85725" y="0"/>
                </a:cubicBezTo>
                <a:lnTo>
                  <a:pt x="100013" y="0"/>
                </a:lnTo>
                <a:close/>
                <a:moveTo>
                  <a:pt x="142875" y="228600"/>
                </a:moveTo>
                <a:cubicBezTo>
                  <a:pt x="137874" y="228600"/>
                  <a:pt x="133142" y="227305"/>
                  <a:pt x="129034" y="225028"/>
                </a:cubicBezTo>
                <a:cubicBezTo>
                  <a:pt x="133276" y="217661"/>
                  <a:pt x="135731" y="209133"/>
                  <a:pt x="135731" y="200025"/>
                </a:cubicBezTo>
                <a:lnTo>
                  <a:pt x="135731" y="142875"/>
                </a:lnTo>
                <a:cubicBezTo>
                  <a:pt x="135731" y="133767"/>
                  <a:pt x="133276" y="125239"/>
                  <a:pt x="129034" y="117872"/>
                </a:cubicBezTo>
                <a:cubicBezTo>
                  <a:pt x="133142" y="115595"/>
                  <a:pt x="137830" y="114300"/>
                  <a:pt x="142875" y="114300"/>
                </a:cubicBezTo>
                <a:lnTo>
                  <a:pt x="157163" y="114300"/>
                </a:lnTo>
                <a:lnTo>
                  <a:pt x="157163" y="142875"/>
                </a:lnTo>
                <a:cubicBezTo>
                  <a:pt x="157163" y="146804"/>
                  <a:pt x="160377" y="150019"/>
                  <a:pt x="164306" y="150019"/>
                </a:cubicBezTo>
                <a:lnTo>
                  <a:pt x="178594" y="150019"/>
                </a:lnTo>
                <a:cubicBezTo>
                  <a:pt x="182523" y="150019"/>
                  <a:pt x="185738" y="146804"/>
                  <a:pt x="185738" y="142875"/>
                </a:cubicBezTo>
                <a:lnTo>
                  <a:pt x="185738" y="114300"/>
                </a:lnTo>
                <a:lnTo>
                  <a:pt x="200025" y="114300"/>
                </a:lnTo>
                <a:cubicBezTo>
                  <a:pt x="215786" y="114300"/>
                  <a:pt x="228600" y="127114"/>
                  <a:pt x="228600" y="142875"/>
                </a:cubicBezTo>
                <a:lnTo>
                  <a:pt x="228600" y="200025"/>
                </a:lnTo>
                <a:cubicBezTo>
                  <a:pt x="228600" y="215786"/>
                  <a:pt x="215786" y="228600"/>
                  <a:pt x="200025" y="228600"/>
                </a:cubicBezTo>
                <a:lnTo>
                  <a:pt x="142875" y="228600"/>
                </a:lnTo>
                <a:close/>
                <a:moveTo>
                  <a:pt x="0" y="142875"/>
                </a:moveTo>
                <a:cubicBezTo>
                  <a:pt x="0" y="127114"/>
                  <a:pt x="12814" y="114300"/>
                  <a:pt x="28575" y="114300"/>
                </a:cubicBezTo>
                <a:lnTo>
                  <a:pt x="42863" y="114300"/>
                </a:lnTo>
                <a:lnTo>
                  <a:pt x="42863" y="142875"/>
                </a:lnTo>
                <a:cubicBezTo>
                  <a:pt x="42863" y="146804"/>
                  <a:pt x="46077" y="150019"/>
                  <a:pt x="50006" y="150019"/>
                </a:cubicBezTo>
                <a:lnTo>
                  <a:pt x="64294" y="150019"/>
                </a:lnTo>
                <a:cubicBezTo>
                  <a:pt x="68223" y="150019"/>
                  <a:pt x="71438" y="146804"/>
                  <a:pt x="71438" y="142875"/>
                </a:cubicBezTo>
                <a:lnTo>
                  <a:pt x="71438" y="114300"/>
                </a:lnTo>
                <a:lnTo>
                  <a:pt x="85725" y="114300"/>
                </a:lnTo>
                <a:cubicBezTo>
                  <a:pt x="101486" y="114300"/>
                  <a:pt x="114300" y="127114"/>
                  <a:pt x="114300" y="142875"/>
                </a:cubicBezTo>
                <a:lnTo>
                  <a:pt x="114300" y="200025"/>
                </a:lnTo>
                <a:cubicBezTo>
                  <a:pt x="114300" y="215786"/>
                  <a:pt x="101486" y="228600"/>
                  <a:pt x="8572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42875"/>
                </a:lnTo>
                <a:close/>
              </a:path>
            </a:pathLst>
          </a:custGeom>
          <a:solidFill>
            <a:srgbClr val="1A1D24"/>
          </a:solidFill>
        </p:spPr>
      </p:sp>
      <p:sp>
        <p:nvSpPr>
          <p:cNvPr id="4" name="Text 2"/>
          <p:cNvSpPr/>
          <p:nvPr/>
        </p:nvSpPr>
        <p:spPr>
          <a:xfrm>
            <a:off x="1066508" y="380888"/>
            <a:ext cx="6486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Drivers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4"/>
            <a:ext cx="6648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Product &amp; Category Intelligence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482" y="1222413"/>
            <a:ext cx="5626939" cy="2674189"/>
          </a:xfrm>
          <a:custGeom>
            <a:avLst/>
            <a:gdLst/>
            <a:ahLst/>
            <a:cxnLst/>
            <a:rect l="l" t="t" r="r" b="b"/>
            <a:pathLst>
              <a:path w="5626939" h="2674189">
                <a:moveTo>
                  <a:pt x="114295" y="0"/>
                </a:moveTo>
                <a:lnTo>
                  <a:pt x="5512644" y="0"/>
                </a:lnTo>
                <a:cubicBezTo>
                  <a:pt x="5575767" y="0"/>
                  <a:pt x="5626939" y="51172"/>
                  <a:pt x="5626939" y="114295"/>
                </a:cubicBezTo>
                <a:lnTo>
                  <a:pt x="5626939" y="2559894"/>
                </a:lnTo>
                <a:cubicBezTo>
                  <a:pt x="5626939" y="2623017"/>
                  <a:pt x="5575767" y="2674189"/>
                  <a:pt x="5512644" y="2674189"/>
                </a:cubicBezTo>
                <a:lnTo>
                  <a:pt x="114295" y="2674189"/>
                </a:lnTo>
                <a:cubicBezTo>
                  <a:pt x="51172" y="2674189"/>
                  <a:pt x="0" y="2623017"/>
                  <a:pt x="0" y="2559894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2293" y="141639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6"/>
          <p:cNvSpPr/>
          <p:nvPr/>
        </p:nvSpPr>
        <p:spPr>
          <a:xfrm>
            <a:off x="778511" y="1378318"/>
            <a:ext cx="5181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Category Revenue Distribution</a:t>
            </a:r>
            <a:endParaRPr lang="en-US" sz="1600" dirty="0"/>
          </a:p>
        </p:txBody>
      </p:sp>
      <p:pic>
        <p:nvPicPr>
          <p:cNvPr id="9" name="Image 0" descr="https://kimi-img.moonshot.cn/pub/slides/26-03-03-13:43:40-d6j7a33mv21k7dgeh4l0.png"/>
          <p:cNvPicPr>
            <a:picLocks noChangeAspect="1"/>
          </p:cNvPicPr>
          <p:nvPr/>
        </p:nvPicPr>
        <p:blipFill>
          <a:blip r:embed="rId1"/>
          <a:srcRect l="115" r="115"/>
          <a:stretch>
            <a:fillRect/>
          </a:stretch>
        </p:blipFill>
        <p:spPr>
          <a:xfrm>
            <a:off x="540386" y="1721128"/>
            <a:ext cx="5324475" cy="201930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6175637" y="1222413"/>
            <a:ext cx="5636464" cy="2674189"/>
          </a:xfrm>
          <a:custGeom>
            <a:avLst/>
            <a:gdLst/>
            <a:ahLst/>
            <a:cxnLst/>
            <a:rect l="l" t="t" r="r" b="b"/>
            <a:pathLst>
              <a:path w="5636464" h="2674189">
                <a:moveTo>
                  <a:pt x="114295" y="0"/>
                </a:moveTo>
                <a:lnTo>
                  <a:pt x="5522169" y="0"/>
                </a:lnTo>
                <a:cubicBezTo>
                  <a:pt x="5585292" y="0"/>
                  <a:pt x="5636464" y="51172"/>
                  <a:pt x="5636464" y="114295"/>
                </a:cubicBezTo>
                <a:lnTo>
                  <a:pt x="5636464" y="2559894"/>
                </a:lnTo>
                <a:cubicBezTo>
                  <a:pt x="5636464" y="2623017"/>
                  <a:pt x="5585292" y="2674189"/>
                  <a:pt x="5522169" y="2674189"/>
                </a:cubicBezTo>
                <a:lnTo>
                  <a:pt x="114295" y="2674189"/>
                </a:lnTo>
                <a:cubicBezTo>
                  <a:pt x="51172" y="2674189"/>
                  <a:pt x="0" y="2623017"/>
                  <a:pt x="0" y="2559894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354" y="141639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3344" y="35719"/>
                </a:moveTo>
                <a:cubicBezTo>
                  <a:pt x="83344" y="29148"/>
                  <a:pt x="88679" y="23812"/>
                  <a:pt x="95250" y="23812"/>
                </a:cubicBezTo>
                <a:cubicBezTo>
                  <a:pt x="101821" y="23812"/>
                  <a:pt x="107156" y="29148"/>
                  <a:pt x="107156" y="35719"/>
                </a:cubicBezTo>
                <a:cubicBezTo>
                  <a:pt x="107156" y="42290"/>
                  <a:pt x="101821" y="47625"/>
                  <a:pt x="95250" y="47625"/>
                </a:cubicBezTo>
                <a:cubicBezTo>
                  <a:pt x="88679" y="47625"/>
                  <a:pt x="83344" y="42290"/>
                  <a:pt x="83344" y="35719"/>
                </a:cubicBezTo>
                <a:close/>
                <a:moveTo>
                  <a:pt x="128922" y="47625"/>
                </a:moveTo>
                <a:cubicBezTo>
                  <a:pt x="130225" y="43904"/>
                  <a:pt x="130969" y="39886"/>
                  <a:pt x="130969" y="35719"/>
                </a:cubicBezTo>
                <a:cubicBezTo>
                  <a:pt x="130969" y="15999"/>
                  <a:pt x="114970" y="0"/>
                  <a:pt x="95250" y="0"/>
                </a:cubicBezTo>
                <a:cubicBezTo>
                  <a:pt x="75530" y="0"/>
                  <a:pt x="59531" y="15999"/>
                  <a:pt x="59531" y="35719"/>
                </a:cubicBezTo>
                <a:cubicBezTo>
                  <a:pt x="59531" y="39886"/>
                  <a:pt x="60238" y="43904"/>
                  <a:pt x="61578" y="47625"/>
                </a:cubicBezTo>
                <a:lnTo>
                  <a:pt x="53467" y="47625"/>
                </a:lnTo>
                <a:cubicBezTo>
                  <a:pt x="42937" y="47625"/>
                  <a:pt x="33672" y="54508"/>
                  <a:pt x="30659" y="64591"/>
                </a:cubicBezTo>
                <a:lnTo>
                  <a:pt x="893" y="163785"/>
                </a:lnTo>
                <a:cubicBezTo>
                  <a:pt x="298" y="165720"/>
                  <a:pt x="0" y="167729"/>
                  <a:pt x="0" y="169738"/>
                </a:cubicBezTo>
                <a:cubicBezTo>
                  <a:pt x="0" y="181198"/>
                  <a:pt x="9302" y="190500"/>
                  <a:pt x="20762" y="190500"/>
                </a:cubicBezTo>
                <a:lnTo>
                  <a:pt x="169738" y="190500"/>
                </a:lnTo>
                <a:cubicBezTo>
                  <a:pt x="181198" y="190500"/>
                  <a:pt x="190500" y="181198"/>
                  <a:pt x="190500" y="169738"/>
                </a:cubicBezTo>
                <a:cubicBezTo>
                  <a:pt x="190500" y="167729"/>
                  <a:pt x="190202" y="165720"/>
                  <a:pt x="189607" y="163785"/>
                </a:cubicBezTo>
                <a:lnTo>
                  <a:pt x="159841" y="64629"/>
                </a:lnTo>
                <a:cubicBezTo>
                  <a:pt x="156828" y="54546"/>
                  <a:pt x="147563" y="47662"/>
                  <a:pt x="137033" y="47662"/>
                </a:cubicBezTo>
                <a:lnTo>
                  <a:pt x="128922" y="47662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2" name="Text 9"/>
          <p:cNvSpPr/>
          <p:nvPr/>
        </p:nvSpPr>
        <p:spPr>
          <a:xfrm>
            <a:off x="6569666" y="1378318"/>
            <a:ext cx="5181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Freight Impact Analysis</a:t>
            </a:r>
            <a:endParaRPr lang="en-US" sz="1600" dirty="0"/>
          </a:p>
        </p:txBody>
      </p:sp>
      <p:pic>
        <p:nvPicPr>
          <p:cNvPr id="13" name="Image 1" descr="https://kimi-img.moonshot.cn/pub/slides/26-03-03-13:43:41-d6j7a389ma9hvtsba5n0.png"/>
          <p:cNvPicPr>
            <a:picLocks noChangeAspect="1"/>
          </p:cNvPicPr>
          <p:nvPr/>
        </p:nvPicPr>
        <p:blipFill>
          <a:blip r:embed="rId2"/>
          <a:srcRect l="115" r="115"/>
          <a:stretch>
            <a:fillRect/>
          </a:stretch>
        </p:blipFill>
        <p:spPr>
          <a:xfrm>
            <a:off x="6331585" y="1713865"/>
            <a:ext cx="5324475" cy="2026285"/>
          </a:xfrm>
          <a:prstGeom prst="roundRect">
            <a:avLst>
              <a:gd name="adj" fmla="val 0"/>
            </a:avLst>
          </a:prstGeom>
        </p:spPr>
      </p:pic>
      <p:sp>
        <p:nvSpPr>
          <p:cNvPr id="14" name="Shape 10"/>
          <p:cNvSpPr/>
          <p:nvPr/>
        </p:nvSpPr>
        <p:spPr>
          <a:xfrm>
            <a:off x="384482" y="4055763"/>
            <a:ext cx="3702889" cy="1454989"/>
          </a:xfrm>
          <a:custGeom>
            <a:avLst/>
            <a:gdLst/>
            <a:ahLst/>
            <a:cxnLst/>
            <a:rect l="l" t="t" r="r" b="b"/>
            <a:pathLst>
              <a:path w="3702889" h="1454989">
                <a:moveTo>
                  <a:pt x="114304" y="0"/>
                </a:moveTo>
                <a:lnTo>
                  <a:pt x="3588585" y="0"/>
                </a:lnTo>
                <a:cubicBezTo>
                  <a:pt x="3651713" y="0"/>
                  <a:pt x="3702889" y="51176"/>
                  <a:pt x="3702889" y="114304"/>
                </a:cubicBezTo>
                <a:lnTo>
                  <a:pt x="3702889" y="1340685"/>
                </a:lnTo>
                <a:cubicBezTo>
                  <a:pt x="3702889" y="1403813"/>
                  <a:pt x="3651713" y="1454989"/>
                  <a:pt x="3588585" y="1454989"/>
                </a:cubicBezTo>
                <a:lnTo>
                  <a:pt x="114304" y="1454989"/>
                </a:lnTo>
                <a:cubicBezTo>
                  <a:pt x="51218" y="1454989"/>
                  <a:pt x="0" y="1403771"/>
                  <a:pt x="0" y="1340685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0386" y="42116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16" name="Shape 12"/>
          <p:cNvSpPr/>
          <p:nvPr/>
        </p:nvSpPr>
        <p:spPr>
          <a:xfrm>
            <a:off x="642780" y="431635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45541"/>
                </a:moveTo>
                <a:cubicBezTo>
                  <a:pt x="90179" y="45541"/>
                  <a:pt x="93762" y="49124"/>
                  <a:pt x="93762" y="53578"/>
                </a:cubicBezTo>
                <a:lnTo>
                  <a:pt x="93762" y="91083"/>
                </a:lnTo>
                <a:cubicBezTo>
                  <a:pt x="93762" y="95536"/>
                  <a:pt x="90179" y="99120"/>
                  <a:pt x="85725" y="99120"/>
                </a:cubicBezTo>
                <a:cubicBezTo>
                  <a:pt x="81271" y="99120"/>
                  <a:pt x="77688" y="95536"/>
                  <a:pt x="77688" y="91083"/>
                </a:cubicBezTo>
                <a:lnTo>
                  <a:pt x="77688" y="53578"/>
                </a:lnTo>
                <a:cubicBezTo>
                  <a:pt x="77688" y="49124"/>
                  <a:pt x="81271" y="45541"/>
                  <a:pt x="85725" y="45541"/>
                </a:cubicBezTo>
                <a:close/>
                <a:moveTo>
                  <a:pt x="76784" y="117872"/>
                </a:moveTo>
                <a:cubicBezTo>
                  <a:pt x="76581" y="114553"/>
                  <a:pt x="78236" y="111396"/>
                  <a:pt x="81081" y="109675"/>
                </a:cubicBezTo>
                <a:cubicBezTo>
                  <a:pt x="83926" y="107954"/>
                  <a:pt x="87491" y="107954"/>
                  <a:pt x="90336" y="109675"/>
                </a:cubicBezTo>
                <a:cubicBezTo>
                  <a:pt x="93181" y="111396"/>
                  <a:pt x="94836" y="114553"/>
                  <a:pt x="94632" y="117872"/>
                </a:cubicBezTo>
                <a:cubicBezTo>
                  <a:pt x="94836" y="121191"/>
                  <a:pt x="93181" y="124348"/>
                  <a:pt x="90336" y="126069"/>
                </a:cubicBezTo>
                <a:cubicBezTo>
                  <a:pt x="87491" y="127790"/>
                  <a:pt x="83926" y="127790"/>
                  <a:pt x="81081" y="126069"/>
                </a:cubicBezTo>
                <a:cubicBezTo>
                  <a:pt x="78236" y="124348"/>
                  <a:pt x="76581" y="121191"/>
                  <a:pt x="76784" y="117872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7" name="Text 13"/>
          <p:cNvSpPr/>
          <p:nvPr/>
        </p:nvSpPr>
        <p:spPr>
          <a:xfrm>
            <a:off x="1035507" y="4268839"/>
            <a:ext cx="14001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Dependency Risk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40386" y="4668710"/>
            <a:ext cx="34671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Top 3 categories contribute </a:t>
            </a: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~60%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of total revenue.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40386" y="4954349"/>
            <a:ext cx="3457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concentration risk identified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245252" y="4055763"/>
            <a:ext cx="3702889" cy="1454989"/>
          </a:xfrm>
          <a:custGeom>
            <a:avLst/>
            <a:gdLst/>
            <a:ahLst/>
            <a:cxnLst/>
            <a:rect l="l" t="t" r="r" b="b"/>
            <a:pathLst>
              <a:path w="3702889" h="1454989">
                <a:moveTo>
                  <a:pt x="114304" y="0"/>
                </a:moveTo>
                <a:lnTo>
                  <a:pt x="3588585" y="0"/>
                </a:lnTo>
                <a:cubicBezTo>
                  <a:pt x="3651713" y="0"/>
                  <a:pt x="3702889" y="51176"/>
                  <a:pt x="3702889" y="114304"/>
                </a:cubicBezTo>
                <a:lnTo>
                  <a:pt x="3702889" y="1340685"/>
                </a:lnTo>
                <a:cubicBezTo>
                  <a:pt x="3702889" y="1403813"/>
                  <a:pt x="3651713" y="1454989"/>
                  <a:pt x="3588585" y="1454989"/>
                </a:cubicBezTo>
                <a:lnTo>
                  <a:pt x="114304" y="1454989"/>
                </a:lnTo>
                <a:cubicBezTo>
                  <a:pt x="51218" y="1454989"/>
                  <a:pt x="0" y="1403771"/>
                  <a:pt x="0" y="1340685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9585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401157" y="42116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22" name="Shape 18"/>
          <p:cNvSpPr/>
          <p:nvPr/>
        </p:nvSpPr>
        <p:spPr>
          <a:xfrm>
            <a:off x="4492835" y="4316353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33945" y="10716"/>
                </a:moveTo>
                <a:cubicBezTo>
                  <a:pt x="119144" y="10716"/>
                  <a:pt x="107156" y="22704"/>
                  <a:pt x="107156" y="37505"/>
                </a:cubicBezTo>
                <a:lnTo>
                  <a:pt x="107156" y="120618"/>
                </a:lnTo>
                <a:lnTo>
                  <a:pt x="7635" y="150488"/>
                </a:lnTo>
                <a:cubicBezTo>
                  <a:pt x="1976" y="152162"/>
                  <a:pt x="-1239" y="158156"/>
                  <a:pt x="469" y="163815"/>
                </a:cubicBezTo>
                <a:cubicBezTo>
                  <a:pt x="2177" y="169474"/>
                  <a:pt x="8137" y="172689"/>
                  <a:pt x="13796" y="171015"/>
                </a:cubicBezTo>
                <a:lnTo>
                  <a:pt x="119446" y="139337"/>
                </a:lnTo>
                <a:lnTo>
                  <a:pt x="134079" y="139337"/>
                </a:lnTo>
                <a:cubicBezTo>
                  <a:pt x="134012" y="140207"/>
                  <a:pt x="133945" y="141111"/>
                  <a:pt x="133945" y="142016"/>
                </a:cubicBezTo>
                <a:cubicBezTo>
                  <a:pt x="133945" y="158290"/>
                  <a:pt x="147139" y="171483"/>
                  <a:pt x="163413" y="171483"/>
                </a:cubicBezTo>
                <a:cubicBezTo>
                  <a:pt x="179688" y="171483"/>
                  <a:pt x="192881" y="158290"/>
                  <a:pt x="192881" y="142016"/>
                </a:cubicBezTo>
                <a:lnTo>
                  <a:pt x="192881" y="10749"/>
                </a:lnTo>
                <a:lnTo>
                  <a:pt x="133945" y="10749"/>
                </a:lnTo>
                <a:close/>
                <a:moveTo>
                  <a:pt x="176808" y="141982"/>
                </a:moveTo>
                <a:cubicBezTo>
                  <a:pt x="176808" y="149383"/>
                  <a:pt x="170814" y="155377"/>
                  <a:pt x="163413" y="155377"/>
                </a:cubicBezTo>
                <a:cubicBezTo>
                  <a:pt x="156013" y="155377"/>
                  <a:pt x="150019" y="149383"/>
                  <a:pt x="150019" y="141982"/>
                </a:cubicBezTo>
                <a:cubicBezTo>
                  <a:pt x="150019" y="134582"/>
                  <a:pt x="156013" y="128588"/>
                  <a:pt x="163413" y="128588"/>
                </a:cubicBezTo>
                <a:cubicBezTo>
                  <a:pt x="170814" y="128588"/>
                  <a:pt x="176774" y="134582"/>
                  <a:pt x="176808" y="141949"/>
                </a:cubicBezTo>
                <a:lnTo>
                  <a:pt x="176808" y="141982"/>
                </a:lnTo>
                <a:close/>
                <a:moveTo>
                  <a:pt x="17379" y="50062"/>
                </a:moveTo>
                <a:cubicBezTo>
                  <a:pt x="6061" y="53511"/>
                  <a:pt x="-301" y="65499"/>
                  <a:pt x="3148" y="76818"/>
                </a:cubicBezTo>
                <a:lnTo>
                  <a:pt x="12557" y="107558"/>
                </a:lnTo>
                <a:cubicBezTo>
                  <a:pt x="16006" y="118876"/>
                  <a:pt x="27995" y="125239"/>
                  <a:pt x="39313" y="121790"/>
                </a:cubicBezTo>
                <a:lnTo>
                  <a:pt x="70053" y="112380"/>
                </a:lnTo>
                <a:cubicBezTo>
                  <a:pt x="81372" y="108931"/>
                  <a:pt x="87734" y="96943"/>
                  <a:pt x="84285" y="85625"/>
                </a:cubicBezTo>
                <a:lnTo>
                  <a:pt x="74875" y="54884"/>
                </a:lnTo>
                <a:cubicBezTo>
                  <a:pt x="71426" y="43566"/>
                  <a:pt x="59438" y="37203"/>
                  <a:pt x="48120" y="40652"/>
                </a:cubicBezTo>
                <a:lnTo>
                  <a:pt x="17379" y="50062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23" name="Text 19"/>
          <p:cNvSpPr/>
          <p:nvPr/>
        </p:nvSpPr>
        <p:spPr>
          <a:xfrm>
            <a:off x="4896277" y="4268839"/>
            <a:ext cx="1323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Margin Pressure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401157" y="4668710"/>
            <a:ext cx="34671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Categories like </a:t>
            </a:r>
            <a:r>
              <a:rPr lang="en-US" sz="120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cama_mesa_banho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show high freight ratios.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401157" y="5163831"/>
            <a:ext cx="3457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Reducing margin efficiency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8106022" y="4055763"/>
            <a:ext cx="3702889" cy="1454989"/>
          </a:xfrm>
          <a:custGeom>
            <a:avLst/>
            <a:gdLst/>
            <a:ahLst/>
            <a:cxnLst/>
            <a:rect l="l" t="t" r="r" b="b"/>
            <a:pathLst>
              <a:path w="3702889" h="1454989">
                <a:moveTo>
                  <a:pt x="114304" y="0"/>
                </a:moveTo>
                <a:lnTo>
                  <a:pt x="3588585" y="0"/>
                </a:lnTo>
                <a:cubicBezTo>
                  <a:pt x="3651713" y="0"/>
                  <a:pt x="3702889" y="51176"/>
                  <a:pt x="3702889" y="114304"/>
                </a:cubicBezTo>
                <a:lnTo>
                  <a:pt x="3702889" y="1340685"/>
                </a:lnTo>
                <a:cubicBezTo>
                  <a:pt x="3702889" y="1403813"/>
                  <a:pt x="3651713" y="1454989"/>
                  <a:pt x="3588585" y="1454989"/>
                </a:cubicBezTo>
                <a:lnTo>
                  <a:pt x="114304" y="1454989"/>
                </a:lnTo>
                <a:cubicBezTo>
                  <a:pt x="51218" y="1454989"/>
                  <a:pt x="0" y="1403771"/>
                  <a:pt x="0" y="1340685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61927" y="421166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</p:spPr>
      </p:sp>
      <p:sp>
        <p:nvSpPr>
          <p:cNvPr id="28" name="Shape 24"/>
          <p:cNvSpPr/>
          <p:nvPr/>
        </p:nvSpPr>
        <p:spPr>
          <a:xfrm>
            <a:off x="8364320" y="431635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EDF2F4"/>
          </a:solidFill>
        </p:spPr>
      </p:sp>
      <p:sp>
        <p:nvSpPr>
          <p:cNvPr id="29" name="Text 25"/>
          <p:cNvSpPr/>
          <p:nvPr/>
        </p:nvSpPr>
        <p:spPr>
          <a:xfrm>
            <a:off x="8757047" y="4268839"/>
            <a:ext cx="12096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Growth Trends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8261927" y="4668710"/>
            <a:ext cx="34671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Significant spikes observed </a:t>
            </a:r>
            <a:r>
              <a:rPr lang="en-US" sz="12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mid-2017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; later growth stabilizes.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8261927" y="5163831"/>
            <a:ext cx="3457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Market maturation signals</a:t>
            </a:r>
            <a:endParaRPr lang="en-US" sz="1600" dirty="0"/>
          </a:p>
        </p:txBody>
      </p:sp>
      <p:sp>
        <p:nvSpPr>
          <p:cNvPr id="32" name="Shape 28"/>
          <p:cNvSpPr/>
          <p:nvPr/>
        </p:nvSpPr>
        <p:spPr>
          <a:xfrm>
            <a:off x="384482" y="5669623"/>
            <a:ext cx="11427664" cy="807289"/>
          </a:xfrm>
          <a:custGeom>
            <a:avLst/>
            <a:gdLst/>
            <a:ahLst/>
            <a:cxnLst/>
            <a:rect l="l" t="t" r="r" b="b"/>
            <a:pathLst>
              <a:path w="11427664" h="807289">
                <a:moveTo>
                  <a:pt x="114304" y="0"/>
                </a:moveTo>
                <a:lnTo>
                  <a:pt x="11313360" y="0"/>
                </a:lnTo>
                <a:cubicBezTo>
                  <a:pt x="11376488" y="0"/>
                  <a:pt x="11427664" y="51176"/>
                  <a:pt x="11427664" y="114304"/>
                </a:cubicBezTo>
                <a:lnTo>
                  <a:pt x="11427664" y="692985"/>
                </a:lnTo>
                <a:cubicBezTo>
                  <a:pt x="11427664" y="756113"/>
                  <a:pt x="11376488" y="807289"/>
                  <a:pt x="11313360" y="807289"/>
                </a:cubicBezTo>
                <a:lnTo>
                  <a:pt x="114304" y="807289"/>
                </a:lnTo>
                <a:cubicBezTo>
                  <a:pt x="51176" y="807289"/>
                  <a:pt x="0" y="756113"/>
                  <a:pt x="0" y="692985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88011" y="5977837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4" name="Text 30"/>
          <p:cNvSpPr/>
          <p:nvPr/>
        </p:nvSpPr>
        <p:spPr>
          <a:xfrm>
            <a:off x="892632" y="5825526"/>
            <a:ext cx="9896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Business Insight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892632" y="6092182"/>
            <a:ext cx="9896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concentration combined with high freight categories may impact long-term profitability. Diversification and logistics optimization required.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5704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" name="Shape 1"/>
          <p:cNvSpPr/>
          <p:nvPr/>
        </p:nvSpPr>
        <p:spPr>
          <a:xfrm>
            <a:off x="504668" y="609351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1A1D24"/>
          </a:solidFill>
        </p:spPr>
      </p:sp>
      <p:sp>
        <p:nvSpPr>
          <p:cNvPr id="4" name="Text 2"/>
          <p:cNvSpPr/>
          <p:nvPr/>
        </p:nvSpPr>
        <p:spPr>
          <a:xfrm>
            <a:off x="1066508" y="380886"/>
            <a:ext cx="6781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1"/>
            <a:ext cx="69437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Seller &amp; Operational Performance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482" y="1222411"/>
            <a:ext cx="5626939" cy="2540839"/>
          </a:xfrm>
          <a:custGeom>
            <a:avLst/>
            <a:gdLst/>
            <a:ahLst/>
            <a:cxnLst/>
            <a:rect l="l" t="t" r="r" b="b"/>
            <a:pathLst>
              <a:path w="5626939" h="2540839">
                <a:moveTo>
                  <a:pt x="114312" y="0"/>
                </a:moveTo>
                <a:lnTo>
                  <a:pt x="5512626" y="0"/>
                </a:lnTo>
                <a:cubicBezTo>
                  <a:pt x="5575759" y="0"/>
                  <a:pt x="5626939" y="51179"/>
                  <a:pt x="5626939" y="114312"/>
                </a:cubicBezTo>
                <a:lnTo>
                  <a:pt x="5626939" y="2426526"/>
                </a:lnTo>
                <a:cubicBezTo>
                  <a:pt x="5626939" y="2489659"/>
                  <a:pt x="5575759" y="2540839"/>
                  <a:pt x="5512626" y="2540839"/>
                </a:cubicBezTo>
                <a:lnTo>
                  <a:pt x="114312" y="2540839"/>
                </a:lnTo>
                <a:cubicBezTo>
                  <a:pt x="51179" y="2540839"/>
                  <a:pt x="0" y="2489659"/>
                  <a:pt x="0" y="2426526"/>
                </a:cubicBezTo>
                <a:lnTo>
                  <a:pt x="0" y="114312"/>
                </a:lnTo>
                <a:cubicBezTo>
                  <a:pt x="0" y="51179"/>
                  <a:pt x="51179" y="0"/>
                  <a:pt x="11431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199" y="141639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6"/>
          <p:cNvSpPr/>
          <p:nvPr/>
        </p:nvSpPr>
        <p:spPr>
          <a:xfrm>
            <a:off x="778511" y="1378316"/>
            <a:ext cx="5181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Concentration (Pareto Analysis)</a:t>
            </a:r>
            <a:endParaRPr lang="en-US" sz="1600" dirty="0"/>
          </a:p>
        </p:txBody>
      </p:sp>
      <p:pic>
        <p:nvPicPr>
          <p:cNvPr id="9" name="Image 0" descr="https://kimi-img.moonshot.cn/pub/slides/26-03-03-13:43:40-d6j7a33id4m0bemrcihg.png"/>
          <p:cNvPicPr>
            <a:picLocks noChangeAspect="1"/>
          </p:cNvPicPr>
          <p:nvPr/>
        </p:nvPicPr>
        <p:blipFill>
          <a:blip r:embed="rId1"/>
          <a:srcRect l="21" r="21"/>
          <a:stretch>
            <a:fillRect/>
          </a:stretch>
        </p:blipFill>
        <p:spPr>
          <a:xfrm>
            <a:off x="540386" y="1721125"/>
            <a:ext cx="5324475" cy="1885950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6175637" y="1222411"/>
            <a:ext cx="5636464" cy="2540839"/>
          </a:xfrm>
          <a:custGeom>
            <a:avLst/>
            <a:gdLst/>
            <a:ahLst/>
            <a:cxnLst/>
            <a:rect l="l" t="t" r="r" b="b"/>
            <a:pathLst>
              <a:path w="5636464" h="2540839">
                <a:moveTo>
                  <a:pt x="114312" y="0"/>
                </a:moveTo>
                <a:lnTo>
                  <a:pt x="5522151" y="0"/>
                </a:lnTo>
                <a:cubicBezTo>
                  <a:pt x="5585284" y="0"/>
                  <a:pt x="5636464" y="51179"/>
                  <a:pt x="5636464" y="114312"/>
                </a:cubicBezTo>
                <a:lnTo>
                  <a:pt x="5636464" y="2426526"/>
                </a:lnTo>
                <a:cubicBezTo>
                  <a:pt x="5636464" y="2489659"/>
                  <a:pt x="5585284" y="2540839"/>
                  <a:pt x="5522151" y="2540839"/>
                </a:cubicBezTo>
                <a:lnTo>
                  <a:pt x="114312" y="2540839"/>
                </a:lnTo>
                <a:cubicBezTo>
                  <a:pt x="51179" y="2540839"/>
                  <a:pt x="0" y="2489659"/>
                  <a:pt x="0" y="2426526"/>
                </a:cubicBezTo>
                <a:lnTo>
                  <a:pt x="0" y="114312"/>
                </a:lnTo>
                <a:cubicBezTo>
                  <a:pt x="0" y="51179"/>
                  <a:pt x="51179" y="0"/>
                  <a:pt x="114312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31541" y="141639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54781" y="11906"/>
                </a:lnTo>
                <a:cubicBezTo>
                  <a:pt x="167915" y="11906"/>
                  <a:pt x="178594" y="22585"/>
                  <a:pt x="178594" y="35719"/>
                </a:cubicBezTo>
                <a:lnTo>
                  <a:pt x="178594" y="47625"/>
                </a:lnTo>
                <a:lnTo>
                  <a:pt x="197458" y="47625"/>
                </a:lnTo>
                <a:cubicBezTo>
                  <a:pt x="203783" y="47625"/>
                  <a:pt x="209848" y="50118"/>
                  <a:pt x="214313" y="54583"/>
                </a:cubicBezTo>
                <a:lnTo>
                  <a:pt x="231167" y="71438"/>
                </a:lnTo>
                <a:cubicBezTo>
                  <a:pt x="235632" y="75902"/>
                  <a:pt x="238125" y="81967"/>
                  <a:pt x="238125" y="88292"/>
                </a:cubicBezTo>
                <a:lnTo>
                  <a:pt x="238125" y="142875"/>
                </a:lnTo>
                <a:cubicBezTo>
                  <a:pt x="238125" y="156009"/>
                  <a:pt x="227447" y="166688"/>
                  <a:pt x="214313" y="166688"/>
                </a:cubicBezTo>
                <a:lnTo>
                  <a:pt x="213085" y="166688"/>
                </a:lnTo>
                <a:cubicBezTo>
                  <a:pt x="209215" y="180417"/>
                  <a:pt x="196565" y="190500"/>
                  <a:pt x="181570" y="190500"/>
                </a:cubicBezTo>
                <a:cubicBezTo>
                  <a:pt x="166576" y="190500"/>
                  <a:pt x="153963" y="180417"/>
                  <a:pt x="150056" y="166688"/>
                </a:cubicBezTo>
                <a:lnTo>
                  <a:pt x="111882" y="166688"/>
                </a:lnTo>
                <a:cubicBezTo>
                  <a:pt x="108012" y="180417"/>
                  <a:pt x="95362" y="190500"/>
                  <a:pt x="80367" y="190500"/>
                </a:cubicBezTo>
                <a:cubicBezTo>
                  <a:pt x="65373" y="190500"/>
                  <a:pt x="52760" y="180417"/>
                  <a:pt x="48853" y="166688"/>
                </a:cubicBezTo>
                <a:lnTo>
                  <a:pt x="47625" y="166688"/>
                </a:lnTo>
                <a:cubicBezTo>
                  <a:pt x="34491" y="166688"/>
                  <a:pt x="23813" y="156009"/>
                  <a:pt x="23813" y="142875"/>
                </a:cubicBezTo>
                <a:lnTo>
                  <a:pt x="23813" y="125016"/>
                </a:lnTo>
                <a:lnTo>
                  <a:pt x="8930" y="125016"/>
                </a:lnTo>
                <a:cubicBezTo>
                  <a:pt x="3981" y="125016"/>
                  <a:pt x="0" y="121034"/>
                  <a:pt x="0" y="116086"/>
                </a:cubicBezTo>
                <a:cubicBezTo>
                  <a:pt x="0" y="111137"/>
                  <a:pt x="3981" y="107156"/>
                  <a:pt x="8930" y="107156"/>
                </a:cubicBezTo>
                <a:lnTo>
                  <a:pt x="50602" y="107156"/>
                </a:lnTo>
                <a:cubicBezTo>
                  <a:pt x="55550" y="107156"/>
                  <a:pt x="59531" y="103175"/>
                  <a:pt x="59531" y="98227"/>
                </a:cubicBezTo>
                <a:cubicBezTo>
                  <a:pt x="59531" y="93278"/>
                  <a:pt x="55550" y="89297"/>
                  <a:pt x="50602" y="89297"/>
                </a:cubicBezTo>
                <a:lnTo>
                  <a:pt x="8930" y="89297"/>
                </a:lnTo>
                <a:cubicBezTo>
                  <a:pt x="3981" y="89297"/>
                  <a:pt x="0" y="85316"/>
                  <a:pt x="0" y="80367"/>
                </a:cubicBezTo>
                <a:cubicBezTo>
                  <a:pt x="0" y="75419"/>
                  <a:pt x="3981" y="71438"/>
                  <a:pt x="8930" y="71438"/>
                </a:cubicBezTo>
                <a:lnTo>
                  <a:pt x="74414" y="71438"/>
                </a:lnTo>
                <a:cubicBezTo>
                  <a:pt x="79363" y="71438"/>
                  <a:pt x="83344" y="67456"/>
                  <a:pt x="83344" y="62508"/>
                </a:cubicBezTo>
                <a:cubicBezTo>
                  <a:pt x="83344" y="57559"/>
                  <a:pt x="79363" y="53578"/>
                  <a:pt x="74414" y="53578"/>
                </a:cubicBezTo>
                <a:lnTo>
                  <a:pt x="8930" y="53578"/>
                </a:lnTo>
                <a:cubicBezTo>
                  <a:pt x="3981" y="53578"/>
                  <a:pt x="0" y="49597"/>
                  <a:pt x="0" y="44648"/>
                </a:cubicBezTo>
                <a:cubicBezTo>
                  <a:pt x="0" y="39700"/>
                  <a:pt x="3981" y="35719"/>
                  <a:pt x="8930" y="35719"/>
                </a:cubicBezTo>
                <a:lnTo>
                  <a:pt x="23812" y="35719"/>
                </a:lnTo>
                <a:close/>
                <a:moveTo>
                  <a:pt x="214313" y="107156"/>
                </a:moveTo>
                <a:lnTo>
                  <a:pt x="214313" y="88292"/>
                </a:lnTo>
                <a:lnTo>
                  <a:pt x="197458" y="71438"/>
                </a:lnTo>
                <a:lnTo>
                  <a:pt x="178594" y="71438"/>
                </a:lnTo>
                <a:lnTo>
                  <a:pt x="178594" y="107156"/>
                </a:lnTo>
                <a:lnTo>
                  <a:pt x="214313" y="107156"/>
                </a:lnTo>
                <a:close/>
                <a:moveTo>
                  <a:pt x="95250" y="157758"/>
                </a:moveTo>
                <a:cubicBezTo>
                  <a:pt x="95250" y="149544"/>
                  <a:pt x="88581" y="142875"/>
                  <a:pt x="80367" y="142875"/>
                </a:cubicBezTo>
                <a:cubicBezTo>
                  <a:pt x="72153" y="142875"/>
                  <a:pt x="65484" y="149544"/>
                  <a:pt x="65484" y="157758"/>
                </a:cubicBezTo>
                <a:cubicBezTo>
                  <a:pt x="65484" y="165972"/>
                  <a:pt x="72153" y="172641"/>
                  <a:pt x="80367" y="172641"/>
                </a:cubicBezTo>
                <a:cubicBezTo>
                  <a:pt x="88581" y="172641"/>
                  <a:pt x="95250" y="165972"/>
                  <a:pt x="95250" y="157758"/>
                </a:cubicBezTo>
                <a:close/>
                <a:moveTo>
                  <a:pt x="181570" y="172641"/>
                </a:moveTo>
                <a:cubicBezTo>
                  <a:pt x="189784" y="172641"/>
                  <a:pt x="196453" y="165972"/>
                  <a:pt x="196453" y="157758"/>
                </a:cubicBezTo>
                <a:cubicBezTo>
                  <a:pt x="196453" y="149544"/>
                  <a:pt x="189784" y="142875"/>
                  <a:pt x="181570" y="142875"/>
                </a:cubicBezTo>
                <a:cubicBezTo>
                  <a:pt x="173356" y="142875"/>
                  <a:pt x="166688" y="149544"/>
                  <a:pt x="166688" y="157758"/>
                </a:cubicBezTo>
                <a:cubicBezTo>
                  <a:pt x="166688" y="165972"/>
                  <a:pt x="173356" y="172641"/>
                  <a:pt x="181570" y="172641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2" name="Text 9"/>
          <p:cNvSpPr/>
          <p:nvPr/>
        </p:nvSpPr>
        <p:spPr>
          <a:xfrm>
            <a:off x="6569666" y="1378316"/>
            <a:ext cx="5181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Delivery Speed vs Review Sentiment</a:t>
            </a:r>
            <a:endParaRPr lang="en-US" sz="1600" dirty="0"/>
          </a:p>
        </p:txBody>
      </p:sp>
      <p:pic>
        <p:nvPicPr>
          <p:cNvPr id="13" name="Image 1" descr="https://kimi-img.moonshot.cn/pub/slides/26-03-03-13:43:41-d6j7a3864o3ki8bnhuc0.png"/>
          <p:cNvPicPr>
            <a:picLocks noChangeAspect="1"/>
          </p:cNvPicPr>
          <p:nvPr/>
        </p:nvPicPr>
        <p:blipFill>
          <a:blip r:embed="rId2"/>
          <a:srcRect l="21" r="21"/>
          <a:stretch>
            <a:fillRect/>
          </a:stretch>
        </p:blipFill>
        <p:spPr>
          <a:xfrm>
            <a:off x="6331541" y="1721125"/>
            <a:ext cx="5324475" cy="1885950"/>
          </a:xfrm>
          <a:prstGeom prst="roundRect">
            <a:avLst>
              <a:gd name="adj" fmla="val 0"/>
            </a:avLst>
          </a:prstGeom>
        </p:spPr>
      </p:pic>
      <p:sp>
        <p:nvSpPr>
          <p:cNvPr id="14" name="Shape 10"/>
          <p:cNvSpPr/>
          <p:nvPr/>
        </p:nvSpPr>
        <p:spPr>
          <a:xfrm>
            <a:off x="384482" y="3922434"/>
            <a:ext cx="3702889" cy="1359739"/>
          </a:xfrm>
          <a:custGeom>
            <a:avLst/>
            <a:gdLst/>
            <a:ahLst/>
            <a:cxnLst/>
            <a:rect l="l" t="t" r="r" b="b"/>
            <a:pathLst>
              <a:path w="3702889" h="1359739">
                <a:moveTo>
                  <a:pt x="114300" y="0"/>
                </a:moveTo>
                <a:lnTo>
                  <a:pt x="3588589" y="0"/>
                </a:lnTo>
                <a:cubicBezTo>
                  <a:pt x="3651715" y="0"/>
                  <a:pt x="3702889" y="51174"/>
                  <a:pt x="3702889" y="114300"/>
                </a:cubicBezTo>
                <a:lnTo>
                  <a:pt x="3702889" y="1245439"/>
                </a:lnTo>
                <a:cubicBezTo>
                  <a:pt x="3702889" y="1308565"/>
                  <a:pt x="3651715" y="1359739"/>
                  <a:pt x="3588589" y="1359739"/>
                </a:cubicBezTo>
                <a:lnTo>
                  <a:pt x="114300" y="1359739"/>
                </a:lnTo>
                <a:cubicBezTo>
                  <a:pt x="51174" y="1359739"/>
                  <a:pt x="0" y="1308565"/>
                  <a:pt x="0" y="1245439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721" y="41258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4812" y="29200"/>
                </a:moveTo>
                <a:cubicBezTo>
                  <a:pt x="107893" y="26756"/>
                  <a:pt x="109835" y="22972"/>
                  <a:pt x="109835" y="18752"/>
                </a:cubicBezTo>
                <a:cubicBezTo>
                  <a:pt x="109835" y="11352"/>
                  <a:pt x="103841" y="5358"/>
                  <a:pt x="96441" y="5358"/>
                </a:cubicBezTo>
                <a:cubicBezTo>
                  <a:pt x="89040" y="5358"/>
                  <a:pt x="83046" y="11352"/>
                  <a:pt x="83046" y="18752"/>
                </a:cubicBezTo>
                <a:cubicBezTo>
                  <a:pt x="83046" y="22972"/>
                  <a:pt x="85022" y="26756"/>
                  <a:pt x="88069" y="29200"/>
                </a:cubicBezTo>
                <a:lnTo>
                  <a:pt x="65164" y="65231"/>
                </a:lnTo>
                <a:cubicBezTo>
                  <a:pt x="61816" y="70489"/>
                  <a:pt x="54683" y="71795"/>
                  <a:pt x="49694" y="68044"/>
                </a:cubicBezTo>
                <a:lnTo>
                  <a:pt x="29769" y="53143"/>
                </a:lnTo>
                <a:cubicBezTo>
                  <a:pt x="31276" y="51000"/>
                  <a:pt x="32147" y="48354"/>
                  <a:pt x="32147" y="45541"/>
                </a:cubicBezTo>
                <a:cubicBezTo>
                  <a:pt x="32147" y="38141"/>
                  <a:pt x="26153" y="32147"/>
                  <a:pt x="18752" y="32147"/>
                </a:cubicBezTo>
                <a:cubicBezTo>
                  <a:pt x="11352" y="32147"/>
                  <a:pt x="5358" y="38141"/>
                  <a:pt x="5358" y="45541"/>
                </a:cubicBezTo>
                <a:cubicBezTo>
                  <a:pt x="5358" y="52841"/>
                  <a:pt x="11218" y="58802"/>
                  <a:pt x="18484" y="58936"/>
                </a:cubicBezTo>
                <a:lnTo>
                  <a:pt x="29401" y="131769"/>
                </a:lnTo>
                <a:cubicBezTo>
                  <a:pt x="30975" y="142250"/>
                  <a:pt x="39983" y="150019"/>
                  <a:pt x="50598" y="150019"/>
                </a:cubicBezTo>
                <a:lnTo>
                  <a:pt x="142283" y="150019"/>
                </a:lnTo>
                <a:cubicBezTo>
                  <a:pt x="152899" y="150019"/>
                  <a:pt x="161906" y="142250"/>
                  <a:pt x="163480" y="131769"/>
                </a:cubicBezTo>
                <a:lnTo>
                  <a:pt x="174397" y="58936"/>
                </a:lnTo>
                <a:cubicBezTo>
                  <a:pt x="181663" y="58802"/>
                  <a:pt x="187523" y="52841"/>
                  <a:pt x="187523" y="45541"/>
                </a:cubicBezTo>
                <a:cubicBezTo>
                  <a:pt x="187523" y="38141"/>
                  <a:pt x="181529" y="32147"/>
                  <a:pt x="174129" y="32147"/>
                </a:cubicBezTo>
                <a:cubicBezTo>
                  <a:pt x="166728" y="32147"/>
                  <a:pt x="160734" y="38141"/>
                  <a:pt x="160734" y="45541"/>
                </a:cubicBezTo>
                <a:cubicBezTo>
                  <a:pt x="160734" y="48354"/>
                  <a:pt x="161605" y="51000"/>
                  <a:pt x="163112" y="53143"/>
                </a:cubicBezTo>
                <a:lnTo>
                  <a:pt x="143221" y="68078"/>
                </a:lnTo>
                <a:cubicBezTo>
                  <a:pt x="138232" y="71828"/>
                  <a:pt x="131099" y="70522"/>
                  <a:pt x="127750" y="65265"/>
                </a:cubicBezTo>
                <a:lnTo>
                  <a:pt x="104812" y="2920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6" name="Text 12"/>
          <p:cNvSpPr/>
          <p:nvPr/>
        </p:nvSpPr>
        <p:spPr>
          <a:xfrm>
            <a:off x="749936" y="4078337"/>
            <a:ext cx="326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Top Seller Dependency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40386" y="4421037"/>
            <a:ext cx="34671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Top </a:t>
            </a: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5-10 sellers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generate majority of revenue following Pareto distribution.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40386" y="4916156"/>
            <a:ext cx="342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Risk: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94092" y="4916156"/>
            <a:ext cx="1933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dependency on few sellers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245252" y="3922434"/>
            <a:ext cx="3702889" cy="1359739"/>
          </a:xfrm>
          <a:custGeom>
            <a:avLst/>
            <a:gdLst/>
            <a:ahLst/>
            <a:cxnLst/>
            <a:rect l="l" t="t" r="r" b="b"/>
            <a:pathLst>
              <a:path w="3702889" h="1359739">
                <a:moveTo>
                  <a:pt x="114300" y="0"/>
                </a:moveTo>
                <a:lnTo>
                  <a:pt x="3588589" y="0"/>
                </a:lnTo>
                <a:cubicBezTo>
                  <a:pt x="3651715" y="0"/>
                  <a:pt x="3702889" y="51174"/>
                  <a:pt x="3702889" y="114300"/>
                </a:cubicBezTo>
                <a:lnTo>
                  <a:pt x="3702889" y="1245439"/>
                </a:lnTo>
                <a:cubicBezTo>
                  <a:pt x="3702889" y="1308565"/>
                  <a:pt x="3651715" y="1359739"/>
                  <a:pt x="3588589" y="1359739"/>
                </a:cubicBezTo>
                <a:lnTo>
                  <a:pt x="114300" y="1359739"/>
                </a:lnTo>
                <a:cubicBezTo>
                  <a:pt x="51174" y="1359739"/>
                  <a:pt x="0" y="1308565"/>
                  <a:pt x="0" y="1245439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9585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398775" y="412585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92881" y="16073"/>
                </a:moveTo>
                <a:cubicBezTo>
                  <a:pt x="192881" y="12356"/>
                  <a:pt x="190973" y="8907"/>
                  <a:pt x="187791" y="6965"/>
                </a:cubicBezTo>
                <a:cubicBezTo>
                  <a:pt x="184610" y="5023"/>
                  <a:pt x="180692" y="4822"/>
                  <a:pt x="177377" y="6496"/>
                </a:cubicBezTo>
                <a:lnTo>
                  <a:pt x="138466" y="25952"/>
                </a:lnTo>
                <a:lnTo>
                  <a:pt x="78391" y="5894"/>
                </a:lnTo>
                <a:cubicBezTo>
                  <a:pt x="75679" y="4989"/>
                  <a:pt x="72766" y="5190"/>
                  <a:pt x="70221" y="6463"/>
                </a:cubicBezTo>
                <a:lnTo>
                  <a:pt x="27358" y="27894"/>
                </a:lnTo>
                <a:cubicBezTo>
                  <a:pt x="23708" y="29736"/>
                  <a:pt x="21431" y="33453"/>
                  <a:pt x="21431" y="37505"/>
                </a:cubicBezTo>
                <a:lnTo>
                  <a:pt x="21431" y="155377"/>
                </a:lnTo>
                <a:cubicBezTo>
                  <a:pt x="21431" y="159094"/>
                  <a:pt x="23340" y="162543"/>
                  <a:pt x="26521" y="164485"/>
                </a:cubicBezTo>
                <a:cubicBezTo>
                  <a:pt x="29702" y="166427"/>
                  <a:pt x="33620" y="166628"/>
                  <a:pt x="36935" y="164954"/>
                </a:cubicBezTo>
                <a:lnTo>
                  <a:pt x="75813" y="145498"/>
                </a:lnTo>
                <a:lnTo>
                  <a:pt x="133845" y="164853"/>
                </a:lnTo>
                <a:cubicBezTo>
                  <a:pt x="132405" y="162710"/>
                  <a:pt x="130999" y="160466"/>
                  <a:pt x="129626" y="158189"/>
                </a:cubicBezTo>
                <a:cubicBezTo>
                  <a:pt x="125942" y="152061"/>
                  <a:pt x="122292" y="145029"/>
                  <a:pt x="119580" y="137495"/>
                </a:cubicBezTo>
                <a:lnTo>
                  <a:pt x="85692" y="126210"/>
                </a:lnTo>
                <a:lnTo>
                  <a:pt x="85692" y="30941"/>
                </a:lnTo>
                <a:lnTo>
                  <a:pt x="128554" y="45240"/>
                </a:lnTo>
                <a:lnTo>
                  <a:pt x="128554" y="78492"/>
                </a:lnTo>
                <a:cubicBezTo>
                  <a:pt x="138935" y="66504"/>
                  <a:pt x="154338" y="58936"/>
                  <a:pt x="171417" y="58936"/>
                </a:cubicBezTo>
                <a:cubicBezTo>
                  <a:pt x="178984" y="58936"/>
                  <a:pt x="186217" y="60409"/>
                  <a:pt x="192848" y="63122"/>
                </a:cubicBezTo>
                <a:lnTo>
                  <a:pt x="192881" y="16073"/>
                </a:lnTo>
                <a:close/>
                <a:moveTo>
                  <a:pt x="171450" y="75009"/>
                </a:moveTo>
                <a:cubicBezTo>
                  <a:pt x="149249" y="75009"/>
                  <a:pt x="131266" y="92690"/>
                  <a:pt x="131266" y="114490"/>
                </a:cubicBezTo>
                <a:cubicBezTo>
                  <a:pt x="131266" y="137562"/>
                  <a:pt x="152731" y="164853"/>
                  <a:pt x="164284" y="177879"/>
                </a:cubicBezTo>
                <a:cubicBezTo>
                  <a:pt x="168168" y="182233"/>
                  <a:pt x="174765" y="182233"/>
                  <a:pt x="178650" y="177879"/>
                </a:cubicBezTo>
                <a:cubicBezTo>
                  <a:pt x="190202" y="164853"/>
                  <a:pt x="211667" y="137562"/>
                  <a:pt x="211667" y="114490"/>
                </a:cubicBezTo>
                <a:cubicBezTo>
                  <a:pt x="211667" y="92690"/>
                  <a:pt x="193685" y="75009"/>
                  <a:pt x="171483" y="75009"/>
                </a:cubicBezTo>
                <a:close/>
                <a:moveTo>
                  <a:pt x="158055" y="115193"/>
                </a:moveTo>
                <a:cubicBezTo>
                  <a:pt x="158055" y="107800"/>
                  <a:pt x="164057" y="101798"/>
                  <a:pt x="171450" y="101798"/>
                </a:cubicBezTo>
                <a:cubicBezTo>
                  <a:pt x="178843" y="101798"/>
                  <a:pt x="184845" y="107800"/>
                  <a:pt x="184845" y="115193"/>
                </a:cubicBezTo>
                <a:cubicBezTo>
                  <a:pt x="184845" y="122586"/>
                  <a:pt x="178843" y="128588"/>
                  <a:pt x="171450" y="128588"/>
                </a:cubicBezTo>
                <a:cubicBezTo>
                  <a:pt x="164057" y="128588"/>
                  <a:pt x="158055" y="122586"/>
                  <a:pt x="158055" y="115193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2" name="Text 18"/>
          <p:cNvSpPr/>
          <p:nvPr/>
        </p:nvSpPr>
        <p:spPr>
          <a:xfrm>
            <a:off x="4610707" y="4078337"/>
            <a:ext cx="326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State Satisfaction Variations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4401157" y="4421037"/>
            <a:ext cx="34671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Some states (e.g., </a:t>
            </a:r>
            <a:r>
              <a:rPr lang="en-US" sz="120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RJ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) show higher negative review ratios.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401157" y="4916156"/>
            <a:ext cx="485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Action: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4891896" y="4916156"/>
            <a:ext cx="2143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Regional operational review needed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8106022" y="3922434"/>
            <a:ext cx="3702889" cy="1359739"/>
          </a:xfrm>
          <a:custGeom>
            <a:avLst/>
            <a:gdLst/>
            <a:ahLst/>
            <a:cxnLst/>
            <a:rect l="l" t="t" r="r" b="b"/>
            <a:pathLst>
              <a:path w="3702889" h="1359739">
                <a:moveTo>
                  <a:pt x="114300" y="0"/>
                </a:moveTo>
                <a:lnTo>
                  <a:pt x="3588589" y="0"/>
                </a:lnTo>
                <a:cubicBezTo>
                  <a:pt x="3651715" y="0"/>
                  <a:pt x="3702889" y="51174"/>
                  <a:pt x="3702889" y="114300"/>
                </a:cubicBezTo>
                <a:lnTo>
                  <a:pt x="3702889" y="1245439"/>
                </a:lnTo>
                <a:cubicBezTo>
                  <a:pt x="3702889" y="1308565"/>
                  <a:pt x="3651715" y="1359739"/>
                  <a:pt x="3588589" y="1359739"/>
                </a:cubicBezTo>
                <a:lnTo>
                  <a:pt x="114300" y="1359739"/>
                </a:lnTo>
                <a:cubicBezTo>
                  <a:pt x="51174" y="1359739"/>
                  <a:pt x="0" y="1308565"/>
                  <a:pt x="0" y="1245439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270261" y="41258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40475" y="32147"/>
                </a:moveTo>
                <a:cubicBezTo>
                  <a:pt x="134916" y="32147"/>
                  <a:pt x="129525" y="33654"/>
                  <a:pt x="124804" y="36400"/>
                </a:cubicBezTo>
                <a:cubicBezTo>
                  <a:pt x="119513" y="31042"/>
                  <a:pt x="113351" y="26555"/>
                  <a:pt x="106553" y="23173"/>
                </a:cubicBezTo>
                <a:cubicBezTo>
                  <a:pt x="115997" y="15136"/>
                  <a:pt x="128018" y="10716"/>
                  <a:pt x="140475" y="10716"/>
                </a:cubicBezTo>
                <a:cubicBezTo>
                  <a:pt x="169407" y="10716"/>
                  <a:pt x="192881" y="34156"/>
                  <a:pt x="192881" y="63122"/>
                </a:cubicBezTo>
                <a:cubicBezTo>
                  <a:pt x="192881" y="77019"/>
                  <a:pt x="187356" y="90346"/>
                  <a:pt x="177545" y="100158"/>
                </a:cubicBezTo>
                <a:lnTo>
                  <a:pt x="153736" y="123966"/>
                </a:lnTo>
                <a:cubicBezTo>
                  <a:pt x="143924" y="133778"/>
                  <a:pt x="130597" y="139303"/>
                  <a:pt x="116700" y="139303"/>
                </a:cubicBezTo>
                <a:cubicBezTo>
                  <a:pt x="87768" y="139303"/>
                  <a:pt x="64294" y="115863"/>
                  <a:pt x="64294" y="86897"/>
                </a:cubicBezTo>
                <a:cubicBezTo>
                  <a:pt x="64294" y="86395"/>
                  <a:pt x="64294" y="85892"/>
                  <a:pt x="64327" y="85390"/>
                </a:cubicBezTo>
                <a:cubicBezTo>
                  <a:pt x="64495" y="79463"/>
                  <a:pt x="69417" y="74808"/>
                  <a:pt x="75344" y="74976"/>
                </a:cubicBezTo>
                <a:cubicBezTo>
                  <a:pt x="81271" y="75143"/>
                  <a:pt x="85926" y="80066"/>
                  <a:pt x="85758" y="85993"/>
                </a:cubicBezTo>
                <a:cubicBezTo>
                  <a:pt x="85758" y="86294"/>
                  <a:pt x="85758" y="86596"/>
                  <a:pt x="85758" y="86864"/>
                </a:cubicBezTo>
                <a:cubicBezTo>
                  <a:pt x="85758" y="103975"/>
                  <a:pt x="99622" y="117838"/>
                  <a:pt x="116733" y="117838"/>
                </a:cubicBezTo>
                <a:cubicBezTo>
                  <a:pt x="124937" y="117838"/>
                  <a:pt x="132807" y="114590"/>
                  <a:pt x="138633" y="108764"/>
                </a:cubicBezTo>
                <a:lnTo>
                  <a:pt x="162442" y="84955"/>
                </a:lnTo>
                <a:cubicBezTo>
                  <a:pt x="168235" y="79162"/>
                  <a:pt x="171517" y="71259"/>
                  <a:pt x="171517" y="63055"/>
                </a:cubicBezTo>
                <a:cubicBezTo>
                  <a:pt x="171517" y="45943"/>
                  <a:pt x="157654" y="32080"/>
                  <a:pt x="140542" y="32080"/>
                </a:cubicBezTo>
                <a:close/>
                <a:moveTo>
                  <a:pt x="92154" y="58032"/>
                </a:moveTo>
                <a:cubicBezTo>
                  <a:pt x="91518" y="57764"/>
                  <a:pt x="90882" y="57396"/>
                  <a:pt x="90313" y="56994"/>
                </a:cubicBezTo>
                <a:cubicBezTo>
                  <a:pt x="86093" y="54817"/>
                  <a:pt x="81271" y="53578"/>
                  <a:pt x="76215" y="53578"/>
                </a:cubicBezTo>
                <a:cubicBezTo>
                  <a:pt x="68011" y="53578"/>
                  <a:pt x="60141" y="56826"/>
                  <a:pt x="54315" y="62653"/>
                </a:cubicBezTo>
                <a:lnTo>
                  <a:pt x="30506" y="86462"/>
                </a:lnTo>
                <a:cubicBezTo>
                  <a:pt x="24713" y="92255"/>
                  <a:pt x="21431" y="100158"/>
                  <a:pt x="21431" y="108362"/>
                </a:cubicBezTo>
                <a:cubicBezTo>
                  <a:pt x="21431" y="125473"/>
                  <a:pt x="35295" y="139337"/>
                  <a:pt x="52406" y="139337"/>
                </a:cubicBezTo>
                <a:cubicBezTo>
                  <a:pt x="57931" y="139337"/>
                  <a:pt x="63323" y="137863"/>
                  <a:pt x="68044" y="135117"/>
                </a:cubicBezTo>
                <a:cubicBezTo>
                  <a:pt x="73335" y="140475"/>
                  <a:pt x="79497" y="144962"/>
                  <a:pt x="86328" y="148344"/>
                </a:cubicBezTo>
                <a:cubicBezTo>
                  <a:pt x="76885" y="156348"/>
                  <a:pt x="64897" y="160801"/>
                  <a:pt x="52406" y="160801"/>
                </a:cubicBezTo>
                <a:cubicBezTo>
                  <a:pt x="23474" y="160801"/>
                  <a:pt x="0" y="137361"/>
                  <a:pt x="0" y="108395"/>
                </a:cubicBezTo>
                <a:cubicBezTo>
                  <a:pt x="0" y="94498"/>
                  <a:pt x="5525" y="81171"/>
                  <a:pt x="15337" y="71359"/>
                </a:cubicBezTo>
                <a:lnTo>
                  <a:pt x="39146" y="47551"/>
                </a:lnTo>
                <a:cubicBezTo>
                  <a:pt x="48957" y="37739"/>
                  <a:pt x="62285" y="32214"/>
                  <a:pt x="76181" y="32214"/>
                </a:cubicBezTo>
                <a:cubicBezTo>
                  <a:pt x="105181" y="32214"/>
                  <a:pt x="128588" y="55855"/>
                  <a:pt x="128588" y="84754"/>
                </a:cubicBezTo>
                <a:cubicBezTo>
                  <a:pt x="128588" y="85189"/>
                  <a:pt x="128588" y="85625"/>
                  <a:pt x="128588" y="86060"/>
                </a:cubicBezTo>
                <a:cubicBezTo>
                  <a:pt x="128454" y="91987"/>
                  <a:pt x="123531" y="96642"/>
                  <a:pt x="117604" y="96508"/>
                </a:cubicBezTo>
                <a:cubicBezTo>
                  <a:pt x="111677" y="96374"/>
                  <a:pt x="107022" y="91451"/>
                  <a:pt x="107156" y="85524"/>
                </a:cubicBezTo>
                <a:cubicBezTo>
                  <a:pt x="107156" y="85256"/>
                  <a:pt x="107156" y="85022"/>
                  <a:pt x="107156" y="84754"/>
                </a:cubicBezTo>
                <a:cubicBezTo>
                  <a:pt x="107156" y="73469"/>
                  <a:pt x="101129" y="63557"/>
                  <a:pt x="92154" y="58099"/>
                </a:cubicBezTo>
                <a:close/>
              </a:path>
            </a:pathLst>
          </a:custGeom>
          <a:solidFill>
            <a:srgbClr val="EDF2F4"/>
          </a:solidFill>
        </p:spPr>
      </p:sp>
      <p:sp>
        <p:nvSpPr>
          <p:cNvPr id="28" name="Text 24"/>
          <p:cNvSpPr/>
          <p:nvPr/>
        </p:nvSpPr>
        <p:spPr>
          <a:xfrm>
            <a:off x="8471477" y="4078337"/>
            <a:ext cx="326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Delivery-Review Correlation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8261927" y="4421037"/>
            <a:ext cx="3467100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Fast deliveries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→ Higher positive reviews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8261927" y="4706676"/>
            <a:ext cx="3467100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Slow deliveries (10+ days)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→ Surge in negative reviews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384482" y="5441044"/>
            <a:ext cx="11427664" cy="1035889"/>
          </a:xfrm>
          <a:custGeom>
            <a:avLst/>
            <a:gdLst/>
            <a:ahLst/>
            <a:cxnLst/>
            <a:rect l="l" t="t" r="r" b="b"/>
            <a:pathLst>
              <a:path w="11427664" h="1035889">
                <a:moveTo>
                  <a:pt x="114300" y="0"/>
                </a:moveTo>
                <a:lnTo>
                  <a:pt x="11313364" y="0"/>
                </a:lnTo>
                <a:cubicBezTo>
                  <a:pt x="11376490" y="0"/>
                  <a:pt x="11427664" y="51174"/>
                  <a:pt x="11427664" y="114300"/>
                </a:cubicBezTo>
                <a:lnTo>
                  <a:pt x="11427664" y="921589"/>
                </a:lnTo>
                <a:cubicBezTo>
                  <a:pt x="11427664" y="984715"/>
                  <a:pt x="11376490" y="1035889"/>
                  <a:pt x="11313364" y="1035889"/>
                </a:cubicBezTo>
                <a:lnTo>
                  <a:pt x="114300" y="1035889"/>
                </a:lnTo>
                <a:cubicBezTo>
                  <a:pt x="51174" y="1035889"/>
                  <a:pt x="0" y="984715"/>
                  <a:pt x="0" y="921589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83249" y="58636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3" name="Text 29"/>
          <p:cNvSpPr/>
          <p:nvPr/>
        </p:nvSpPr>
        <p:spPr>
          <a:xfrm>
            <a:off x="886679" y="5596947"/>
            <a:ext cx="1083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Business Insight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886679" y="5863600"/>
            <a:ext cx="10839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Delivery performance directly impacts customer satisfaction and potentially revenue sustainability. Operational excellence in logistics is critical for long-term success.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5704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" name="Shape 1"/>
          <p:cNvSpPr/>
          <p:nvPr/>
        </p:nvSpPr>
        <p:spPr>
          <a:xfrm>
            <a:off x="533243" y="6093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50006"/>
                </a:moveTo>
                <a:cubicBezTo>
                  <a:pt x="86931" y="50006"/>
                  <a:pt x="82153" y="54784"/>
                  <a:pt x="82153" y="60722"/>
                </a:cubicBezTo>
                <a:lnTo>
                  <a:pt x="82153" y="82153"/>
                </a:lnTo>
                <a:lnTo>
                  <a:pt x="60722" y="82153"/>
                </a:lnTo>
                <a:cubicBezTo>
                  <a:pt x="54784" y="82153"/>
                  <a:pt x="50006" y="86931"/>
                  <a:pt x="50006" y="92869"/>
                </a:cubicBezTo>
                <a:cubicBezTo>
                  <a:pt x="50006" y="98807"/>
                  <a:pt x="54784" y="103584"/>
                  <a:pt x="60722" y="103584"/>
                </a:cubicBezTo>
                <a:lnTo>
                  <a:pt x="82153" y="103584"/>
                </a:lnTo>
                <a:lnTo>
                  <a:pt x="82153" y="125016"/>
                </a:lnTo>
                <a:cubicBezTo>
                  <a:pt x="82153" y="130954"/>
                  <a:pt x="86931" y="135731"/>
                  <a:pt x="92869" y="135731"/>
                </a:cubicBezTo>
                <a:cubicBezTo>
                  <a:pt x="98807" y="135731"/>
                  <a:pt x="103584" y="130954"/>
                  <a:pt x="103584" y="125016"/>
                </a:cubicBezTo>
                <a:lnTo>
                  <a:pt x="103584" y="103584"/>
                </a:lnTo>
                <a:lnTo>
                  <a:pt x="125016" y="103584"/>
                </a:lnTo>
                <a:cubicBezTo>
                  <a:pt x="130954" y="103584"/>
                  <a:pt x="135731" y="98807"/>
                  <a:pt x="135731" y="92869"/>
                </a:cubicBezTo>
                <a:cubicBezTo>
                  <a:pt x="135731" y="86931"/>
                  <a:pt x="130954" y="82153"/>
                  <a:pt x="125016" y="82153"/>
                </a:cubicBezTo>
                <a:lnTo>
                  <a:pt x="103584" y="82153"/>
                </a:lnTo>
                <a:lnTo>
                  <a:pt x="103584" y="60722"/>
                </a:lnTo>
                <a:cubicBezTo>
                  <a:pt x="103584" y="54784"/>
                  <a:pt x="98807" y="50006"/>
                  <a:pt x="92869" y="50006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4" name="Text 2"/>
          <p:cNvSpPr/>
          <p:nvPr/>
        </p:nvSpPr>
        <p:spPr>
          <a:xfrm>
            <a:off x="1066508" y="380888"/>
            <a:ext cx="77343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Diagnostic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4"/>
            <a:ext cx="78962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Root Cause &amp; Revenue Driver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482" y="1222413"/>
            <a:ext cx="5626939" cy="4017214"/>
          </a:xfrm>
          <a:custGeom>
            <a:avLst/>
            <a:gdLst/>
            <a:ahLst/>
            <a:cxnLst/>
            <a:rect l="l" t="t" r="r" b="b"/>
            <a:pathLst>
              <a:path w="5626939" h="4017214">
                <a:moveTo>
                  <a:pt x="114290" y="0"/>
                </a:moveTo>
                <a:lnTo>
                  <a:pt x="5512649" y="0"/>
                </a:lnTo>
                <a:cubicBezTo>
                  <a:pt x="5575769" y="0"/>
                  <a:pt x="5626939" y="51169"/>
                  <a:pt x="5626939" y="114290"/>
                </a:cubicBezTo>
                <a:lnTo>
                  <a:pt x="5626939" y="3902924"/>
                </a:lnTo>
                <a:cubicBezTo>
                  <a:pt x="5626939" y="3966044"/>
                  <a:pt x="5575769" y="4017214"/>
                  <a:pt x="5512649" y="4017214"/>
                </a:cubicBezTo>
                <a:lnTo>
                  <a:pt x="114290" y="4017214"/>
                </a:lnTo>
                <a:cubicBezTo>
                  <a:pt x="51169" y="4017214"/>
                  <a:pt x="0" y="3966044"/>
                  <a:pt x="0" y="3902924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4199" y="141639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6"/>
          <p:cNvSpPr/>
          <p:nvPr/>
        </p:nvSpPr>
        <p:spPr>
          <a:xfrm>
            <a:off x="778511" y="1378321"/>
            <a:ext cx="5181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Decomposition Analysis Framework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0386" y="233621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0" name="Shape 8"/>
          <p:cNvSpPr/>
          <p:nvPr/>
        </p:nvSpPr>
        <p:spPr>
          <a:xfrm>
            <a:off x="673714" y="24695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11" name="Shape 9"/>
          <p:cNvSpPr/>
          <p:nvPr/>
        </p:nvSpPr>
        <p:spPr>
          <a:xfrm>
            <a:off x="1167823" y="2202996"/>
            <a:ext cx="4694747" cy="723900"/>
          </a:xfrm>
          <a:custGeom>
            <a:avLst/>
            <a:gdLst/>
            <a:ahLst/>
            <a:cxnLst/>
            <a:rect l="l" t="t" r="r" b="b"/>
            <a:pathLst>
              <a:path w="4694747" h="723900">
                <a:moveTo>
                  <a:pt x="35943" y="0"/>
                </a:moveTo>
                <a:lnTo>
                  <a:pt x="4618549" y="0"/>
                </a:lnTo>
                <a:cubicBezTo>
                  <a:pt x="4660604" y="0"/>
                  <a:pt x="4694747" y="34143"/>
                  <a:pt x="4694747" y="76198"/>
                </a:cubicBezTo>
                <a:lnTo>
                  <a:pt x="4694747" y="647702"/>
                </a:lnTo>
                <a:cubicBezTo>
                  <a:pt x="4694747" y="689757"/>
                  <a:pt x="4660604" y="723900"/>
                  <a:pt x="4618549" y="723900"/>
                </a:cubicBezTo>
                <a:lnTo>
                  <a:pt x="35943" y="723900"/>
                </a:lnTo>
                <a:cubicBezTo>
                  <a:pt x="16092" y="723900"/>
                  <a:pt x="0" y="707808"/>
                  <a:pt x="0" y="6879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1167823" y="2202996"/>
            <a:ext cx="35943" cy="723900"/>
          </a:xfrm>
          <a:custGeom>
            <a:avLst/>
            <a:gdLst/>
            <a:ahLst/>
            <a:cxnLst/>
            <a:rect l="l" t="t" r="r" b="b"/>
            <a:pathLst>
              <a:path w="35943" h="723900">
                <a:moveTo>
                  <a:pt x="35943" y="0"/>
                </a:moveTo>
                <a:lnTo>
                  <a:pt x="35943" y="0"/>
                </a:lnTo>
                <a:lnTo>
                  <a:pt x="35943" y="723900"/>
                </a:lnTo>
                <a:lnTo>
                  <a:pt x="35943" y="723900"/>
                </a:lnTo>
                <a:cubicBezTo>
                  <a:pt x="16092" y="723900"/>
                  <a:pt x="0" y="707808"/>
                  <a:pt x="0" y="6879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3" name="Text 11"/>
          <p:cNvSpPr/>
          <p:nvPr/>
        </p:nvSpPr>
        <p:spPr>
          <a:xfrm>
            <a:off x="1300028" y="2317226"/>
            <a:ext cx="4524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Performance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00028" y="2583884"/>
            <a:ext cx="4524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Broken down by seller state, delivery speed, review category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0386" y="3174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6" name="Shape 14"/>
          <p:cNvSpPr/>
          <p:nvPr/>
        </p:nvSpPr>
        <p:spPr>
          <a:xfrm>
            <a:off x="661808" y="330746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42875" y="53578"/>
                </a:moveTo>
                <a:cubicBezTo>
                  <a:pt x="142875" y="89743"/>
                  <a:pt x="110877" y="119063"/>
                  <a:pt x="71438" y="119063"/>
                </a:cubicBezTo>
                <a:cubicBezTo>
                  <a:pt x="61503" y="119063"/>
                  <a:pt x="52053" y="117202"/>
                  <a:pt x="43458" y="113854"/>
                </a:cubicBezTo>
                <a:lnTo>
                  <a:pt x="13097" y="129927"/>
                </a:lnTo>
                <a:cubicBezTo>
                  <a:pt x="9637" y="131750"/>
                  <a:pt x="5395" y="131118"/>
                  <a:pt x="2604" y="128364"/>
                </a:cubicBezTo>
                <a:cubicBezTo>
                  <a:pt x="-186" y="125611"/>
                  <a:pt x="-819" y="121332"/>
                  <a:pt x="1042" y="117872"/>
                </a:cubicBezTo>
                <a:lnTo>
                  <a:pt x="14288" y="92869"/>
                </a:lnTo>
                <a:cubicBezTo>
                  <a:pt x="5321" y="81930"/>
                  <a:pt x="0" y="68312"/>
                  <a:pt x="0" y="53578"/>
                </a:cubicBezTo>
                <a:cubicBezTo>
                  <a:pt x="0" y="17413"/>
                  <a:pt x="31998" y="-11906"/>
                  <a:pt x="71438" y="-11906"/>
                </a:cubicBezTo>
                <a:cubicBezTo>
                  <a:pt x="110877" y="-11906"/>
                  <a:pt x="142875" y="17413"/>
                  <a:pt x="142875" y="53578"/>
                </a:cubicBezTo>
                <a:close/>
                <a:moveTo>
                  <a:pt x="142875" y="190500"/>
                </a:moveTo>
                <a:cubicBezTo>
                  <a:pt x="107863" y="190500"/>
                  <a:pt x="78730" y="167394"/>
                  <a:pt x="72628" y="136922"/>
                </a:cubicBezTo>
                <a:cubicBezTo>
                  <a:pt x="117277" y="136364"/>
                  <a:pt x="156083" y="104589"/>
                  <a:pt x="160362" y="61503"/>
                </a:cubicBezTo>
                <a:cubicBezTo>
                  <a:pt x="191356" y="68647"/>
                  <a:pt x="214313" y="94357"/>
                  <a:pt x="214313" y="125016"/>
                </a:cubicBezTo>
                <a:cubicBezTo>
                  <a:pt x="214313" y="139750"/>
                  <a:pt x="208992" y="153367"/>
                  <a:pt x="200025" y="164306"/>
                </a:cubicBezTo>
                <a:lnTo>
                  <a:pt x="213271" y="189309"/>
                </a:lnTo>
                <a:cubicBezTo>
                  <a:pt x="215094" y="192770"/>
                  <a:pt x="214461" y="197011"/>
                  <a:pt x="211708" y="199802"/>
                </a:cubicBezTo>
                <a:cubicBezTo>
                  <a:pt x="208955" y="202592"/>
                  <a:pt x="204676" y="203225"/>
                  <a:pt x="201216" y="201364"/>
                </a:cubicBezTo>
                <a:lnTo>
                  <a:pt x="170855" y="185291"/>
                </a:lnTo>
                <a:cubicBezTo>
                  <a:pt x="162260" y="188640"/>
                  <a:pt x="152809" y="190500"/>
                  <a:pt x="142875" y="190500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17" name="Shape 15"/>
          <p:cNvSpPr/>
          <p:nvPr/>
        </p:nvSpPr>
        <p:spPr>
          <a:xfrm>
            <a:off x="1167823" y="3040926"/>
            <a:ext cx="4694747" cy="723900"/>
          </a:xfrm>
          <a:custGeom>
            <a:avLst/>
            <a:gdLst/>
            <a:ahLst/>
            <a:cxnLst/>
            <a:rect l="l" t="t" r="r" b="b"/>
            <a:pathLst>
              <a:path w="4694747" h="723900">
                <a:moveTo>
                  <a:pt x="35943" y="0"/>
                </a:moveTo>
                <a:lnTo>
                  <a:pt x="4618549" y="0"/>
                </a:lnTo>
                <a:cubicBezTo>
                  <a:pt x="4660604" y="0"/>
                  <a:pt x="4694747" y="34143"/>
                  <a:pt x="4694747" y="76198"/>
                </a:cubicBezTo>
                <a:lnTo>
                  <a:pt x="4694747" y="647702"/>
                </a:lnTo>
                <a:cubicBezTo>
                  <a:pt x="4694747" y="689757"/>
                  <a:pt x="4660604" y="723900"/>
                  <a:pt x="4618549" y="723900"/>
                </a:cubicBezTo>
                <a:lnTo>
                  <a:pt x="35943" y="723900"/>
                </a:lnTo>
                <a:cubicBezTo>
                  <a:pt x="16092" y="723900"/>
                  <a:pt x="0" y="707808"/>
                  <a:pt x="0" y="6879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1167823" y="3040926"/>
            <a:ext cx="35943" cy="723900"/>
          </a:xfrm>
          <a:custGeom>
            <a:avLst/>
            <a:gdLst/>
            <a:ahLst/>
            <a:cxnLst/>
            <a:rect l="l" t="t" r="r" b="b"/>
            <a:pathLst>
              <a:path w="35943" h="723900">
                <a:moveTo>
                  <a:pt x="35943" y="0"/>
                </a:moveTo>
                <a:lnTo>
                  <a:pt x="35943" y="0"/>
                </a:lnTo>
                <a:lnTo>
                  <a:pt x="35943" y="723900"/>
                </a:lnTo>
                <a:lnTo>
                  <a:pt x="35943" y="723900"/>
                </a:lnTo>
                <a:cubicBezTo>
                  <a:pt x="16092" y="723900"/>
                  <a:pt x="0" y="707808"/>
                  <a:pt x="0" y="6879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9" name="Text 17"/>
          <p:cNvSpPr/>
          <p:nvPr/>
        </p:nvSpPr>
        <p:spPr>
          <a:xfrm>
            <a:off x="1300028" y="3155161"/>
            <a:ext cx="4524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Review Performance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00028" y="3421814"/>
            <a:ext cx="4524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Analyzed across delivery timelines and geographic regions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0386" y="401207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22" name="Shape 20"/>
          <p:cNvSpPr/>
          <p:nvPr/>
        </p:nvSpPr>
        <p:spPr>
          <a:xfrm>
            <a:off x="661808" y="414539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EDF2F4"/>
          </a:solidFill>
        </p:spPr>
      </p:sp>
      <p:sp>
        <p:nvSpPr>
          <p:cNvPr id="23" name="Shape 21"/>
          <p:cNvSpPr/>
          <p:nvPr/>
        </p:nvSpPr>
        <p:spPr>
          <a:xfrm>
            <a:off x="1167823" y="3878856"/>
            <a:ext cx="4694747" cy="723900"/>
          </a:xfrm>
          <a:custGeom>
            <a:avLst/>
            <a:gdLst/>
            <a:ahLst/>
            <a:cxnLst/>
            <a:rect l="l" t="t" r="r" b="b"/>
            <a:pathLst>
              <a:path w="4694747" h="723900">
                <a:moveTo>
                  <a:pt x="35943" y="0"/>
                </a:moveTo>
                <a:lnTo>
                  <a:pt x="4618549" y="0"/>
                </a:lnTo>
                <a:cubicBezTo>
                  <a:pt x="4660604" y="0"/>
                  <a:pt x="4694747" y="34143"/>
                  <a:pt x="4694747" y="76198"/>
                </a:cubicBezTo>
                <a:lnTo>
                  <a:pt x="4694747" y="647702"/>
                </a:lnTo>
                <a:cubicBezTo>
                  <a:pt x="4694747" y="689757"/>
                  <a:pt x="4660604" y="723900"/>
                  <a:pt x="4618549" y="723900"/>
                </a:cubicBezTo>
                <a:lnTo>
                  <a:pt x="35943" y="723900"/>
                </a:lnTo>
                <a:cubicBezTo>
                  <a:pt x="16092" y="723900"/>
                  <a:pt x="0" y="707808"/>
                  <a:pt x="0" y="6879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1167823" y="3878856"/>
            <a:ext cx="35943" cy="723900"/>
          </a:xfrm>
          <a:custGeom>
            <a:avLst/>
            <a:gdLst/>
            <a:ahLst/>
            <a:cxnLst/>
            <a:rect l="l" t="t" r="r" b="b"/>
            <a:pathLst>
              <a:path w="35943" h="723900">
                <a:moveTo>
                  <a:pt x="35943" y="0"/>
                </a:moveTo>
                <a:lnTo>
                  <a:pt x="35943" y="0"/>
                </a:lnTo>
                <a:lnTo>
                  <a:pt x="35943" y="723900"/>
                </a:lnTo>
                <a:lnTo>
                  <a:pt x="35943" y="723900"/>
                </a:lnTo>
                <a:cubicBezTo>
                  <a:pt x="16092" y="723900"/>
                  <a:pt x="0" y="707808"/>
                  <a:pt x="0" y="6879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25" name="Text 23"/>
          <p:cNvSpPr/>
          <p:nvPr/>
        </p:nvSpPr>
        <p:spPr>
          <a:xfrm>
            <a:off x="1300028" y="3993091"/>
            <a:ext cx="4524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Correlation Mapping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00028" y="4259745"/>
            <a:ext cx="4524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Identifying relationships between operational metrics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5637" y="1222413"/>
            <a:ext cx="5636464" cy="4017214"/>
          </a:xfrm>
          <a:custGeom>
            <a:avLst/>
            <a:gdLst/>
            <a:ahLst/>
            <a:cxnLst/>
            <a:rect l="l" t="t" r="r" b="b"/>
            <a:pathLst>
              <a:path w="5636464" h="4017214">
                <a:moveTo>
                  <a:pt x="114290" y="0"/>
                </a:moveTo>
                <a:lnTo>
                  <a:pt x="5522174" y="0"/>
                </a:lnTo>
                <a:cubicBezTo>
                  <a:pt x="5585294" y="0"/>
                  <a:pt x="5636464" y="51169"/>
                  <a:pt x="5636464" y="114290"/>
                </a:cubicBezTo>
                <a:lnTo>
                  <a:pt x="5636464" y="3902924"/>
                </a:lnTo>
                <a:cubicBezTo>
                  <a:pt x="5636464" y="3966044"/>
                  <a:pt x="5585294" y="4017214"/>
                  <a:pt x="5522174" y="4017214"/>
                </a:cubicBezTo>
                <a:lnTo>
                  <a:pt x="114290" y="4017214"/>
                </a:lnTo>
                <a:cubicBezTo>
                  <a:pt x="51169" y="4017214"/>
                  <a:pt x="0" y="3966044"/>
                  <a:pt x="0" y="3902924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354" y="141639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9" name="Text 27"/>
          <p:cNvSpPr/>
          <p:nvPr/>
        </p:nvSpPr>
        <p:spPr>
          <a:xfrm>
            <a:off x="6569666" y="1378321"/>
            <a:ext cx="5181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Critical Finding: Delivery Impact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35136" y="2056636"/>
            <a:ext cx="5312614" cy="1664539"/>
          </a:xfrm>
          <a:custGeom>
            <a:avLst/>
            <a:gdLst/>
            <a:ahLst/>
            <a:cxnLst/>
            <a:rect l="l" t="t" r="r" b="b"/>
            <a:pathLst>
              <a:path w="5312614" h="1664539">
                <a:moveTo>
                  <a:pt x="76203" y="0"/>
                </a:moveTo>
                <a:lnTo>
                  <a:pt x="5236411" y="0"/>
                </a:lnTo>
                <a:cubicBezTo>
                  <a:pt x="5278497" y="0"/>
                  <a:pt x="5312614" y="34117"/>
                  <a:pt x="5312614" y="76203"/>
                </a:cubicBezTo>
                <a:lnTo>
                  <a:pt x="5312614" y="1588336"/>
                </a:lnTo>
                <a:cubicBezTo>
                  <a:pt x="5312614" y="1630422"/>
                  <a:pt x="5278497" y="1664539"/>
                  <a:pt x="5236411" y="1664539"/>
                </a:cubicBezTo>
                <a:lnTo>
                  <a:pt x="76203" y="1664539"/>
                </a:lnTo>
                <a:cubicBezTo>
                  <a:pt x="34117" y="1664539"/>
                  <a:pt x="0" y="1630422"/>
                  <a:pt x="0" y="1588336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91040" y="22125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6593434" y="231722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3" name="Text 31"/>
          <p:cNvSpPr/>
          <p:nvPr/>
        </p:nvSpPr>
        <p:spPr>
          <a:xfrm>
            <a:off x="6986161" y="2269717"/>
            <a:ext cx="2066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Slow Deliveries (10+ days)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91040" y="2669586"/>
            <a:ext cx="5076825" cy="209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Strongly linked to operational inefficiencies and customer dissatisfaction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91040" y="2955224"/>
            <a:ext cx="1619250" cy="609600"/>
          </a:xfrm>
          <a:custGeom>
            <a:avLst/>
            <a:gdLst/>
            <a:ahLst/>
            <a:cxnLst/>
            <a:rect l="l" t="t" r="r" b="b"/>
            <a:pathLst>
              <a:path w="1619250" h="609600">
                <a:moveTo>
                  <a:pt x="76200" y="0"/>
                </a:moveTo>
                <a:lnTo>
                  <a:pt x="1543050" y="0"/>
                </a:lnTo>
                <a:cubicBezTo>
                  <a:pt x="1585106" y="0"/>
                  <a:pt x="1619250" y="34144"/>
                  <a:pt x="1619250" y="76200"/>
                </a:cubicBezTo>
                <a:lnTo>
                  <a:pt x="1619250" y="533400"/>
                </a:lnTo>
                <a:cubicBezTo>
                  <a:pt x="1619250" y="575456"/>
                  <a:pt x="1585106" y="609600"/>
                  <a:pt x="15430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6519571" y="3031378"/>
            <a:ext cx="1562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52%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33858" y="3298036"/>
            <a:ext cx="153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Negative Reviews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83413" y="2955224"/>
            <a:ext cx="1619250" cy="609600"/>
          </a:xfrm>
          <a:custGeom>
            <a:avLst/>
            <a:gdLst/>
            <a:ahLst/>
            <a:cxnLst/>
            <a:rect l="l" t="t" r="r" b="b"/>
            <a:pathLst>
              <a:path w="1619250" h="609600">
                <a:moveTo>
                  <a:pt x="76200" y="0"/>
                </a:moveTo>
                <a:lnTo>
                  <a:pt x="1543050" y="0"/>
                </a:lnTo>
                <a:cubicBezTo>
                  <a:pt x="1585106" y="0"/>
                  <a:pt x="1619250" y="34144"/>
                  <a:pt x="1619250" y="76200"/>
                </a:cubicBezTo>
                <a:lnTo>
                  <a:pt x="1619250" y="533400"/>
                </a:lnTo>
                <a:cubicBezTo>
                  <a:pt x="1619250" y="575456"/>
                  <a:pt x="1585106" y="609600"/>
                  <a:pt x="15430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8211943" y="3031378"/>
            <a:ext cx="1562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26230" y="3298036"/>
            <a:ext cx="153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Leakage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875786" y="2955224"/>
            <a:ext cx="1619250" cy="609600"/>
          </a:xfrm>
          <a:custGeom>
            <a:avLst/>
            <a:gdLst/>
            <a:ahLst/>
            <a:cxnLst/>
            <a:rect l="l" t="t" r="r" b="b"/>
            <a:pathLst>
              <a:path w="1619250" h="609600">
                <a:moveTo>
                  <a:pt x="76200" y="0"/>
                </a:moveTo>
                <a:lnTo>
                  <a:pt x="1543050" y="0"/>
                </a:lnTo>
                <a:cubicBezTo>
                  <a:pt x="1585106" y="0"/>
                  <a:pt x="1619250" y="34144"/>
                  <a:pt x="1619250" y="76200"/>
                </a:cubicBezTo>
                <a:lnTo>
                  <a:pt x="1619250" y="533400"/>
                </a:lnTo>
                <a:cubicBezTo>
                  <a:pt x="1619250" y="575456"/>
                  <a:pt x="1585106" y="609600"/>
                  <a:pt x="154305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9904315" y="3031378"/>
            <a:ext cx="1562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RJ/MG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918603" y="3298036"/>
            <a:ext cx="15335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Concentration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49513" y="3838310"/>
            <a:ext cx="5304347" cy="914400"/>
          </a:xfrm>
          <a:custGeom>
            <a:avLst/>
            <a:gdLst/>
            <a:ahLst/>
            <a:cxnLst/>
            <a:rect l="l" t="t" r="r" b="b"/>
            <a:pathLst>
              <a:path w="5304347" h="914400">
                <a:moveTo>
                  <a:pt x="35943" y="0"/>
                </a:moveTo>
                <a:lnTo>
                  <a:pt x="5228150" y="0"/>
                </a:lnTo>
                <a:cubicBezTo>
                  <a:pt x="5270232" y="0"/>
                  <a:pt x="5304347" y="34115"/>
                  <a:pt x="5304347" y="76197"/>
                </a:cubicBezTo>
                <a:lnTo>
                  <a:pt x="5304347" y="838203"/>
                </a:lnTo>
                <a:cubicBezTo>
                  <a:pt x="5304347" y="880285"/>
                  <a:pt x="5270232" y="914400"/>
                  <a:pt x="5228150" y="914400"/>
                </a:cubicBezTo>
                <a:lnTo>
                  <a:pt x="35943" y="914400"/>
                </a:lnTo>
                <a:cubicBezTo>
                  <a:pt x="16092" y="914400"/>
                  <a:pt x="0" y="898308"/>
                  <a:pt x="0" y="8784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6349513" y="3838310"/>
            <a:ext cx="35943" cy="914400"/>
          </a:xfrm>
          <a:custGeom>
            <a:avLst/>
            <a:gdLst/>
            <a:ahLst/>
            <a:cxnLst/>
            <a:rect l="l" t="t" r="r" b="b"/>
            <a:pathLst>
              <a:path w="35943" h="914400">
                <a:moveTo>
                  <a:pt x="35943" y="0"/>
                </a:moveTo>
                <a:lnTo>
                  <a:pt x="35943" y="0"/>
                </a:lnTo>
                <a:lnTo>
                  <a:pt x="35943" y="914400"/>
                </a:lnTo>
                <a:lnTo>
                  <a:pt x="35943" y="914400"/>
                </a:lnTo>
                <a:cubicBezTo>
                  <a:pt x="16092" y="914400"/>
                  <a:pt x="0" y="898308"/>
                  <a:pt x="0" y="8784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6" name="Shape 44"/>
          <p:cNvSpPr/>
          <p:nvPr/>
        </p:nvSpPr>
        <p:spPr>
          <a:xfrm>
            <a:off x="6519818" y="3990617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7" name="Text 45"/>
          <p:cNvSpPr/>
          <p:nvPr/>
        </p:nvSpPr>
        <p:spPr>
          <a:xfrm>
            <a:off x="6748260" y="3952540"/>
            <a:ext cx="1514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Root Cause Identified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81718" y="4219194"/>
            <a:ext cx="5133975" cy="419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Operational delays are the </a:t>
            </a: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primary root cause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of satisfaction decline and revenue risk.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4482" y="5399823"/>
            <a:ext cx="2731339" cy="1073989"/>
          </a:xfrm>
          <a:custGeom>
            <a:avLst/>
            <a:gdLst/>
            <a:ahLst/>
            <a:cxnLst/>
            <a:rect l="l" t="t" r="r" b="b"/>
            <a:pathLst>
              <a:path w="2731339" h="1073989">
                <a:moveTo>
                  <a:pt x="114305" y="0"/>
                </a:moveTo>
                <a:lnTo>
                  <a:pt x="2617034" y="0"/>
                </a:lnTo>
                <a:cubicBezTo>
                  <a:pt x="2680163" y="0"/>
                  <a:pt x="2731339" y="51176"/>
                  <a:pt x="2731339" y="114305"/>
                </a:cubicBezTo>
                <a:lnTo>
                  <a:pt x="2731339" y="959684"/>
                </a:lnTo>
                <a:cubicBezTo>
                  <a:pt x="2731339" y="1022813"/>
                  <a:pt x="2680163" y="1073989"/>
                  <a:pt x="2617034" y="1073989"/>
                </a:cubicBezTo>
                <a:lnTo>
                  <a:pt x="114305" y="1073989"/>
                </a:lnTo>
                <a:cubicBezTo>
                  <a:pt x="51218" y="1073989"/>
                  <a:pt x="0" y="1022770"/>
                  <a:pt x="0" y="959684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66740" y="551764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51" name="Text 49"/>
          <p:cNvSpPr/>
          <p:nvPr/>
        </p:nvSpPr>
        <p:spPr>
          <a:xfrm>
            <a:off x="464209" y="5822384"/>
            <a:ext cx="2581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Geographic Factor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59446" y="6089038"/>
            <a:ext cx="2590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State Concentration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280059" y="5399823"/>
            <a:ext cx="2731339" cy="1073989"/>
          </a:xfrm>
          <a:custGeom>
            <a:avLst/>
            <a:gdLst/>
            <a:ahLst/>
            <a:cxnLst/>
            <a:rect l="l" t="t" r="r" b="b"/>
            <a:pathLst>
              <a:path w="2731339" h="1073989">
                <a:moveTo>
                  <a:pt x="114305" y="0"/>
                </a:moveTo>
                <a:lnTo>
                  <a:pt x="2617034" y="0"/>
                </a:lnTo>
                <a:cubicBezTo>
                  <a:pt x="2680163" y="0"/>
                  <a:pt x="2731339" y="51176"/>
                  <a:pt x="2731339" y="114305"/>
                </a:cubicBezTo>
                <a:lnTo>
                  <a:pt x="2731339" y="959684"/>
                </a:lnTo>
                <a:cubicBezTo>
                  <a:pt x="2731339" y="1022813"/>
                  <a:pt x="2680163" y="1073989"/>
                  <a:pt x="2617034" y="1073989"/>
                </a:cubicBezTo>
                <a:lnTo>
                  <a:pt x="114305" y="1073989"/>
                </a:lnTo>
                <a:cubicBezTo>
                  <a:pt x="51218" y="1073989"/>
                  <a:pt x="0" y="1022770"/>
                  <a:pt x="0" y="959684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9585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05168" y="5517649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28575" y="42863"/>
                </a:moveTo>
                <a:cubicBezTo>
                  <a:pt x="28575" y="27102"/>
                  <a:pt x="41389" y="14288"/>
                  <a:pt x="57150" y="14288"/>
                </a:cubicBezTo>
                <a:lnTo>
                  <a:pt x="185738" y="14288"/>
                </a:lnTo>
                <a:cubicBezTo>
                  <a:pt x="201498" y="14288"/>
                  <a:pt x="214313" y="27102"/>
                  <a:pt x="214313" y="42863"/>
                </a:cubicBezTo>
                <a:lnTo>
                  <a:pt x="214313" y="57150"/>
                </a:lnTo>
                <a:lnTo>
                  <a:pt x="236949" y="57150"/>
                </a:lnTo>
                <a:cubicBezTo>
                  <a:pt x="244539" y="57150"/>
                  <a:pt x="251817" y="60141"/>
                  <a:pt x="257175" y="65499"/>
                </a:cubicBezTo>
                <a:lnTo>
                  <a:pt x="277401" y="85725"/>
                </a:lnTo>
                <a:cubicBezTo>
                  <a:pt x="282759" y="91083"/>
                  <a:pt x="285750" y="98361"/>
                  <a:pt x="285750" y="105951"/>
                </a:cubicBezTo>
                <a:lnTo>
                  <a:pt x="285750" y="171450"/>
                </a:lnTo>
                <a:cubicBezTo>
                  <a:pt x="285750" y="187211"/>
                  <a:pt x="272936" y="200025"/>
                  <a:pt x="257175" y="200025"/>
                </a:cubicBezTo>
                <a:lnTo>
                  <a:pt x="255702" y="200025"/>
                </a:lnTo>
                <a:cubicBezTo>
                  <a:pt x="251058" y="216500"/>
                  <a:pt x="235878" y="228600"/>
                  <a:pt x="217884" y="228600"/>
                </a:cubicBezTo>
                <a:cubicBezTo>
                  <a:pt x="199891" y="228600"/>
                  <a:pt x="184755" y="216500"/>
                  <a:pt x="180067" y="200025"/>
                </a:cubicBezTo>
                <a:lnTo>
                  <a:pt x="134258" y="200025"/>
                </a:lnTo>
                <a:cubicBezTo>
                  <a:pt x="129614" y="216500"/>
                  <a:pt x="114434" y="228600"/>
                  <a:pt x="96441" y="228600"/>
                </a:cubicBezTo>
                <a:cubicBezTo>
                  <a:pt x="78447" y="228600"/>
                  <a:pt x="63311" y="216500"/>
                  <a:pt x="58623" y="200025"/>
                </a:cubicBezTo>
                <a:lnTo>
                  <a:pt x="57150" y="200025"/>
                </a:lnTo>
                <a:cubicBezTo>
                  <a:pt x="41389" y="200025"/>
                  <a:pt x="28575" y="187211"/>
                  <a:pt x="28575" y="171450"/>
                </a:cubicBez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45241"/>
                  <a:pt x="0" y="139303"/>
                </a:cubicBezTo>
                <a:cubicBezTo>
                  <a:pt x="0" y="133365"/>
                  <a:pt x="4777" y="128588"/>
                  <a:pt x="10716" y="128588"/>
                </a:cubicBezTo>
                <a:lnTo>
                  <a:pt x="60722" y="128588"/>
                </a:lnTo>
                <a:cubicBezTo>
                  <a:pt x="66660" y="128588"/>
                  <a:pt x="71438" y="123810"/>
                  <a:pt x="71438" y="117872"/>
                </a:cubicBezTo>
                <a:cubicBezTo>
                  <a:pt x="71438" y="111934"/>
                  <a:pt x="66660" y="107156"/>
                  <a:pt x="60722" y="107156"/>
                </a:cubicBezTo>
                <a:lnTo>
                  <a:pt x="10716" y="107156"/>
                </a:lnTo>
                <a:cubicBezTo>
                  <a:pt x="4777" y="107156"/>
                  <a:pt x="0" y="102379"/>
                  <a:pt x="0" y="96441"/>
                </a:cubicBezTo>
                <a:cubicBezTo>
                  <a:pt x="0" y="90502"/>
                  <a:pt x="4777" y="85725"/>
                  <a:pt x="10716" y="85725"/>
                </a:cubicBezTo>
                <a:lnTo>
                  <a:pt x="89297" y="85725"/>
                </a:lnTo>
                <a:cubicBezTo>
                  <a:pt x="95235" y="85725"/>
                  <a:pt x="100013" y="80948"/>
                  <a:pt x="100013" y="75009"/>
                </a:cubicBezTo>
                <a:cubicBezTo>
                  <a:pt x="100013" y="69071"/>
                  <a:pt x="95235" y="64294"/>
                  <a:pt x="89297" y="64294"/>
                </a:cubicBezTo>
                <a:lnTo>
                  <a:pt x="10716" y="64294"/>
                </a:lnTo>
                <a:cubicBezTo>
                  <a:pt x="4777" y="64294"/>
                  <a:pt x="0" y="59516"/>
                  <a:pt x="0" y="53578"/>
                </a:cubicBezTo>
                <a:cubicBezTo>
                  <a:pt x="0" y="47640"/>
                  <a:pt x="4777" y="42863"/>
                  <a:pt x="10716" y="42863"/>
                </a:cubicBezTo>
                <a:lnTo>
                  <a:pt x="28575" y="42863"/>
                </a:lnTo>
                <a:close/>
                <a:moveTo>
                  <a:pt x="257175" y="128588"/>
                </a:moveTo>
                <a:lnTo>
                  <a:pt x="257175" y="105951"/>
                </a:lnTo>
                <a:lnTo>
                  <a:pt x="236949" y="85725"/>
                </a:lnTo>
                <a:lnTo>
                  <a:pt x="214313" y="85725"/>
                </a:lnTo>
                <a:lnTo>
                  <a:pt x="214313" y="128588"/>
                </a:lnTo>
                <a:lnTo>
                  <a:pt x="257175" y="128588"/>
                </a:lnTo>
                <a:close/>
                <a:moveTo>
                  <a:pt x="114300" y="189309"/>
                </a:moveTo>
                <a:cubicBezTo>
                  <a:pt x="114300" y="179453"/>
                  <a:pt x="106297" y="171450"/>
                  <a:pt x="96441" y="171450"/>
                </a:cubicBezTo>
                <a:cubicBezTo>
                  <a:pt x="86584" y="171450"/>
                  <a:pt x="78581" y="179453"/>
                  <a:pt x="78581" y="189309"/>
                </a:cubicBezTo>
                <a:cubicBezTo>
                  <a:pt x="78581" y="199166"/>
                  <a:pt x="86584" y="207169"/>
                  <a:pt x="96441" y="207169"/>
                </a:cubicBezTo>
                <a:cubicBezTo>
                  <a:pt x="106297" y="207169"/>
                  <a:pt x="114300" y="199166"/>
                  <a:pt x="114300" y="189309"/>
                </a:cubicBezTo>
                <a:close/>
                <a:moveTo>
                  <a:pt x="217884" y="207169"/>
                </a:moveTo>
                <a:cubicBezTo>
                  <a:pt x="227741" y="207169"/>
                  <a:pt x="235744" y="199166"/>
                  <a:pt x="235744" y="189309"/>
                </a:cubicBezTo>
                <a:cubicBezTo>
                  <a:pt x="235744" y="179453"/>
                  <a:pt x="227741" y="171450"/>
                  <a:pt x="217884" y="171450"/>
                </a:cubicBezTo>
                <a:cubicBezTo>
                  <a:pt x="208028" y="171450"/>
                  <a:pt x="200025" y="179453"/>
                  <a:pt x="200025" y="189309"/>
                </a:cubicBezTo>
                <a:cubicBezTo>
                  <a:pt x="200025" y="199166"/>
                  <a:pt x="208028" y="207169"/>
                  <a:pt x="217884" y="207169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5" name="Text 53"/>
          <p:cNvSpPr/>
          <p:nvPr/>
        </p:nvSpPr>
        <p:spPr>
          <a:xfrm>
            <a:off x="3359786" y="5822384"/>
            <a:ext cx="2581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Operational Factor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355024" y="6089038"/>
            <a:ext cx="2590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Delivery Speed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75637" y="5399823"/>
            <a:ext cx="2731339" cy="1073989"/>
          </a:xfrm>
          <a:custGeom>
            <a:avLst/>
            <a:gdLst/>
            <a:ahLst/>
            <a:cxnLst/>
            <a:rect l="l" t="t" r="r" b="b"/>
            <a:pathLst>
              <a:path w="2731339" h="1073989">
                <a:moveTo>
                  <a:pt x="114305" y="0"/>
                </a:moveTo>
                <a:lnTo>
                  <a:pt x="2617034" y="0"/>
                </a:lnTo>
                <a:cubicBezTo>
                  <a:pt x="2680163" y="0"/>
                  <a:pt x="2731339" y="51176"/>
                  <a:pt x="2731339" y="114305"/>
                </a:cubicBezTo>
                <a:lnTo>
                  <a:pt x="2731339" y="959684"/>
                </a:lnTo>
                <a:cubicBezTo>
                  <a:pt x="2731339" y="1022813"/>
                  <a:pt x="2680163" y="1073989"/>
                  <a:pt x="2617034" y="1073989"/>
                </a:cubicBezTo>
                <a:lnTo>
                  <a:pt x="114305" y="1073989"/>
                </a:lnTo>
                <a:cubicBezTo>
                  <a:pt x="51218" y="1073989"/>
                  <a:pt x="0" y="1022770"/>
                  <a:pt x="0" y="959684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29320" y="551764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3849" y="143723"/>
                </a:moveTo>
                <a:cubicBezTo>
                  <a:pt x="82957" y="156225"/>
                  <a:pt x="97691" y="164306"/>
                  <a:pt x="114300" y="164306"/>
                </a:cubicBezTo>
                <a:cubicBezTo>
                  <a:pt x="130909" y="164306"/>
                  <a:pt x="145643" y="156225"/>
                  <a:pt x="154751" y="143723"/>
                </a:cubicBezTo>
                <a:cubicBezTo>
                  <a:pt x="158234" y="138946"/>
                  <a:pt x="164931" y="137874"/>
                  <a:pt x="169709" y="141357"/>
                </a:cubicBezTo>
                <a:cubicBezTo>
                  <a:pt x="174486" y="144840"/>
                  <a:pt x="175558" y="151537"/>
                  <a:pt x="172075" y="156314"/>
                </a:cubicBezTo>
                <a:cubicBezTo>
                  <a:pt x="159082" y="174129"/>
                  <a:pt x="138053" y="185738"/>
                  <a:pt x="114300" y="185738"/>
                </a:cubicBezTo>
                <a:cubicBezTo>
                  <a:pt x="90547" y="185738"/>
                  <a:pt x="69518" y="174129"/>
                  <a:pt x="56525" y="156314"/>
                </a:cubicBezTo>
                <a:cubicBezTo>
                  <a:pt x="53042" y="151537"/>
                  <a:pt x="54114" y="144840"/>
                  <a:pt x="58891" y="141357"/>
                </a:cubicBezTo>
                <a:cubicBezTo>
                  <a:pt x="63669" y="137874"/>
                  <a:pt x="70366" y="138946"/>
                  <a:pt x="73849" y="143723"/>
                </a:cubicBezTo>
                <a:close/>
                <a:moveTo>
                  <a:pt x="64294" y="92869"/>
                </a:moveTo>
                <a:cubicBezTo>
                  <a:pt x="64294" y="84983"/>
                  <a:pt x="70696" y="78581"/>
                  <a:pt x="78581" y="78581"/>
                </a:cubicBez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lose/>
                <a:moveTo>
                  <a:pt x="150019" y="78581"/>
                </a:move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ubicBezTo>
                  <a:pt x="135731" y="84983"/>
                  <a:pt x="142133" y="78581"/>
                  <a:pt x="150019" y="78581"/>
                </a:cubicBezTo>
                <a:close/>
              </a:path>
            </a:pathLst>
          </a:custGeom>
          <a:solidFill>
            <a:srgbClr val="EDF2F4"/>
          </a:solidFill>
        </p:spPr>
      </p:sp>
      <p:sp>
        <p:nvSpPr>
          <p:cNvPr id="59" name="Text 57"/>
          <p:cNvSpPr/>
          <p:nvPr/>
        </p:nvSpPr>
        <p:spPr>
          <a:xfrm>
            <a:off x="6255364" y="5822384"/>
            <a:ext cx="2581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Experience Factor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250602" y="6089038"/>
            <a:ext cx="2590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Review Category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071215" y="5399823"/>
            <a:ext cx="2740864" cy="1073989"/>
          </a:xfrm>
          <a:custGeom>
            <a:avLst/>
            <a:gdLst/>
            <a:ahLst/>
            <a:cxnLst/>
            <a:rect l="l" t="t" r="r" b="b"/>
            <a:pathLst>
              <a:path w="2740864" h="1073989">
                <a:moveTo>
                  <a:pt x="114305" y="0"/>
                </a:moveTo>
                <a:lnTo>
                  <a:pt x="2626559" y="0"/>
                </a:lnTo>
                <a:cubicBezTo>
                  <a:pt x="2689688" y="0"/>
                  <a:pt x="2740864" y="51176"/>
                  <a:pt x="2740864" y="114305"/>
                </a:cubicBezTo>
                <a:lnTo>
                  <a:pt x="2740864" y="959684"/>
                </a:lnTo>
                <a:cubicBezTo>
                  <a:pt x="2740864" y="1022813"/>
                  <a:pt x="2689688" y="1073989"/>
                  <a:pt x="2626559" y="1073989"/>
                </a:cubicBezTo>
                <a:lnTo>
                  <a:pt x="114305" y="1073989"/>
                </a:lnTo>
                <a:cubicBezTo>
                  <a:pt x="51218" y="1073989"/>
                  <a:pt x="0" y="1022770"/>
                  <a:pt x="0" y="959684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67873" y="5517649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3" name="Text 61"/>
          <p:cNvSpPr/>
          <p:nvPr/>
        </p:nvSpPr>
        <p:spPr>
          <a:xfrm>
            <a:off x="9150941" y="5822384"/>
            <a:ext cx="25812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Financial Factor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146179" y="6089038"/>
            <a:ext cx="2590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Impact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888" y="457042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" name="Shape 1"/>
          <p:cNvSpPr/>
          <p:nvPr/>
        </p:nvSpPr>
        <p:spPr>
          <a:xfrm>
            <a:off x="561818" y="609354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4" name="Text 2"/>
          <p:cNvSpPr/>
          <p:nvPr/>
        </p:nvSpPr>
        <p:spPr>
          <a:xfrm>
            <a:off x="1066508" y="380888"/>
            <a:ext cx="4419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Strategic Findings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508" y="609354"/>
            <a:ext cx="45815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Key Business Insights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8859" y="1218819"/>
            <a:ext cx="5618672" cy="1143000"/>
          </a:xfrm>
          <a:custGeom>
            <a:avLst/>
            <a:gdLst/>
            <a:ahLst/>
            <a:cxnLst/>
            <a:rect l="l" t="t" r="r" b="b"/>
            <a:pathLst>
              <a:path w="5618672" h="1143000">
                <a:moveTo>
                  <a:pt x="35943" y="0"/>
                </a:moveTo>
                <a:lnTo>
                  <a:pt x="5504372" y="0"/>
                </a:lnTo>
                <a:cubicBezTo>
                  <a:pt x="5567456" y="0"/>
                  <a:pt x="5618672" y="51216"/>
                  <a:pt x="5618672" y="114300"/>
                </a:cubicBezTo>
                <a:lnTo>
                  <a:pt x="5618672" y="1028700"/>
                </a:lnTo>
                <a:cubicBezTo>
                  <a:pt x="5618672" y="1091784"/>
                  <a:pt x="5567456" y="1143000"/>
                  <a:pt x="5504372" y="1143000"/>
                </a:cubicBezTo>
                <a:lnTo>
                  <a:pt x="35943" y="1143000"/>
                </a:lnTo>
                <a:cubicBezTo>
                  <a:pt x="16092" y="1143000"/>
                  <a:pt x="0" y="1126908"/>
                  <a:pt x="0" y="1107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398859" y="1218819"/>
            <a:ext cx="35943" cy="1143000"/>
          </a:xfrm>
          <a:custGeom>
            <a:avLst/>
            <a:gdLst/>
            <a:ahLst/>
            <a:cxnLst/>
            <a:rect l="l" t="t" r="r" b="b"/>
            <a:pathLst>
              <a:path w="35943" h="1143000">
                <a:moveTo>
                  <a:pt x="35943" y="0"/>
                </a:moveTo>
                <a:lnTo>
                  <a:pt x="35943" y="0"/>
                </a:lnTo>
                <a:lnTo>
                  <a:pt x="35943" y="1143000"/>
                </a:lnTo>
                <a:lnTo>
                  <a:pt x="35943" y="1143000"/>
                </a:lnTo>
                <a:cubicBezTo>
                  <a:pt x="16092" y="1143000"/>
                  <a:pt x="0" y="1126908"/>
                  <a:pt x="0" y="1107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Shape 6"/>
          <p:cNvSpPr/>
          <p:nvPr/>
        </p:nvSpPr>
        <p:spPr>
          <a:xfrm>
            <a:off x="569141" y="137113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9" name="Text 7"/>
          <p:cNvSpPr/>
          <p:nvPr/>
        </p:nvSpPr>
        <p:spPr>
          <a:xfrm>
            <a:off x="521516" y="137113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8606" y="1371130"/>
            <a:ext cx="478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Geographic Revenue Concentration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8606" y="1713937"/>
            <a:ext cx="47625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is heavily concentrated in </a:t>
            </a: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SP, RJ, and MG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states, indicating regional market dominance but also concentration risk.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8859" y="2513902"/>
            <a:ext cx="5618672" cy="1143000"/>
          </a:xfrm>
          <a:custGeom>
            <a:avLst/>
            <a:gdLst/>
            <a:ahLst/>
            <a:cxnLst/>
            <a:rect l="l" t="t" r="r" b="b"/>
            <a:pathLst>
              <a:path w="5618672" h="1143000">
                <a:moveTo>
                  <a:pt x="35943" y="0"/>
                </a:moveTo>
                <a:lnTo>
                  <a:pt x="5504372" y="0"/>
                </a:lnTo>
                <a:cubicBezTo>
                  <a:pt x="5567456" y="0"/>
                  <a:pt x="5618672" y="51216"/>
                  <a:pt x="5618672" y="114300"/>
                </a:cubicBezTo>
                <a:lnTo>
                  <a:pt x="5618672" y="1028700"/>
                </a:lnTo>
                <a:cubicBezTo>
                  <a:pt x="5618672" y="1091784"/>
                  <a:pt x="5567456" y="1143000"/>
                  <a:pt x="5504372" y="1143000"/>
                </a:cubicBezTo>
                <a:lnTo>
                  <a:pt x="35943" y="1143000"/>
                </a:lnTo>
                <a:cubicBezTo>
                  <a:pt x="16092" y="1143000"/>
                  <a:pt x="0" y="1126908"/>
                  <a:pt x="0" y="1107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398859" y="2513902"/>
            <a:ext cx="35943" cy="1143000"/>
          </a:xfrm>
          <a:custGeom>
            <a:avLst/>
            <a:gdLst/>
            <a:ahLst/>
            <a:cxnLst/>
            <a:rect l="l" t="t" r="r" b="b"/>
            <a:pathLst>
              <a:path w="35943" h="1143000">
                <a:moveTo>
                  <a:pt x="35943" y="0"/>
                </a:moveTo>
                <a:lnTo>
                  <a:pt x="35943" y="0"/>
                </a:lnTo>
                <a:lnTo>
                  <a:pt x="35943" y="1143000"/>
                </a:lnTo>
                <a:lnTo>
                  <a:pt x="35943" y="1143000"/>
                </a:lnTo>
                <a:cubicBezTo>
                  <a:pt x="16092" y="1143000"/>
                  <a:pt x="0" y="1126908"/>
                  <a:pt x="0" y="1107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4" name="Shape 12"/>
          <p:cNvSpPr/>
          <p:nvPr/>
        </p:nvSpPr>
        <p:spPr>
          <a:xfrm>
            <a:off x="569141" y="26662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5" name="Text 13"/>
          <p:cNvSpPr/>
          <p:nvPr/>
        </p:nvSpPr>
        <p:spPr>
          <a:xfrm>
            <a:off x="521516" y="2666214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8606" y="2666214"/>
            <a:ext cx="478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Category Dependency Risk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8606" y="3009026"/>
            <a:ext cx="47625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Top 3 categories contribute </a:t>
            </a:r>
            <a:r>
              <a:rPr lang="en-US" sz="120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~60%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of total revenue, creating high dependency risk that requires diversification.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8859" y="3808991"/>
            <a:ext cx="5618672" cy="1143000"/>
          </a:xfrm>
          <a:custGeom>
            <a:avLst/>
            <a:gdLst/>
            <a:ahLst/>
            <a:cxnLst/>
            <a:rect l="l" t="t" r="r" b="b"/>
            <a:pathLst>
              <a:path w="5618672" h="1143000">
                <a:moveTo>
                  <a:pt x="35943" y="0"/>
                </a:moveTo>
                <a:lnTo>
                  <a:pt x="5504372" y="0"/>
                </a:lnTo>
                <a:cubicBezTo>
                  <a:pt x="5567456" y="0"/>
                  <a:pt x="5618672" y="51216"/>
                  <a:pt x="5618672" y="114300"/>
                </a:cubicBezTo>
                <a:lnTo>
                  <a:pt x="5618672" y="1028700"/>
                </a:lnTo>
                <a:cubicBezTo>
                  <a:pt x="5618672" y="1091784"/>
                  <a:pt x="5567456" y="1143000"/>
                  <a:pt x="5504372" y="1143000"/>
                </a:cubicBezTo>
                <a:lnTo>
                  <a:pt x="35943" y="1143000"/>
                </a:lnTo>
                <a:cubicBezTo>
                  <a:pt x="16092" y="1143000"/>
                  <a:pt x="0" y="1126908"/>
                  <a:pt x="0" y="1107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98859" y="3808991"/>
            <a:ext cx="35943" cy="1143000"/>
          </a:xfrm>
          <a:custGeom>
            <a:avLst/>
            <a:gdLst/>
            <a:ahLst/>
            <a:cxnLst/>
            <a:rect l="l" t="t" r="r" b="b"/>
            <a:pathLst>
              <a:path w="35943" h="1143000">
                <a:moveTo>
                  <a:pt x="35943" y="0"/>
                </a:moveTo>
                <a:lnTo>
                  <a:pt x="35943" y="0"/>
                </a:lnTo>
                <a:lnTo>
                  <a:pt x="35943" y="1143000"/>
                </a:lnTo>
                <a:lnTo>
                  <a:pt x="35943" y="1143000"/>
                </a:lnTo>
                <a:cubicBezTo>
                  <a:pt x="16092" y="1143000"/>
                  <a:pt x="0" y="1126908"/>
                  <a:pt x="0" y="1107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20" name="Shape 18"/>
          <p:cNvSpPr/>
          <p:nvPr/>
        </p:nvSpPr>
        <p:spPr>
          <a:xfrm>
            <a:off x="569141" y="39613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21" name="Text 19"/>
          <p:cNvSpPr/>
          <p:nvPr/>
        </p:nvSpPr>
        <p:spPr>
          <a:xfrm>
            <a:off x="521516" y="3961302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8606" y="3961302"/>
            <a:ext cx="478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Seller Concentration (Pareto)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8606" y="4304109"/>
            <a:ext cx="47625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heavily depends on </a:t>
            </a:r>
            <a:r>
              <a:rPr lang="en-US" sz="12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top sellers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following Pareto distribution, requiring seller diversification strategy.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0015" y="1218819"/>
            <a:ext cx="5618672" cy="1143000"/>
          </a:xfrm>
          <a:custGeom>
            <a:avLst/>
            <a:gdLst/>
            <a:ahLst/>
            <a:cxnLst/>
            <a:rect l="l" t="t" r="r" b="b"/>
            <a:pathLst>
              <a:path w="5618672" h="1143000">
                <a:moveTo>
                  <a:pt x="35943" y="0"/>
                </a:moveTo>
                <a:lnTo>
                  <a:pt x="5504372" y="0"/>
                </a:lnTo>
                <a:cubicBezTo>
                  <a:pt x="5567456" y="0"/>
                  <a:pt x="5618672" y="51216"/>
                  <a:pt x="5618672" y="114300"/>
                </a:cubicBezTo>
                <a:lnTo>
                  <a:pt x="5618672" y="1028700"/>
                </a:lnTo>
                <a:cubicBezTo>
                  <a:pt x="5618672" y="1091784"/>
                  <a:pt x="5567456" y="1143000"/>
                  <a:pt x="5504372" y="1143000"/>
                </a:cubicBezTo>
                <a:lnTo>
                  <a:pt x="35943" y="1143000"/>
                </a:lnTo>
                <a:cubicBezTo>
                  <a:pt x="16092" y="1143000"/>
                  <a:pt x="0" y="1126908"/>
                  <a:pt x="0" y="1107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6190015" y="1218819"/>
            <a:ext cx="35943" cy="1143000"/>
          </a:xfrm>
          <a:custGeom>
            <a:avLst/>
            <a:gdLst/>
            <a:ahLst/>
            <a:cxnLst/>
            <a:rect l="l" t="t" r="r" b="b"/>
            <a:pathLst>
              <a:path w="35943" h="1143000">
                <a:moveTo>
                  <a:pt x="35943" y="0"/>
                </a:moveTo>
                <a:lnTo>
                  <a:pt x="35943" y="0"/>
                </a:lnTo>
                <a:lnTo>
                  <a:pt x="35943" y="1143000"/>
                </a:lnTo>
                <a:lnTo>
                  <a:pt x="35943" y="1143000"/>
                </a:lnTo>
                <a:cubicBezTo>
                  <a:pt x="16092" y="1143000"/>
                  <a:pt x="0" y="1126908"/>
                  <a:pt x="0" y="1107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6" name="Shape 24"/>
          <p:cNvSpPr/>
          <p:nvPr/>
        </p:nvSpPr>
        <p:spPr>
          <a:xfrm>
            <a:off x="6360297" y="137113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7" name="Text 25"/>
          <p:cNvSpPr/>
          <p:nvPr/>
        </p:nvSpPr>
        <p:spPr>
          <a:xfrm>
            <a:off x="6312672" y="1371130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69762" y="1371130"/>
            <a:ext cx="478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Delivery-Satisfaction Correlation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69762" y="1713937"/>
            <a:ext cx="47625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Slow delivery (10+ days)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significantly increases negative reviews, directly impacting customer satisfaction.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90015" y="2513902"/>
            <a:ext cx="5618672" cy="1143000"/>
          </a:xfrm>
          <a:custGeom>
            <a:avLst/>
            <a:gdLst/>
            <a:ahLst/>
            <a:cxnLst/>
            <a:rect l="l" t="t" r="r" b="b"/>
            <a:pathLst>
              <a:path w="5618672" h="1143000">
                <a:moveTo>
                  <a:pt x="35943" y="0"/>
                </a:moveTo>
                <a:lnTo>
                  <a:pt x="5504372" y="0"/>
                </a:lnTo>
                <a:cubicBezTo>
                  <a:pt x="5567456" y="0"/>
                  <a:pt x="5618672" y="51216"/>
                  <a:pt x="5618672" y="114300"/>
                </a:cubicBezTo>
                <a:lnTo>
                  <a:pt x="5618672" y="1028700"/>
                </a:lnTo>
                <a:cubicBezTo>
                  <a:pt x="5618672" y="1091784"/>
                  <a:pt x="5567456" y="1143000"/>
                  <a:pt x="5504372" y="1143000"/>
                </a:cubicBezTo>
                <a:lnTo>
                  <a:pt x="35943" y="1143000"/>
                </a:lnTo>
                <a:cubicBezTo>
                  <a:pt x="16092" y="1143000"/>
                  <a:pt x="0" y="1126908"/>
                  <a:pt x="0" y="1107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6190015" y="2513902"/>
            <a:ext cx="35943" cy="1143000"/>
          </a:xfrm>
          <a:custGeom>
            <a:avLst/>
            <a:gdLst/>
            <a:ahLst/>
            <a:cxnLst/>
            <a:rect l="l" t="t" r="r" b="b"/>
            <a:pathLst>
              <a:path w="35943" h="1143000">
                <a:moveTo>
                  <a:pt x="35943" y="0"/>
                </a:moveTo>
                <a:lnTo>
                  <a:pt x="35943" y="0"/>
                </a:lnTo>
                <a:lnTo>
                  <a:pt x="35943" y="1143000"/>
                </a:lnTo>
                <a:lnTo>
                  <a:pt x="35943" y="1143000"/>
                </a:lnTo>
                <a:cubicBezTo>
                  <a:pt x="16092" y="1143000"/>
                  <a:pt x="0" y="1126908"/>
                  <a:pt x="0" y="1107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2" name="Shape 30"/>
          <p:cNvSpPr/>
          <p:nvPr/>
        </p:nvSpPr>
        <p:spPr>
          <a:xfrm>
            <a:off x="6360297" y="26662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3" name="Text 31"/>
          <p:cNvSpPr/>
          <p:nvPr/>
        </p:nvSpPr>
        <p:spPr>
          <a:xfrm>
            <a:off x="6312672" y="2666214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69762" y="2666214"/>
            <a:ext cx="478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Freight Cost Impact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69762" y="3009026"/>
            <a:ext cx="47625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freight categories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reduce margin efficiency, requiring pricing strategy adjustments or logistics optimization.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0015" y="3808991"/>
            <a:ext cx="5618672" cy="1143000"/>
          </a:xfrm>
          <a:custGeom>
            <a:avLst/>
            <a:gdLst/>
            <a:ahLst/>
            <a:cxnLst/>
            <a:rect l="l" t="t" r="r" b="b"/>
            <a:pathLst>
              <a:path w="5618672" h="1143000">
                <a:moveTo>
                  <a:pt x="35943" y="0"/>
                </a:moveTo>
                <a:lnTo>
                  <a:pt x="5504372" y="0"/>
                </a:lnTo>
                <a:cubicBezTo>
                  <a:pt x="5567456" y="0"/>
                  <a:pt x="5618672" y="51216"/>
                  <a:pt x="5618672" y="114300"/>
                </a:cubicBezTo>
                <a:lnTo>
                  <a:pt x="5618672" y="1028700"/>
                </a:lnTo>
                <a:cubicBezTo>
                  <a:pt x="5618672" y="1091784"/>
                  <a:pt x="5567456" y="1143000"/>
                  <a:pt x="5504372" y="1143000"/>
                </a:cubicBezTo>
                <a:lnTo>
                  <a:pt x="35943" y="1143000"/>
                </a:lnTo>
                <a:cubicBezTo>
                  <a:pt x="16092" y="1143000"/>
                  <a:pt x="0" y="1126908"/>
                  <a:pt x="0" y="1107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6190015" y="3808991"/>
            <a:ext cx="35943" cy="1143000"/>
          </a:xfrm>
          <a:custGeom>
            <a:avLst/>
            <a:gdLst/>
            <a:ahLst/>
            <a:cxnLst/>
            <a:rect l="l" t="t" r="r" b="b"/>
            <a:pathLst>
              <a:path w="35943" h="1143000">
                <a:moveTo>
                  <a:pt x="35943" y="0"/>
                </a:moveTo>
                <a:lnTo>
                  <a:pt x="35943" y="0"/>
                </a:lnTo>
                <a:lnTo>
                  <a:pt x="35943" y="1143000"/>
                </a:lnTo>
                <a:lnTo>
                  <a:pt x="35943" y="1143000"/>
                </a:lnTo>
                <a:cubicBezTo>
                  <a:pt x="16092" y="1143000"/>
                  <a:pt x="0" y="1126908"/>
                  <a:pt x="0" y="1107057"/>
                </a:cubicBezTo>
                <a:lnTo>
                  <a:pt x="0" y="35943"/>
                </a:lnTo>
                <a:cubicBezTo>
                  <a:pt x="0" y="16106"/>
                  <a:pt x="16106" y="0"/>
                  <a:pt x="35943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38" name="Shape 36"/>
          <p:cNvSpPr/>
          <p:nvPr/>
        </p:nvSpPr>
        <p:spPr>
          <a:xfrm>
            <a:off x="6360297" y="39613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39" name="Text 37"/>
          <p:cNvSpPr/>
          <p:nvPr/>
        </p:nvSpPr>
        <p:spPr>
          <a:xfrm>
            <a:off x="6312672" y="3961302"/>
            <a:ext cx="55245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69762" y="3961302"/>
            <a:ext cx="47815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Growth Stabilization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69762" y="4304109"/>
            <a:ext cx="47625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Growth after 2017 shows signs of </a:t>
            </a:r>
            <a:r>
              <a:rPr lang="en-US" sz="12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stabilization, not acceleration</a:t>
            </a: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, signaling potential market saturation or operational bottlenecks.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4482" y="5361635"/>
            <a:ext cx="11427664" cy="1112089"/>
          </a:xfrm>
          <a:custGeom>
            <a:avLst/>
            <a:gdLst/>
            <a:ahLst/>
            <a:cxnLst/>
            <a:rect l="l" t="t" r="r" b="b"/>
            <a:pathLst>
              <a:path w="11427664" h="1112089">
                <a:moveTo>
                  <a:pt x="114300" y="0"/>
                </a:moveTo>
                <a:lnTo>
                  <a:pt x="11313363" y="0"/>
                </a:lnTo>
                <a:cubicBezTo>
                  <a:pt x="11376490" y="0"/>
                  <a:pt x="11427664" y="51174"/>
                  <a:pt x="11427664" y="114300"/>
                </a:cubicBezTo>
                <a:lnTo>
                  <a:pt x="11427664" y="997788"/>
                </a:lnTo>
                <a:cubicBezTo>
                  <a:pt x="11427664" y="1060915"/>
                  <a:pt x="11376490" y="1112089"/>
                  <a:pt x="11313363" y="1112089"/>
                </a:cubicBezTo>
                <a:lnTo>
                  <a:pt x="114300" y="1112089"/>
                </a:lnTo>
                <a:cubicBezTo>
                  <a:pt x="51174" y="1112089"/>
                  <a:pt x="0" y="1060915"/>
                  <a:pt x="0" y="997788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3724" y="577464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4" name="Text 42"/>
          <p:cNvSpPr/>
          <p:nvPr/>
        </p:nvSpPr>
        <p:spPr>
          <a:xfrm>
            <a:off x="1049772" y="5517538"/>
            <a:ext cx="106870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9772" y="5822156"/>
            <a:ext cx="106775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analysis reveals a business with strong revenue foundations but significant concentration risks across geography, categories, and sellers. Operational efficiency, particularly in delivery performance, emerges as a critical lever for customer satisfaction and sustainable growth.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406" y="380868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63501" y="0"/>
                </a:moveTo>
                <a:lnTo>
                  <a:pt x="380999" y="0"/>
                </a:lnTo>
                <a:cubicBezTo>
                  <a:pt x="416046" y="0"/>
                  <a:pt x="444500" y="28454"/>
                  <a:pt x="444500" y="63501"/>
                </a:cubicBezTo>
                <a:lnTo>
                  <a:pt x="444500" y="380999"/>
                </a:lnTo>
                <a:cubicBezTo>
                  <a:pt x="444500" y="416046"/>
                  <a:pt x="416046" y="444500"/>
                  <a:pt x="380999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" name="Shape 1"/>
          <p:cNvSpPr/>
          <p:nvPr/>
        </p:nvSpPr>
        <p:spPr>
          <a:xfrm>
            <a:off x="444369" y="50779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4" name="Text 2"/>
          <p:cNvSpPr/>
          <p:nvPr/>
        </p:nvSpPr>
        <p:spPr>
          <a:xfrm>
            <a:off x="888757" y="317407"/>
            <a:ext cx="508793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Strategic Actions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8757" y="507795"/>
            <a:ext cx="52228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Actionable Recommendations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1051560"/>
            <a:ext cx="3760470" cy="2211070"/>
          </a:xfrm>
          <a:custGeom>
            <a:avLst/>
            <a:gdLst/>
            <a:ahLst/>
            <a:cxnLst/>
            <a:rect l="l" t="t" r="r" b="b"/>
            <a:pathLst>
              <a:path w="3760428" h="4585928">
                <a:moveTo>
                  <a:pt x="95252" y="0"/>
                </a:moveTo>
                <a:lnTo>
                  <a:pt x="3665176" y="0"/>
                </a:lnTo>
                <a:cubicBezTo>
                  <a:pt x="3717782" y="0"/>
                  <a:pt x="3760428" y="42646"/>
                  <a:pt x="3760428" y="95252"/>
                </a:cubicBezTo>
                <a:lnTo>
                  <a:pt x="3760428" y="4490676"/>
                </a:lnTo>
                <a:cubicBezTo>
                  <a:pt x="3760428" y="4543282"/>
                  <a:pt x="3717782" y="4585928"/>
                  <a:pt x="3665176" y="4585928"/>
                </a:cubicBezTo>
                <a:lnTo>
                  <a:pt x="95252" y="4585928"/>
                </a:lnTo>
                <a:cubicBezTo>
                  <a:pt x="42646" y="4585928"/>
                  <a:pt x="0" y="4543282"/>
                  <a:pt x="0" y="4490676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0322" y="11485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6"/>
          <p:cNvSpPr/>
          <p:nvPr/>
        </p:nvSpPr>
        <p:spPr>
          <a:xfrm>
            <a:off x="410635" y="1148597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6479" y="1227972"/>
            <a:ext cx="1706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Reduce Slow Deliveries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0215" y="1624965"/>
            <a:ext cx="3564255" cy="1336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Prioritize logistics optimization in states with high delay rates. Implement route optimization and carrier performance monitoring.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0797" y="2802122"/>
            <a:ext cx="420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Impact: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0714" y="2802122"/>
            <a:ext cx="1222375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↑ Customer Satisfaction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4000" y="3429000"/>
            <a:ext cx="3760470" cy="2493645"/>
          </a:xfrm>
          <a:custGeom>
            <a:avLst/>
            <a:gdLst/>
            <a:ahLst/>
            <a:cxnLst/>
            <a:rect l="l" t="t" r="r" b="b"/>
            <a:pathLst>
              <a:path w="3760428" h="4585928">
                <a:moveTo>
                  <a:pt x="95252" y="0"/>
                </a:moveTo>
                <a:lnTo>
                  <a:pt x="3665176" y="0"/>
                </a:lnTo>
                <a:cubicBezTo>
                  <a:pt x="3717782" y="0"/>
                  <a:pt x="3760428" y="42646"/>
                  <a:pt x="3760428" y="95252"/>
                </a:cubicBezTo>
                <a:lnTo>
                  <a:pt x="3760428" y="4490676"/>
                </a:lnTo>
                <a:cubicBezTo>
                  <a:pt x="3760428" y="4543282"/>
                  <a:pt x="3717782" y="4585928"/>
                  <a:pt x="3665176" y="4585928"/>
                </a:cubicBezTo>
                <a:lnTo>
                  <a:pt x="95252" y="4585928"/>
                </a:lnTo>
                <a:cubicBezTo>
                  <a:pt x="42646" y="4585928"/>
                  <a:pt x="0" y="4543282"/>
                  <a:pt x="0" y="4490676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9585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0797" y="36748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5" name="Text 13"/>
          <p:cNvSpPr/>
          <p:nvPr/>
        </p:nvSpPr>
        <p:spPr>
          <a:xfrm>
            <a:off x="401110" y="3674844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0215" y="4295140"/>
            <a:ext cx="3564255" cy="1259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For heavy categories, negotiate better logistics rates or adjust pricing strategy to maintain margin efficiency.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1427" y="5327096"/>
            <a:ext cx="420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Impact: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1344" y="5327096"/>
            <a:ext cx="9921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↑ Margin Efficiency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15130" y="1051560"/>
            <a:ext cx="3760470" cy="2211070"/>
          </a:xfrm>
          <a:custGeom>
            <a:avLst/>
            <a:gdLst/>
            <a:ahLst/>
            <a:cxnLst/>
            <a:rect l="l" t="t" r="r" b="b"/>
            <a:pathLst>
              <a:path w="3760428" h="4585928">
                <a:moveTo>
                  <a:pt x="95252" y="0"/>
                </a:moveTo>
                <a:lnTo>
                  <a:pt x="3665176" y="0"/>
                </a:lnTo>
                <a:cubicBezTo>
                  <a:pt x="3717782" y="0"/>
                  <a:pt x="3760428" y="42646"/>
                  <a:pt x="3760428" y="95252"/>
                </a:cubicBezTo>
                <a:lnTo>
                  <a:pt x="3760428" y="4490676"/>
                </a:lnTo>
                <a:cubicBezTo>
                  <a:pt x="3760428" y="4543282"/>
                  <a:pt x="3717782" y="4585928"/>
                  <a:pt x="3665176" y="4585928"/>
                </a:cubicBezTo>
                <a:lnTo>
                  <a:pt x="95252" y="4585928"/>
                </a:lnTo>
                <a:cubicBezTo>
                  <a:pt x="42646" y="4585928"/>
                  <a:pt x="0" y="4543282"/>
                  <a:pt x="0" y="4490676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44939" y="11485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22" name="Text 20"/>
          <p:cNvSpPr/>
          <p:nvPr/>
        </p:nvSpPr>
        <p:spPr>
          <a:xfrm>
            <a:off x="4305251" y="1148597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21095" y="1227972"/>
            <a:ext cx="171450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Diversify Revenue Base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4670" y="1624965"/>
            <a:ext cx="3564255" cy="1336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Promote mid-tier sellers to reduce dependency on top 5 sellers. Implement seller development programs.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335414" y="2802122"/>
            <a:ext cx="420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Impact: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65331" y="2802122"/>
            <a:ext cx="1055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↓ Concentration Risk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15130" y="3429000"/>
            <a:ext cx="3760470" cy="2493645"/>
          </a:xfrm>
          <a:custGeom>
            <a:avLst/>
            <a:gdLst/>
            <a:ahLst/>
            <a:cxnLst/>
            <a:rect l="l" t="t" r="r" b="b"/>
            <a:pathLst>
              <a:path w="3760428" h="4585928">
                <a:moveTo>
                  <a:pt x="95252" y="0"/>
                </a:moveTo>
                <a:lnTo>
                  <a:pt x="3665176" y="0"/>
                </a:lnTo>
                <a:cubicBezTo>
                  <a:pt x="3717782" y="0"/>
                  <a:pt x="3760428" y="42646"/>
                  <a:pt x="3760428" y="95252"/>
                </a:cubicBezTo>
                <a:lnTo>
                  <a:pt x="3760428" y="4490676"/>
                </a:lnTo>
                <a:cubicBezTo>
                  <a:pt x="3760428" y="4543282"/>
                  <a:pt x="3717782" y="4585928"/>
                  <a:pt x="3665176" y="4585928"/>
                </a:cubicBezTo>
                <a:lnTo>
                  <a:pt x="95252" y="4585928"/>
                </a:lnTo>
                <a:cubicBezTo>
                  <a:pt x="42646" y="4585928"/>
                  <a:pt x="0" y="4543282"/>
                  <a:pt x="0" y="4490676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44939" y="36748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9" name="Text 27"/>
          <p:cNvSpPr/>
          <p:nvPr/>
        </p:nvSpPr>
        <p:spPr>
          <a:xfrm>
            <a:off x="4305251" y="3674844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44670" y="4295775"/>
            <a:ext cx="3564255" cy="1259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Increase marketing investment in SP and MG to maximize ROI and capitalize on proven market demand.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296044" y="5327096"/>
            <a:ext cx="420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Impact: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25961" y="5327096"/>
            <a:ext cx="94456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↑ Revenue Growth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9585" y="1051560"/>
            <a:ext cx="3760470" cy="2211070"/>
          </a:xfrm>
          <a:custGeom>
            <a:avLst/>
            <a:gdLst/>
            <a:ahLst/>
            <a:cxnLst/>
            <a:rect l="l" t="t" r="r" b="b"/>
            <a:pathLst>
              <a:path w="3760428" h="4585928">
                <a:moveTo>
                  <a:pt x="95252" y="0"/>
                </a:moveTo>
                <a:lnTo>
                  <a:pt x="3665176" y="0"/>
                </a:lnTo>
                <a:cubicBezTo>
                  <a:pt x="3717782" y="0"/>
                  <a:pt x="3760428" y="42646"/>
                  <a:pt x="3760428" y="95252"/>
                </a:cubicBezTo>
                <a:lnTo>
                  <a:pt x="3760428" y="4490676"/>
                </a:lnTo>
                <a:cubicBezTo>
                  <a:pt x="3760428" y="4543282"/>
                  <a:pt x="3717782" y="4585928"/>
                  <a:pt x="3665176" y="4585928"/>
                </a:cubicBezTo>
                <a:lnTo>
                  <a:pt x="95252" y="4585928"/>
                </a:lnTo>
                <a:cubicBezTo>
                  <a:pt x="42646" y="4585928"/>
                  <a:pt x="0" y="4543282"/>
                  <a:pt x="0" y="4490676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9585">
            <a:solidFill>
              <a:srgbClr val="8D99AE">
                <a:alpha val="30196"/>
              </a:srgbClr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239649" y="114859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6" name="Text 34"/>
          <p:cNvSpPr/>
          <p:nvPr/>
        </p:nvSpPr>
        <p:spPr>
          <a:xfrm>
            <a:off x="8199962" y="1148597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1A1D2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15806" y="1227972"/>
            <a:ext cx="2341563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Expand High-Growth Categories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239760" y="1624965"/>
            <a:ext cx="3564255" cy="1336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Scale SKUs in stable-growth categories like beleza_saude to capture market opportunities.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30124" y="2802122"/>
            <a:ext cx="420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Impact: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60041" y="2802122"/>
            <a:ext cx="785813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↑ Market Share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09585" y="3428365"/>
            <a:ext cx="3760470" cy="2511425"/>
          </a:xfrm>
          <a:custGeom>
            <a:avLst/>
            <a:gdLst/>
            <a:ahLst/>
            <a:cxnLst/>
            <a:rect l="l" t="t" r="r" b="b"/>
            <a:pathLst>
              <a:path w="3760428" h="4585928">
                <a:moveTo>
                  <a:pt x="95252" y="0"/>
                </a:moveTo>
                <a:lnTo>
                  <a:pt x="3665176" y="0"/>
                </a:lnTo>
                <a:cubicBezTo>
                  <a:pt x="3717782" y="0"/>
                  <a:pt x="3760428" y="42646"/>
                  <a:pt x="3760428" y="95252"/>
                </a:cubicBezTo>
                <a:lnTo>
                  <a:pt x="3760428" y="4490676"/>
                </a:lnTo>
                <a:cubicBezTo>
                  <a:pt x="3760428" y="4543282"/>
                  <a:pt x="3717782" y="4585928"/>
                  <a:pt x="3665176" y="4585928"/>
                </a:cubicBezTo>
                <a:lnTo>
                  <a:pt x="95252" y="4585928"/>
                </a:lnTo>
                <a:cubicBezTo>
                  <a:pt x="42646" y="4585928"/>
                  <a:pt x="0" y="4543282"/>
                  <a:pt x="0" y="4490676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88544" y="3674844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43" name="Text 41"/>
          <p:cNvSpPr/>
          <p:nvPr/>
        </p:nvSpPr>
        <p:spPr>
          <a:xfrm>
            <a:off x="8248857" y="3674844"/>
            <a:ext cx="46037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239760" y="4295775"/>
            <a:ext cx="3564255" cy="1259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Monitor spikes in negative reviews by state in real-time to enable proactive issue resolution.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90754" y="5327096"/>
            <a:ext cx="420688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Impact: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20671" y="5327096"/>
            <a:ext cx="1039812" cy="1587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↑ Operational Agility</a:t>
            </a:r>
            <a:endParaRPr lang="en-US" sz="1600" dirty="0"/>
          </a:p>
        </p:txBody>
      </p:sp>
      <p:sp>
        <p:nvSpPr>
          <p:cNvPr id="58" name="Text 14"/>
          <p:cNvSpPr/>
          <p:nvPr/>
        </p:nvSpPr>
        <p:spPr>
          <a:xfrm>
            <a:off x="927114" y="3754854"/>
            <a:ext cx="1682750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Optimize Freight Costs</a:t>
            </a:r>
            <a:endParaRPr lang="en-US" sz="1600" dirty="0"/>
          </a:p>
        </p:txBody>
      </p:sp>
      <p:sp>
        <p:nvSpPr>
          <p:cNvPr id="59" name="Text 28"/>
          <p:cNvSpPr/>
          <p:nvPr/>
        </p:nvSpPr>
        <p:spPr>
          <a:xfrm>
            <a:off x="4821730" y="3754854"/>
            <a:ext cx="223837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Target High-Performing States</a:t>
            </a:r>
            <a:endParaRPr lang="en-US" sz="1600" dirty="0"/>
          </a:p>
        </p:txBody>
      </p:sp>
      <p:sp>
        <p:nvSpPr>
          <p:cNvPr id="60" name="Text 42"/>
          <p:cNvSpPr/>
          <p:nvPr/>
        </p:nvSpPr>
        <p:spPr>
          <a:xfrm>
            <a:off x="8716441" y="3754854"/>
            <a:ext cx="1762125" cy="222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Implement Alert System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4830" y="425774"/>
            <a:ext cx="496908" cy="496908"/>
          </a:xfrm>
          <a:custGeom>
            <a:avLst/>
            <a:gdLst/>
            <a:ahLst/>
            <a:cxnLst/>
            <a:rect l="l" t="t" r="r" b="b"/>
            <a:pathLst>
              <a:path w="496908" h="496908">
                <a:moveTo>
                  <a:pt x="70988" y="0"/>
                </a:moveTo>
                <a:lnTo>
                  <a:pt x="425920" y="0"/>
                </a:lnTo>
                <a:cubicBezTo>
                  <a:pt x="465099" y="0"/>
                  <a:pt x="496908" y="31809"/>
                  <a:pt x="496908" y="70988"/>
                </a:cubicBezTo>
                <a:lnTo>
                  <a:pt x="496908" y="425920"/>
                </a:lnTo>
                <a:cubicBezTo>
                  <a:pt x="496908" y="465099"/>
                  <a:pt x="465099" y="496908"/>
                  <a:pt x="425920" y="496908"/>
                </a:cubicBezTo>
                <a:lnTo>
                  <a:pt x="70988" y="496908"/>
                </a:lnTo>
                <a:cubicBezTo>
                  <a:pt x="31809" y="496908"/>
                  <a:pt x="0" y="465099"/>
                  <a:pt x="0" y="425920"/>
                </a:cubicBezTo>
                <a:lnTo>
                  <a:pt x="0" y="70988"/>
                </a:lnTo>
                <a:cubicBezTo>
                  <a:pt x="0" y="31809"/>
                  <a:pt x="31809" y="0"/>
                  <a:pt x="70988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" name="Shape 1"/>
          <p:cNvSpPr/>
          <p:nvPr/>
        </p:nvSpPr>
        <p:spPr>
          <a:xfrm>
            <a:off x="496762" y="567666"/>
            <a:ext cx="212961" cy="212961"/>
          </a:xfrm>
          <a:custGeom>
            <a:avLst/>
            <a:gdLst/>
            <a:ahLst/>
            <a:cxnLst/>
            <a:rect l="l" t="t" r="r" b="b"/>
            <a:pathLst>
              <a:path w="212961" h="212961">
                <a:moveTo>
                  <a:pt x="60020" y="0"/>
                </a:moveTo>
                <a:lnTo>
                  <a:pt x="153190" y="0"/>
                </a:lnTo>
                <a:cubicBezTo>
                  <a:pt x="164213" y="0"/>
                  <a:pt x="173197" y="9067"/>
                  <a:pt x="172781" y="20048"/>
                </a:cubicBezTo>
                <a:cubicBezTo>
                  <a:pt x="172698" y="22253"/>
                  <a:pt x="172615" y="24457"/>
                  <a:pt x="172490" y="26620"/>
                </a:cubicBezTo>
                <a:lnTo>
                  <a:pt x="193120" y="26620"/>
                </a:lnTo>
                <a:cubicBezTo>
                  <a:pt x="203976" y="26620"/>
                  <a:pt x="213543" y="35604"/>
                  <a:pt x="212711" y="47334"/>
                </a:cubicBezTo>
                <a:cubicBezTo>
                  <a:pt x="209592" y="90467"/>
                  <a:pt x="187547" y="114175"/>
                  <a:pt x="163630" y="126570"/>
                </a:cubicBezTo>
                <a:cubicBezTo>
                  <a:pt x="157059" y="129981"/>
                  <a:pt x="150362" y="132518"/>
                  <a:pt x="143998" y="134390"/>
                </a:cubicBezTo>
                <a:cubicBezTo>
                  <a:pt x="135596" y="146286"/>
                  <a:pt x="126861" y="152566"/>
                  <a:pt x="119915" y="155935"/>
                </a:cubicBezTo>
                <a:lnTo>
                  <a:pt x="119915" y="186341"/>
                </a:lnTo>
                <a:lnTo>
                  <a:pt x="146535" y="186341"/>
                </a:lnTo>
                <a:cubicBezTo>
                  <a:pt x="153897" y="186341"/>
                  <a:pt x="159845" y="192289"/>
                  <a:pt x="159845" y="199651"/>
                </a:cubicBezTo>
                <a:cubicBezTo>
                  <a:pt x="159845" y="207013"/>
                  <a:pt x="153897" y="212961"/>
                  <a:pt x="146535" y="212961"/>
                </a:cubicBezTo>
                <a:lnTo>
                  <a:pt x="66675" y="212961"/>
                </a:lnTo>
                <a:cubicBezTo>
                  <a:pt x="59313" y="212961"/>
                  <a:pt x="53365" y="207013"/>
                  <a:pt x="53365" y="199651"/>
                </a:cubicBezTo>
                <a:cubicBezTo>
                  <a:pt x="53365" y="192289"/>
                  <a:pt x="59313" y="186341"/>
                  <a:pt x="66675" y="186341"/>
                </a:cubicBezTo>
                <a:lnTo>
                  <a:pt x="93295" y="186341"/>
                </a:lnTo>
                <a:lnTo>
                  <a:pt x="93295" y="155935"/>
                </a:lnTo>
                <a:cubicBezTo>
                  <a:pt x="86640" y="152733"/>
                  <a:pt x="78363" y="146785"/>
                  <a:pt x="70294" y="135846"/>
                </a:cubicBezTo>
                <a:cubicBezTo>
                  <a:pt x="62640" y="133849"/>
                  <a:pt x="54322" y="130813"/>
                  <a:pt x="46211" y="126237"/>
                </a:cubicBezTo>
                <a:cubicBezTo>
                  <a:pt x="23709" y="113634"/>
                  <a:pt x="3411" y="89884"/>
                  <a:pt x="499" y="47251"/>
                </a:cubicBezTo>
                <a:cubicBezTo>
                  <a:pt x="-291" y="35563"/>
                  <a:pt x="9234" y="26578"/>
                  <a:pt x="20090" y="26578"/>
                </a:cubicBezTo>
                <a:lnTo>
                  <a:pt x="40720" y="26578"/>
                </a:lnTo>
                <a:cubicBezTo>
                  <a:pt x="40596" y="24416"/>
                  <a:pt x="40512" y="22253"/>
                  <a:pt x="40429" y="20007"/>
                </a:cubicBezTo>
                <a:cubicBezTo>
                  <a:pt x="40013" y="8984"/>
                  <a:pt x="48998" y="-42"/>
                  <a:pt x="60020" y="-42"/>
                </a:cubicBezTo>
                <a:close/>
                <a:moveTo>
                  <a:pt x="42218" y="46585"/>
                </a:moveTo>
                <a:lnTo>
                  <a:pt x="20423" y="46585"/>
                </a:lnTo>
                <a:cubicBezTo>
                  <a:pt x="23001" y="81815"/>
                  <a:pt x="39181" y="99451"/>
                  <a:pt x="55861" y="108810"/>
                </a:cubicBezTo>
                <a:cubicBezTo>
                  <a:pt x="49871" y="93295"/>
                  <a:pt x="44921" y="73039"/>
                  <a:pt x="42218" y="46585"/>
                </a:cubicBezTo>
                <a:close/>
                <a:moveTo>
                  <a:pt x="158057" y="106813"/>
                </a:moveTo>
                <a:cubicBezTo>
                  <a:pt x="174902" y="96914"/>
                  <a:pt x="190126" y="79320"/>
                  <a:pt x="192704" y="46585"/>
                </a:cubicBezTo>
                <a:lnTo>
                  <a:pt x="170951" y="46585"/>
                </a:lnTo>
                <a:cubicBezTo>
                  <a:pt x="168372" y="71916"/>
                  <a:pt x="163714" y="91590"/>
                  <a:pt x="158057" y="106813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4" name="Text 2"/>
          <p:cNvSpPr/>
          <p:nvPr/>
        </p:nvSpPr>
        <p:spPr>
          <a:xfrm>
            <a:off x="993545" y="354831"/>
            <a:ext cx="6096000" cy="177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b="1" kern="0" spc="49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Outcomes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3545" y="567666"/>
            <a:ext cx="6246847" cy="42592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55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Conclusion &amp; Dashboard Impact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1572" y="1135435"/>
            <a:ext cx="11463380" cy="1100297"/>
          </a:xfrm>
          <a:custGeom>
            <a:avLst/>
            <a:gdLst/>
            <a:ahLst/>
            <a:cxnLst/>
            <a:rect l="l" t="t" r="r" b="b"/>
            <a:pathLst>
              <a:path w="11463380" h="1100297">
                <a:moveTo>
                  <a:pt x="33484" y="0"/>
                </a:moveTo>
                <a:lnTo>
                  <a:pt x="11356904" y="0"/>
                </a:lnTo>
                <a:cubicBezTo>
                  <a:pt x="11415709" y="0"/>
                  <a:pt x="11463380" y="47671"/>
                  <a:pt x="11463380" y="106476"/>
                </a:cubicBezTo>
                <a:lnTo>
                  <a:pt x="11463380" y="993821"/>
                </a:lnTo>
                <a:cubicBezTo>
                  <a:pt x="11463380" y="1052587"/>
                  <a:pt x="11415670" y="1100297"/>
                  <a:pt x="11356904" y="1100297"/>
                </a:cubicBezTo>
                <a:lnTo>
                  <a:pt x="33484" y="1100297"/>
                </a:lnTo>
                <a:cubicBezTo>
                  <a:pt x="14991" y="1100297"/>
                  <a:pt x="0" y="1085305"/>
                  <a:pt x="0" y="1066813"/>
                </a:cubicBezTo>
                <a:lnTo>
                  <a:pt x="0" y="33484"/>
                </a:lnTo>
                <a:cubicBezTo>
                  <a:pt x="0" y="15004"/>
                  <a:pt x="15004" y="0"/>
                  <a:pt x="3348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371572" y="1135435"/>
            <a:ext cx="33484" cy="1100297"/>
          </a:xfrm>
          <a:custGeom>
            <a:avLst/>
            <a:gdLst/>
            <a:ahLst/>
            <a:cxnLst/>
            <a:rect l="l" t="t" r="r" b="b"/>
            <a:pathLst>
              <a:path w="33484" h="1100297">
                <a:moveTo>
                  <a:pt x="33484" y="0"/>
                </a:moveTo>
                <a:lnTo>
                  <a:pt x="33484" y="0"/>
                </a:lnTo>
                <a:lnTo>
                  <a:pt x="33484" y="1100297"/>
                </a:lnTo>
                <a:lnTo>
                  <a:pt x="33484" y="1100297"/>
                </a:lnTo>
                <a:cubicBezTo>
                  <a:pt x="14991" y="1100297"/>
                  <a:pt x="0" y="1085305"/>
                  <a:pt x="0" y="1066813"/>
                </a:cubicBezTo>
                <a:lnTo>
                  <a:pt x="0" y="33484"/>
                </a:lnTo>
                <a:cubicBezTo>
                  <a:pt x="0" y="15004"/>
                  <a:pt x="15004" y="0"/>
                  <a:pt x="33484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6"/>
          <p:cNvSpPr/>
          <p:nvPr/>
        </p:nvSpPr>
        <p:spPr>
          <a:xfrm>
            <a:off x="530204" y="1277327"/>
            <a:ext cx="11269170" cy="2839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75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Transforming Data into Strategic Intelligence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204" y="1632153"/>
            <a:ext cx="11233677" cy="4614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The </a:t>
            </a:r>
            <a:r>
              <a:rPr lang="en-US" sz="112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Growth and Sales Performance Intelligence Dashboard</a:t>
            </a:r>
            <a:r>
              <a:rPr lang="en-US" sz="112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transforms multi-dimensional sales and operational data into a structured executive decision-support system, enabling data-driven revenue growth strategies.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8178" y="2380738"/>
            <a:ext cx="5667902" cy="3325334"/>
          </a:xfrm>
          <a:custGeom>
            <a:avLst/>
            <a:gdLst/>
            <a:ahLst/>
            <a:cxnLst/>
            <a:rect l="l" t="t" r="r" b="b"/>
            <a:pathLst>
              <a:path w="5667902" h="3325334">
                <a:moveTo>
                  <a:pt x="106477" y="0"/>
                </a:moveTo>
                <a:lnTo>
                  <a:pt x="5561425" y="0"/>
                </a:lnTo>
                <a:cubicBezTo>
                  <a:pt x="5620231" y="0"/>
                  <a:pt x="5667902" y="47671"/>
                  <a:pt x="5667902" y="106477"/>
                </a:cubicBezTo>
                <a:lnTo>
                  <a:pt x="5667902" y="3218857"/>
                </a:lnTo>
                <a:cubicBezTo>
                  <a:pt x="5667902" y="3277663"/>
                  <a:pt x="5620231" y="3325334"/>
                  <a:pt x="5561425" y="3325334"/>
                </a:cubicBezTo>
                <a:lnTo>
                  <a:pt x="106477" y="3325334"/>
                </a:lnTo>
                <a:cubicBezTo>
                  <a:pt x="47671" y="3325334"/>
                  <a:pt x="0" y="3277663"/>
                  <a:pt x="0" y="3218857"/>
                </a:cubicBezTo>
                <a:lnTo>
                  <a:pt x="0" y="106477"/>
                </a:lnTo>
                <a:cubicBezTo>
                  <a:pt x="0" y="47711"/>
                  <a:pt x="47711" y="0"/>
                  <a:pt x="106477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5600" y="2561451"/>
            <a:ext cx="177467" cy="177467"/>
          </a:xfrm>
          <a:custGeom>
            <a:avLst/>
            <a:gdLst/>
            <a:ahLst/>
            <a:cxnLst/>
            <a:rect l="l" t="t" r="r" b="b"/>
            <a:pathLst>
              <a:path w="177467" h="177467">
                <a:moveTo>
                  <a:pt x="88734" y="177467"/>
                </a:moveTo>
                <a:cubicBezTo>
                  <a:pt x="137707" y="177467"/>
                  <a:pt x="177467" y="137707"/>
                  <a:pt x="177467" y="88734"/>
                </a:cubicBezTo>
                <a:cubicBezTo>
                  <a:pt x="177467" y="39760"/>
                  <a:pt x="137707" y="0"/>
                  <a:pt x="88734" y="0"/>
                </a:cubicBezTo>
                <a:cubicBezTo>
                  <a:pt x="39760" y="0"/>
                  <a:pt x="0" y="39760"/>
                  <a:pt x="0" y="88734"/>
                </a:cubicBezTo>
                <a:cubicBezTo>
                  <a:pt x="0" y="137707"/>
                  <a:pt x="39760" y="177467"/>
                  <a:pt x="88734" y="177467"/>
                </a:cubicBezTo>
                <a:close/>
                <a:moveTo>
                  <a:pt x="117988" y="73725"/>
                </a:moveTo>
                <a:lnTo>
                  <a:pt x="90259" y="118092"/>
                </a:lnTo>
                <a:cubicBezTo>
                  <a:pt x="88803" y="120414"/>
                  <a:pt x="86307" y="121870"/>
                  <a:pt x="83569" y="122009"/>
                </a:cubicBezTo>
                <a:cubicBezTo>
                  <a:pt x="80831" y="122147"/>
                  <a:pt x="78197" y="120900"/>
                  <a:pt x="76567" y="118681"/>
                </a:cubicBezTo>
                <a:lnTo>
                  <a:pt x="59930" y="96498"/>
                </a:lnTo>
                <a:cubicBezTo>
                  <a:pt x="57157" y="92824"/>
                  <a:pt x="57919" y="87624"/>
                  <a:pt x="61594" y="84852"/>
                </a:cubicBezTo>
                <a:cubicBezTo>
                  <a:pt x="65268" y="82079"/>
                  <a:pt x="70467" y="82841"/>
                  <a:pt x="73240" y="86515"/>
                </a:cubicBezTo>
                <a:lnTo>
                  <a:pt x="82599" y="98993"/>
                </a:lnTo>
                <a:lnTo>
                  <a:pt x="103881" y="64921"/>
                </a:lnTo>
                <a:cubicBezTo>
                  <a:pt x="106307" y="61039"/>
                  <a:pt x="111437" y="59826"/>
                  <a:pt x="115354" y="62287"/>
                </a:cubicBezTo>
                <a:cubicBezTo>
                  <a:pt x="119270" y="64748"/>
                  <a:pt x="120449" y="69843"/>
                  <a:pt x="117988" y="7376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2" name="Text 10"/>
          <p:cNvSpPr/>
          <p:nvPr/>
        </p:nvSpPr>
        <p:spPr>
          <a:xfrm>
            <a:off x="725251" y="2525979"/>
            <a:ext cx="524415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Project Demonstrates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0114" y="2880810"/>
            <a:ext cx="2624339" cy="940576"/>
          </a:xfrm>
          <a:custGeom>
            <a:avLst/>
            <a:gdLst/>
            <a:ahLst/>
            <a:cxnLst/>
            <a:rect l="l" t="t" r="r" b="b"/>
            <a:pathLst>
              <a:path w="2624339" h="940576">
                <a:moveTo>
                  <a:pt x="13394" y="0"/>
                </a:moveTo>
                <a:lnTo>
                  <a:pt x="2553353" y="0"/>
                </a:lnTo>
                <a:cubicBezTo>
                  <a:pt x="2592558" y="0"/>
                  <a:pt x="2624339" y="31781"/>
                  <a:pt x="2624339" y="70985"/>
                </a:cubicBezTo>
                <a:lnTo>
                  <a:pt x="2624339" y="869591"/>
                </a:lnTo>
                <a:cubicBezTo>
                  <a:pt x="2624339" y="908795"/>
                  <a:pt x="2592558" y="940576"/>
                  <a:pt x="2553353" y="940576"/>
                </a:cubicBezTo>
                <a:lnTo>
                  <a:pt x="13394" y="940576"/>
                </a:lnTo>
                <a:cubicBezTo>
                  <a:pt x="5997" y="940576"/>
                  <a:pt x="0" y="934580"/>
                  <a:pt x="0" y="927183"/>
                </a:cubicBezTo>
                <a:lnTo>
                  <a:pt x="0" y="13394"/>
                </a:lnTo>
                <a:cubicBezTo>
                  <a:pt x="0" y="5997"/>
                  <a:pt x="5997" y="0"/>
                  <a:pt x="133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510114" y="2880810"/>
            <a:ext cx="13394" cy="940576"/>
          </a:xfrm>
          <a:custGeom>
            <a:avLst/>
            <a:gdLst/>
            <a:ahLst/>
            <a:cxnLst/>
            <a:rect l="l" t="t" r="r" b="b"/>
            <a:pathLst>
              <a:path w="13394" h="940576">
                <a:moveTo>
                  <a:pt x="13394" y="0"/>
                </a:moveTo>
                <a:lnTo>
                  <a:pt x="13394" y="0"/>
                </a:lnTo>
                <a:lnTo>
                  <a:pt x="13394" y="940576"/>
                </a:lnTo>
                <a:lnTo>
                  <a:pt x="13394" y="940576"/>
                </a:lnTo>
                <a:cubicBezTo>
                  <a:pt x="5997" y="940576"/>
                  <a:pt x="0" y="934580"/>
                  <a:pt x="0" y="927183"/>
                </a:cubicBezTo>
                <a:lnTo>
                  <a:pt x="0" y="13394"/>
                </a:lnTo>
                <a:cubicBezTo>
                  <a:pt x="0" y="5997"/>
                  <a:pt x="5997" y="0"/>
                  <a:pt x="13394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5" name="Shape 13"/>
          <p:cNvSpPr/>
          <p:nvPr/>
        </p:nvSpPr>
        <p:spPr>
          <a:xfrm>
            <a:off x="640975" y="3022697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0" y="22183"/>
                </a:moveTo>
                <a:cubicBezTo>
                  <a:pt x="0" y="14835"/>
                  <a:pt x="5962" y="8873"/>
                  <a:pt x="13310" y="8873"/>
                </a:cubicBezTo>
                <a:lnTo>
                  <a:pt x="39930" y="8873"/>
                </a:lnTo>
                <a:cubicBezTo>
                  <a:pt x="47278" y="8873"/>
                  <a:pt x="53240" y="14835"/>
                  <a:pt x="53240" y="22183"/>
                </a:cubicBezTo>
                <a:lnTo>
                  <a:pt x="53240" y="26620"/>
                </a:lnTo>
                <a:lnTo>
                  <a:pt x="88734" y="26620"/>
                </a:lnTo>
                <a:lnTo>
                  <a:pt x="88734" y="22183"/>
                </a:lnTo>
                <a:cubicBezTo>
                  <a:pt x="88734" y="14835"/>
                  <a:pt x="94695" y="8873"/>
                  <a:pt x="102044" y="8873"/>
                </a:cubicBezTo>
                <a:lnTo>
                  <a:pt x="128664" y="8873"/>
                </a:lnTo>
                <a:cubicBezTo>
                  <a:pt x="136012" y="8873"/>
                  <a:pt x="141974" y="14835"/>
                  <a:pt x="141974" y="22183"/>
                </a:cubicBezTo>
                <a:lnTo>
                  <a:pt x="141974" y="48803"/>
                </a:lnTo>
                <a:cubicBezTo>
                  <a:pt x="141974" y="56152"/>
                  <a:pt x="136012" y="62114"/>
                  <a:pt x="128664" y="62114"/>
                </a:cubicBezTo>
                <a:lnTo>
                  <a:pt x="102044" y="62114"/>
                </a:lnTo>
                <a:cubicBezTo>
                  <a:pt x="94695" y="62114"/>
                  <a:pt x="88734" y="56152"/>
                  <a:pt x="88734" y="48803"/>
                </a:cubicBezTo>
                <a:lnTo>
                  <a:pt x="88734" y="44367"/>
                </a:lnTo>
                <a:lnTo>
                  <a:pt x="53240" y="44367"/>
                </a:lnTo>
                <a:lnTo>
                  <a:pt x="53240" y="48803"/>
                </a:lnTo>
                <a:cubicBezTo>
                  <a:pt x="53240" y="50828"/>
                  <a:pt x="52769" y="52769"/>
                  <a:pt x="51965" y="54488"/>
                </a:cubicBezTo>
                <a:lnTo>
                  <a:pt x="70987" y="79860"/>
                </a:lnTo>
                <a:lnTo>
                  <a:pt x="93170" y="79860"/>
                </a:lnTo>
                <a:cubicBezTo>
                  <a:pt x="100519" y="79860"/>
                  <a:pt x="106480" y="85822"/>
                  <a:pt x="106480" y="93170"/>
                </a:cubicBezTo>
                <a:lnTo>
                  <a:pt x="106480" y="119790"/>
                </a:lnTo>
                <a:cubicBezTo>
                  <a:pt x="106480" y="127139"/>
                  <a:pt x="100519" y="133100"/>
                  <a:pt x="93170" y="133100"/>
                </a:cubicBezTo>
                <a:lnTo>
                  <a:pt x="66550" y="133100"/>
                </a:lnTo>
                <a:cubicBezTo>
                  <a:pt x="59202" y="133100"/>
                  <a:pt x="53240" y="127139"/>
                  <a:pt x="53240" y="119790"/>
                </a:cubicBezTo>
                <a:lnTo>
                  <a:pt x="53240" y="93170"/>
                </a:lnTo>
                <a:cubicBezTo>
                  <a:pt x="53240" y="91146"/>
                  <a:pt x="53712" y="89205"/>
                  <a:pt x="54516" y="87486"/>
                </a:cubicBezTo>
                <a:lnTo>
                  <a:pt x="35493" y="62114"/>
                </a:lnTo>
                <a:lnTo>
                  <a:pt x="13310" y="62114"/>
                </a:lnTo>
                <a:cubicBezTo>
                  <a:pt x="5962" y="62114"/>
                  <a:pt x="0" y="56152"/>
                  <a:pt x="0" y="48803"/>
                </a:cubicBezTo>
                <a:lnTo>
                  <a:pt x="0" y="22183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6" name="Text 14"/>
          <p:cNvSpPr/>
          <p:nvPr/>
        </p:nvSpPr>
        <p:spPr>
          <a:xfrm>
            <a:off x="871536" y="2987225"/>
            <a:ext cx="1641572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Advanced Data Modeling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3228" y="3235636"/>
            <a:ext cx="2466795" cy="35493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 Schema architecture for optimal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50288" y="2880810"/>
            <a:ext cx="2624339" cy="940576"/>
          </a:xfrm>
          <a:custGeom>
            <a:avLst/>
            <a:gdLst/>
            <a:ahLst/>
            <a:cxnLst/>
            <a:rect l="l" t="t" r="r" b="b"/>
            <a:pathLst>
              <a:path w="2624339" h="940576">
                <a:moveTo>
                  <a:pt x="13394" y="0"/>
                </a:moveTo>
                <a:lnTo>
                  <a:pt x="2553353" y="0"/>
                </a:lnTo>
                <a:cubicBezTo>
                  <a:pt x="2592558" y="0"/>
                  <a:pt x="2624339" y="31781"/>
                  <a:pt x="2624339" y="70985"/>
                </a:cubicBezTo>
                <a:lnTo>
                  <a:pt x="2624339" y="869591"/>
                </a:lnTo>
                <a:cubicBezTo>
                  <a:pt x="2624339" y="908795"/>
                  <a:pt x="2592558" y="940576"/>
                  <a:pt x="2553353" y="940576"/>
                </a:cubicBezTo>
                <a:lnTo>
                  <a:pt x="13394" y="940576"/>
                </a:lnTo>
                <a:cubicBezTo>
                  <a:pt x="5997" y="940576"/>
                  <a:pt x="0" y="934580"/>
                  <a:pt x="0" y="927183"/>
                </a:cubicBezTo>
                <a:lnTo>
                  <a:pt x="0" y="13394"/>
                </a:lnTo>
                <a:cubicBezTo>
                  <a:pt x="0" y="5997"/>
                  <a:pt x="5997" y="0"/>
                  <a:pt x="133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3250288" y="2880810"/>
            <a:ext cx="13394" cy="940576"/>
          </a:xfrm>
          <a:custGeom>
            <a:avLst/>
            <a:gdLst/>
            <a:ahLst/>
            <a:cxnLst/>
            <a:rect l="l" t="t" r="r" b="b"/>
            <a:pathLst>
              <a:path w="13394" h="940576">
                <a:moveTo>
                  <a:pt x="13394" y="0"/>
                </a:moveTo>
                <a:lnTo>
                  <a:pt x="13394" y="0"/>
                </a:lnTo>
                <a:lnTo>
                  <a:pt x="13394" y="940576"/>
                </a:lnTo>
                <a:lnTo>
                  <a:pt x="13394" y="940576"/>
                </a:lnTo>
                <a:cubicBezTo>
                  <a:pt x="5997" y="940576"/>
                  <a:pt x="0" y="934580"/>
                  <a:pt x="0" y="927183"/>
                </a:cubicBezTo>
                <a:lnTo>
                  <a:pt x="0" y="13394"/>
                </a:lnTo>
                <a:cubicBezTo>
                  <a:pt x="0" y="5997"/>
                  <a:pt x="5997" y="0"/>
                  <a:pt x="13394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0" name="Shape 18"/>
          <p:cNvSpPr/>
          <p:nvPr/>
        </p:nvSpPr>
        <p:spPr>
          <a:xfrm>
            <a:off x="3398896" y="3022697"/>
            <a:ext cx="106480" cy="141974"/>
          </a:xfrm>
          <a:custGeom>
            <a:avLst/>
            <a:gdLst/>
            <a:ahLst/>
            <a:cxnLst/>
            <a:rect l="l" t="t" r="r" b="b"/>
            <a:pathLst>
              <a:path w="106480" h="141974">
                <a:moveTo>
                  <a:pt x="17747" y="0"/>
                </a:moveTo>
                <a:cubicBezTo>
                  <a:pt x="7958" y="0"/>
                  <a:pt x="0" y="7958"/>
                  <a:pt x="0" y="17747"/>
                </a:cubicBezTo>
                <a:lnTo>
                  <a:pt x="0" y="124227"/>
                </a:lnTo>
                <a:cubicBezTo>
                  <a:pt x="0" y="134016"/>
                  <a:pt x="7958" y="141974"/>
                  <a:pt x="17747" y="141974"/>
                </a:cubicBezTo>
                <a:lnTo>
                  <a:pt x="88734" y="141974"/>
                </a:lnTo>
                <a:cubicBezTo>
                  <a:pt x="98522" y="141974"/>
                  <a:pt x="106480" y="134016"/>
                  <a:pt x="106480" y="124227"/>
                </a:cubicBezTo>
                <a:lnTo>
                  <a:pt x="106480" y="17747"/>
                </a:lnTo>
                <a:cubicBezTo>
                  <a:pt x="106480" y="7958"/>
                  <a:pt x="98522" y="0"/>
                  <a:pt x="88734" y="0"/>
                </a:cubicBezTo>
                <a:lnTo>
                  <a:pt x="17747" y="0"/>
                </a:lnTo>
                <a:close/>
                <a:moveTo>
                  <a:pt x="26620" y="17747"/>
                </a:moveTo>
                <a:lnTo>
                  <a:pt x="79860" y="17747"/>
                </a:lnTo>
                <a:cubicBezTo>
                  <a:pt x="84768" y="17747"/>
                  <a:pt x="88734" y="21712"/>
                  <a:pt x="88734" y="26620"/>
                </a:cubicBezTo>
                <a:lnTo>
                  <a:pt x="88734" y="35493"/>
                </a:lnTo>
                <a:cubicBezTo>
                  <a:pt x="88734" y="40402"/>
                  <a:pt x="84768" y="44367"/>
                  <a:pt x="79860" y="44367"/>
                </a:cubicBezTo>
                <a:lnTo>
                  <a:pt x="26620" y="44367"/>
                </a:lnTo>
                <a:cubicBezTo>
                  <a:pt x="21712" y="44367"/>
                  <a:pt x="17747" y="40402"/>
                  <a:pt x="17747" y="35493"/>
                </a:cubicBezTo>
                <a:lnTo>
                  <a:pt x="17747" y="26620"/>
                </a:lnTo>
                <a:cubicBezTo>
                  <a:pt x="17747" y="21712"/>
                  <a:pt x="21712" y="17747"/>
                  <a:pt x="26620" y="17747"/>
                </a:cubicBezTo>
                <a:close/>
                <a:moveTo>
                  <a:pt x="31057" y="64332"/>
                </a:moveTo>
                <a:cubicBezTo>
                  <a:pt x="31057" y="68005"/>
                  <a:pt x="28075" y="70987"/>
                  <a:pt x="24402" y="70987"/>
                </a:cubicBezTo>
                <a:cubicBezTo>
                  <a:pt x="20729" y="70987"/>
                  <a:pt x="17747" y="68005"/>
                  <a:pt x="17747" y="64332"/>
                </a:cubicBezTo>
                <a:cubicBezTo>
                  <a:pt x="17747" y="60659"/>
                  <a:pt x="20729" y="57677"/>
                  <a:pt x="24402" y="57677"/>
                </a:cubicBezTo>
                <a:cubicBezTo>
                  <a:pt x="28075" y="57677"/>
                  <a:pt x="31057" y="60659"/>
                  <a:pt x="31057" y="64332"/>
                </a:cubicBezTo>
                <a:close/>
                <a:moveTo>
                  <a:pt x="53240" y="70987"/>
                </a:moveTo>
                <a:cubicBezTo>
                  <a:pt x="49567" y="70987"/>
                  <a:pt x="46585" y="68005"/>
                  <a:pt x="46585" y="64332"/>
                </a:cubicBezTo>
                <a:cubicBezTo>
                  <a:pt x="46585" y="60659"/>
                  <a:pt x="49567" y="57677"/>
                  <a:pt x="53240" y="57677"/>
                </a:cubicBezTo>
                <a:cubicBezTo>
                  <a:pt x="56913" y="57677"/>
                  <a:pt x="59895" y="60659"/>
                  <a:pt x="59895" y="64332"/>
                </a:cubicBezTo>
                <a:cubicBezTo>
                  <a:pt x="59895" y="68005"/>
                  <a:pt x="56913" y="70987"/>
                  <a:pt x="53240" y="70987"/>
                </a:cubicBezTo>
                <a:close/>
                <a:moveTo>
                  <a:pt x="88734" y="64332"/>
                </a:moveTo>
                <a:cubicBezTo>
                  <a:pt x="88734" y="68005"/>
                  <a:pt x="85752" y="70987"/>
                  <a:pt x="82079" y="70987"/>
                </a:cubicBezTo>
                <a:cubicBezTo>
                  <a:pt x="78406" y="70987"/>
                  <a:pt x="75424" y="68005"/>
                  <a:pt x="75424" y="64332"/>
                </a:cubicBezTo>
                <a:cubicBezTo>
                  <a:pt x="75424" y="60659"/>
                  <a:pt x="78406" y="57677"/>
                  <a:pt x="82079" y="57677"/>
                </a:cubicBezTo>
                <a:cubicBezTo>
                  <a:pt x="85752" y="57677"/>
                  <a:pt x="88734" y="60659"/>
                  <a:pt x="88734" y="64332"/>
                </a:cubicBezTo>
                <a:close/>
                <a:moveTo>
                  <a:pt x="24402" y="97607"/>
                </a:moveTo>
                <a:cubicBezTo>
                  <a:pt x="20729" y="97607"/>
                  <a:pt x="17747" y="94625"/>
                  <a:pt x="17747" y="90952"/>
                </a:cubicBezTo>
                <a:cubicBezTo>
                  <a:pt x="17747" y="87279"/>
                  <a:pt x="20729" y="84297"/>
                  <a:pt x="24402" y="84297"/>
                </a:cubicBezTo>
                <a:cubicBezTo>
                  <a:pt x="28075" y="84297"/>
                  <a:pt x="31057" y="87279"/>
                  <a:pt x="31057" y="90952"/>
                </a:cubicBezTo>
                <a:cubicBezTo>
                  <a:pt x="31057" y="94625"/>
                  <a:pt x="28075" y="97607"/>
                  <a:pt x="24402" y="97607"/>
                </a:cubicBezTo>
                <a:close/>
                <a:moveTo>
                  <a:pt x="59895" y="90952"/>
                </a:moveTo>
                <a:cubicBezTo>
                  <a:pt x="59895" y="94625"/>
                  <a:pt x="56913" y="97607"/>
                  <a:pt x="53240" y="97607"/>
                </a:cubicBezTo>
                <a:cubicBezTo>
                  <a:pt x="49567" y="97607"/>
                  <a:pt x="46585" y="94625"/>
                  <a:pt x="46585" y="90952"/>
                </a:cubicBezTo>
                <a:cubicBezTo>
                  <a:pt x="46585" y="87279"/>
                  <a:pt x="49567" y="84297"/>
                  <a:pt x="53240" y="84297"/>
                </a:cubicBezTo>
                <a:cubicBezTo>
                  <a:pt x="56913" y="84297"/>
                  <a:pt x="59895" y="87279"/>
                  <a:pt x="59895" y="90952"/>
                </a:cubicBezTo>
                <a:close/>
                <a:moveTo>
                  <a:pt x="82079" y="97607"/>
                </a:moveTo>
                <a:cubicBezTo>
                  <a:pt x="78406" y="97607"/>
                  <a:pt x="75424" y="94625"/>
                  <a:pt x="75424" y="90952"/>
                </a:cubicBezTo>
                <a:cubicBezTo>
                  <a:pt x="75424" y="87279"/>
                  <a:pt x="78406" y="84297"/>
                  <a:pt x="82079" y="84297"/>
                </a:cubicBezTo>
                <a:cubicBezTo>
                  <a:pt x="85752" y="84297"/>
                  <a:pt x="88734" y="87279"/>
                  <a:pt x="88734" y="90952"/>
                </a:cubicBezTo>
                <a:cubicBezTo>
                  <a:pt x="88734" y="94625"/>
                  <a:pt x="85752" y="97607"/>
                  <a:pt x="82079" y="97607"/>
                </a:cubicBezTo>
                <a:close/>
                <a:moveTo>
                  <a:pt x="17747" y="117572"/>
                </a:moveTo>
                <a:cubicBezTo>
                  <a:pt x="17747" y="113884"/>
                  <a:pt x="20714" y="110917"/>
                  <a:pt x="24402" y="110917"/>
                </a:cubicBezTo>
                <a:lnTo>
                  <a:pt x="55459" y="110917"/>
                </a:lnTo>
                <a:cubicBezTo>
                  <a:pt x="59147" y="110917"/>
                  <a:pt x="62114" y="113884"/>
                  <a:pt x="62114" y="117572"/>
                </a:cubicBezTo>
                <a:cubicBezTo>
                  <a:pt x="62114" y="121260"/>
                  <a:pt x="59147" y="124227"/>
                  <a:pt x="55459" y="124227"/>
                </a:cubicBezTo>
                <a:lnTo>
                  <a:pt x="24402" y="124227"/>
                </a:lnTo>
                <a:cubicBezTo>
                  <a:pt x="20714" y="124227"/>
                  <a:pt x="17747" y="121260"/>
                  <a:pt x="17747" y="117572"/>
                </a:cubicBezTo>
                <a:close/>
                <a:moveTo>
                  <a:pt x="82079" y="110917"/>
                </a:moveTo>
                <a:cubicBezTo>
                  <a:pt x="85767" y="110917"/>
                  <a:pt x="88734" y="113884"/>
                  <a:pt x="88734" y="117572"/>
                </a:cubicBezTo>
                <a:cubicBezTo>
                  <a:pt x="88734" y="121260"/>
                  <a:pt x="85767" y="124227"/>
                  <a:pt x="82079" y="124227"/>
                </a:cubicBezTo>
                <a:cubicBezTo>
                  <a:pt x="78391" y="124227"/>
                  <a:pt x="75424" y="121260"/>
                  <a:pt x="75424" y="117572"/>
                </a:cubicBezTo>
                <a:cubicBezTo>
                  <a:pt x="75424" y="113884"/>
                  <a:pt x="78391" y="110917"/>
                  <a:pt x="82079" y="110917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1" name="Text 19"/>
          <p:cNvSpPr/>
          <p:nvPr/>
        </p:nvSpPr>
        <p:spPr>
          <a:xfrm>
            <a:off x="3611710" y="2987225"/>
            <a:ext cx="1748052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Strategic KPI Development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63402" y="3235636"/>
            <a:ext cx="2466795" cy="177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DAX-powered executive metrics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10114" y="3927511"/>
            <a:ext cx="2624339" cy="763109"/>
          </a:xfrm>
          <a:custGeom>
            <a:avLst/>
            <a:gdLst/>
            <a:ahLst/>
            <a:cxnLst/>
            <a:rect l="l" t="t" r="r" b="b"/>
            <a:pathLst>
              <a:path w="2624339" h="763109">
                <a:moveTo>
                  <a:pt x="13394" y="0"/>
                </a:moveTo>
                <a:lnTo>
                  <a:pt x="2553354" y="0"/>
                </a:lnTo>
                <a:cubicBezTo>
                  <a:pt x="2592532" y="0"/>
                  <a:pt x="2624339" y="31807"/>
                  <a:pt x="2624339" y="70984"/>
                </a:cubicBezTo>
                <a:lnTo>
                  <a:pt x="2624339" y="692125"/>
                </a:lnTo>
                <a:cubicBezTo>
                  <a:pt x="2624339" y="731302"/>
                  <a:pt x="2592532" y="763109"/>
                  <a:pt x="2553354" y="763109"/>
                </a:cubicBezTo>
                <a:lnTo>
                  <a:pt x="13394" y="763109"/>
                </a:lnTo>
                <a:cubicBezTo>
                  <a:pt x="5997" y="763109"/>
                  <a:pt x="0" y="757113"/>
                  <a:pt x="0" y="749715"/>
                </a:cubicBezTo>
                <a:lnTo>
                  <a:pt x="0" y="13394"/>
                </a:lnTo>
                <a:cubicBezTo>
                  <a:pt x="0" y="5997"/>
                  <a:pt x="5997" y="0"/>
                  <a:pt x="133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510114" y="3927511"/>
            <a:ext cx="13394" cy="763109"/>
          </a:xfrm>
          <a:custGeom>
            <a:avLst/>
            <a:gdLst/>
            <a:ahLst/>
            <a:cxnLst/>
            <a:rect l="l" t="t" r="r" b="b"/>
            <a:pathLst>
              <a:path w="13394" h="763109">
                <a:moveTo>
                  <a:pt x="13394" y="0"/>
                </a:moveTo>
                <a:lnTo>
                  <a:pt x="13394" y="0"/>
                </a:lnTo>
                <a:lnTo>
                  <a:pt x="13394" y="763109"/>
                </a:lnTo>
                <a:lnTo>
                  <a:pt x="13394" y="763109"/>
                </a:lnTo>
                <a:cubicBezTo>
                  <a:pt x="5997" y="763109"/>
                  <a:pt x="0" y="757113"/>
                  <a:pt x="0" y="749715"/>
                </a:cubicBezTo>
                <a:lnTo>
                  <a:pt x="0" y="13394"/>
                </a:lnTo>
                <a:cubicBezTo>
                  <a:pt x="0" y="5997"/>
                  <a:pt x="5997" y="0"/>
                  <a:pt x="13394" y="0"/>
                </a:cubicBezTo>
                <a:close/>
              </a:path>
            </a:pathLst>
          </a:custGeom>
          <a:solidFill>
            <a:srgbClr val="4A5C6A"/>
          </a:solidFill>
        </p:spPr>
      </p:sp>
      <p:sp>
        <p:nvSpPr>
          <p:cNvPr id="25" name="Shape 23"/>
          <p:cNvSpPr/>
          <p:nvPr/>
        </p:nvSpPr>
        <p:spPr>
          <a:xfrm>
            <a:off x="640975" y="4069399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115354" y="57677"/>
                </a:moveTo>
                <a:cubicBezTo>
                  <a:pt x="115354" y="70405"/>
                  <a:pt x="111222" y="82162"/>
                  <a:pt x="104262" y="91701"/>
                </a:cubicBezTo>
                <a:lnTo>
                  <a:pt x="139367" y="126834"/>
                </a:lnTo>
                <a:cubicBezTo>
                  <a:pt x="142833" y="130300"/>
                  <a:pt x="142833" y="135929"/>
                  <a:pt x="139367" y="139395"/>
                </a:cubicBezTo>
                <a:cubicBezTo>
                  <a:pt x="135901" y="142861"/>
                  <a:pt x="130272" y="142861"/>
                  <a:pt x="126806" y="139395"/>
                </a:cubicBezTo>
                <a:lnTo>
                  <a:pt x="91701" y="104262"/>
                </a:lnTo>
                <a:cubicBezTo>
                  <a:pt x="82162" y="111222"/>
                  <a:pt x="70405" y="115354"/>
                  <a:pt x="57677" y="115354"/>
                </a:cubicBezTo>
                <a:cubicBezTo>
                  <a:pt x="25816" y="115354"/>
                  <a:pt x="0" y="89538"/>
                  <a:pt x="0" y="57677"/>
                </a:cubicBezTo>
                <a:cubicBezTo>
                  <a:pt x="0" y="25816"/>
                  <a:pt x="25816" y="0"/>
                  <a:pt x="57677" y="0"/>
                </a:cubicBezTo>
                <a:cubicBezTo>
                  <a:pt x="89538" y="0"/>
                  <a:pt x="115354" y="25816"/>
                  <a:pt x="115354" y="57677"/>
                </a:cubicBezTo>
                <a:close/>
                <a:moveTo>
                  <a:pt x="57677" y="31057"/>
                </a:moveTo>
                <a:cubicBezTo>
                  <a:pt x="53989" y="31057"/>
                  <a:pt x="51022" y="34024"/>
                  <a:pt x="51022" y="37712"/>
                </a:cubicBezTo>
                <a:lnTo>
                  <a:pt x="51022" y="51022"/>
                </a:lnTo>
                <a:lnTo>
                  <a:pt x="37712" y="51022"/>
                </a:lnTo>
                <a:cubicBezTo>
                  <a:pt x="34024" y="51022"/>
                  <a:pt x="31057" y="53989"/>
                  <a:pt x="31057" y="57677"/>
                </a:cubicBezTo>
                <a:cubicBezTo>
                  <a:pt x="31057" y="61365"/>
                  <a:pt x="34024" y="64332"/>
                  <a:pt x="37712" y="64332"/>
                </a:cubicBezTo>
                <a:lnTo>
                  <a:pt x="51022" y="64332"/>
                </a:lnTo>
                <a:lnTo>
                  <a:pt x="51022" y="77642"/>
                </a:lnTo>
                <a:cubicBezTo>
                  <a:pt x="51022" y="81330"/>
                  <a:pt x="53989" y="84297"/>
                  <a:pt x="57677" y="84297"/>
                </a:cubicBezTo>
                <a:cubicBezTo>
                  <a:pt x="61365" y="84297"/>
                  <a:pt x="64332" y="81330"/>
                  <a:pt x="64332" y="77642"/>
                </a:cubicBezTo>
                <a:lnTo>
                  <a:pt x="64332" y="64332"/>
                </a:lnTo>
                <a:lnTo>
                  <a:pt x="77642" y="64332"/>
                </a:lnTo>
                <a:cubicBezTo>
                  <a:pt x="81330" y="64332"/>
                  <a:pt x="84297" y="61365"/>
                  <a:pt x="84297" y="57677"/>
                </a:cubicBezTo>
                <a:cubicBezTo>
                  <a:pt x="84297" y="53989"/>
                  <a:pt x="81330" y="51022"/>
                  <a:pt x="77642" y="51022"/>
                </a:cubicBezTo>
                <a:lnTo>
                  <a:pt x="64332" y="51022"/>
                </a:lnTo>
                <a:lnTo>
                  <a:pt x="64332" y="37712"/>
                </a:lnTo>
                <a:cubicBezTo>
                  <a:pt x="64332" y="34024"/>
                  <a:pt x="61365" y="31057"/>
                  <a:pt x="57677" y="31057"/>
                </a:cubicBezTo>
                <a:close/>
              </a:path>
            </a:pathLst>
          </a:custGeom>
          <a:solidFill>
            <a:srgbClr val="EDF2F4"/>
          </a:solidFill>
        </p:spPr>
      </p:sp>
      <p:sp>
        <p:nvSpPr>
          <p:cNvPr id="26" name="Text 24"/>
          <p:cNvSpPr/>
          <p:nvPr/>
        </p:nvSpPr>
        <p:spPr>
          <a:xfrm>
            <a:off x="871536" y="4033927"/>
            <a:ext cx="1552838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Root Cause Diagnostics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23228" y="4282338"/>
            <a:ext cx="2466795" cy="177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Operational inefficiency identification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50288" y="3927511"/>
            <a:ext cx="2624339" cy="763109"/>
          </a:xfrm>
          <a:custGeom>
            <a:avLst/>
            <a:gdLst/>
            <a:ahLst/>
            <a:cxnLst/>
            <a:rect l="l" t="t" r="r" b="b"/>
            <a:pathLst>
              <a:path w="2624339" h="763109">
                <a:moveTo>
                  <a:pt x="13394" y="0"/>
                </a:moveTo>
                <a:lnTo>
                  <a:pt x="2553354" y="0"/>
                </a:lnTo>
                <a:cubicBezTo>
                  <a:pt x="2592532" y="0"/>
                  <a:pt x="2624339" y="31807"/>
                  <a:pt x="2624339" y="70984"/>
                </a:cubicBezTo>
                <a:lnTo>
                  <a:pt x="2624339" y="692125"/>
                </a:lnTo>
                <a:cubicBezTo>
                  <a:pt x="2624339" y="731302"/>
                  <a:pt x="2592532" y="763109"/>
                  <a:pt x="2553354" y="763109"/>
                </a:cubicBezTo>
                <a:lnTo>
                  <a:pt x="13394" y="763109"/>
                </a:lnTo>
                <a:cubicBezTo>
                  <a:pt x="5997" y="763109"/>
                  <a:pt x="0" y="757113"/>
                  <a:pt x="0" y="749715"/>
                </a:cubicBezTo>
                <a:lnTo>
                  <a:pt x="0" y="13394"/>
                </a:lnTo>
                <a:cubicBezTo>
                  <a:pt x="0" y="5997"/>
                  <a:pt x="5997" y="0"/>
                  <a:pt x="133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3250288" y="3927511"/>
            <a:ext cx="13394" cy="763109"/>
          </a:xfrm>
          <a:custGeom>
            <a:avLst/>
            <a:gdLst/>
            <a:ahLst/>
            <a:cxnLst/>
            <a:rect l="l" t="t" r="r" b="b"/>
            <a:pathLst>
              <a:path w="13394" h="763109">
                <a:moveTo>
                  <a:pt x="13394" y="0"/>
                </a:moveTo>
                <a:lnTo>
                  <a:pt x="13394" y="0"/>
                </a:lnTo>
                <a:lnTo>
                  <a:pt x="13394" y="763109"/>
                </a:lnTo>
                <a:lnTo>
                  <a:pt x="13394" y="763109"/>
                </a:lnTo>
                <a:cubicBezTo>
                  <a:pt x="5997" y="763109"/>
                  <a:pt x="0" y="757113"/>
                  <a:pt x="0" y="749715"/>
                </a:cubicBezTo>
                <a:lnTo>
                  <a:pt x="0" y="13394"/>
                </a:lnTo>
                <a:cubicBezTo>
                  <a:pt x="0" y="5997"/>
                  <a:pt x="5997" y="0"/>
                  <a:pt x="13394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0" name="Shape 28"/>
          <p:cNvSpPr/>
          <p:nvPr/>
        </p:nvSpPr>
        <p:spPr>
          <a:xfrm>
            <a:off x="3381149" y="4069399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70987" y="0"/>
                </a:moveTo>
                <a:cubicBezTo>
                  <a:pt x="75063" y="0"/>
                  <a:pt x="78807" y="2246"/>
                  <a:pt x="80748" y="5823"/>
                </a:cubicBezTo>
                <a:lnTo>
                  <a:pt x="140643" y="116740"/>
                </a:lnTo>
                <a:cubicBezTo>
                  <a:pt x="142501" y="120179"/>
                  <a:pt x="142417" y="124338"/>
                  <a:pt x="140421" y="127693"/>
                </a:cubicBezTo>
                <a:cubicBezTo>
                  <a:pt x="138424" y="131048"/>
                  <a:pt x="134792" y="133100"/>
                  <a:pt x="130882" y="133100"/>
                </a:cubicBezTo>
                <a:lnTo>
                  <a:pt x="11092" y="133100"/>
                </a:lnTo>
                <a:cubicBezTo>
                  <a:pt x="7182" y="133100"/>
                  <a:pt x="3577" y="131048"/>
                  <a:pt x="1553" y="127693"/>
                </a:cubicBezTo>
                <a:cubicBezTo>
                  <a:pt x="-471" y="124338"/>
                  <a:pt x="-527" y="120179"/>
                  <a:pt x="1331" y="116740"/>
                </a:cubicBezTo>
                <a:lnTo>
                  <a:pt x="61226" y="5823"/>
                </a:lnTo>
                <a:cubicBezTo>
                  <a:pt x="63167" y="2246"/>
                  <a:pt x="66911" y="0"/>
                  <a:pt x="70987" y="0"/>
                </a:cubicBezTo>
                <a:close/>
                <a:moveTo>
                  <a:pt x="70987" y="46585"/>
                </a:moveTo>
                <a:cubicBezTo>
                  <a:pt x="67299" y="46585"/>
                  <a:pt x="64332" y="49552"/>
                  <a:pt x="64332" y="53240"/>
                </a:cubicBezTo>
                <a:lnTo>
                  <a:pt x="64332" y="84297"/>
                </a:lnTo>
                <a:cubicBezTo>
                  <a:pt x="64332" y="87985"/>
                  <a:pt x="67299" y="90952"/>
                  <a:pt x="70987" y="90952"/>
                </a:cubicBezTo>
                <a:cubicBezTo>
                  <a:pt x="74675" y="90952"/>
                  <a:pt x="77642" y="87985"/>
                  <a:pt x="77642" y="84297"/>
                </a:cubicBezTo>
                <a:lnTo>
                  <a:pt x="77642" y="53240"/>
                </a:lnTo>
                <a:cubicBezTo>
                  <a:pt x="77642" y="49552"/>
                  <a:pt x="74675" y="46585"/>
                  <a:pt x="70987" y="46585"/>
                </a:cubicBezTo>
                <a:close/>
                <a:moveTo>
                  <a:pt x="78391" y="106480"/>
                </a:moveTo>
                <a:cubicBezTo>
                  <a:pt x="78559" y="103732"/>
                  <a:pt x="77189" y="101118"/>
                  <a:pt x="74833" y="99693"/>
                </a:cubicBezTo>
                <a:cubicBezTo>
                  <a:pt x="72477" y="98267"/>
                  <a:pt x="69525" y="98267"/>
                  <a:pt x="67169" y="99693"/>
                </a:cubicBezTo>
                <a:cubicBezTo>
                  <a:pt x="64813" y="101118"/>
                  <a:pt x="63442" y="103732"/>
                  <a:pt x="63611" y="106480"/>
                </a:cubicBezTo>
                <a:cubicBezTo>
                  <a:pt x="63442" y="109229"/>
                  <a:pt x="64813" y="111843"/>
                  <a:pt x="67169" y="113268"/>
                </a:cubicBezTo>
                <a:cubicBezTo>
                  <a:pt x="69525" y="114693"/>
                  <a:pt x="72477" y="114693"/>
                  <a:pt x="74833" y="113268"/>
                </a:cubicBezTo>
                <a:cubicBezTo>
                  <a:pt x="77189" y="111843"/>
                  <a:pt x="78559" y="109229"/>
                  <a:pt x="78391" y="10648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1" name="Text 29"/>
          <p:cNvSpPr/>
          <p:nvPr/>
        </p:nvSpPr>
        <p:spPr>
          <a:xfrm>
            <a:off x="3611710" y="4033927"/>
            <a:ext cx="1189031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Risk Identification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63402" y="4282338"/>
            <a:ext cx="2466795" cy="177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concentration analysis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0114" y="4796850"/>
            <a:ext cx="5366208" cy="763109"/>
          </a:xfrm>
          <a:custGeom>
            <a:avLst/>
            <a:gdLst/>
            <a:ahLst/>
            <a:cxnLst/>
            <a:rect l="l" t="t" r="r" b="b"/>
            <a:pathLst>
              <a:path w="5366208" h="763109">
                <a:moveTo>
                  <a:pt x="13394" y="0"/>
                </a:moveTo>
                <a:lnTo>
                  <a:pt x="5295223" y="0"/>
                </a:lnTo>
                <a:cubicBezTo>
                  <a:pt x="5334427" y="0"/>
                  <a:pt x="5366208" y="31781"/>
                  <a:pt x="5366208" y="70984"/>
                </a:cubicBezTo>
                <a:lnTo>
                  <a:pt x="5366208" y="692125"/>
                </a:lnTo>
                <a:cubicBezTo>
                  <a:pt x="5366208" y="731328"/>
                  <a:pt x="5334427" y="763109"/>
                  <a:pt x="5295223" y="763109"/>
                </a:cubicBezTo>
                <a:lnTo>
                  <a:pt x="13394" y="763109"/>
                </a:lnTo>
                <a:cubicBezTo>
                  <a:pt x="5997" y="763109"/>
                  <a:pt x="0" y="757113"/>
                  <a:pt x="0" y="749715"/>
                </a:cubicBezTo>
                <a:lnTo>
                  <a:pt x="0" y="13394"/>
                </a:lnTo>
                <a:cubicBezTo>
                  <a:pt x="0" y="5997"/>
                  <a:pt x="5997" y="0"/>
                  <a:pt x="13394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510114" y="4796850"/>
            <a:ext cx="13394" cy="763109"/>
          </a:xfrm>
          <a:custGeom>
            <a:avLst/>
            <a:gdLst/>
            <a:ahLst/>
            <a:cxnLst/>
            <a:rect l="l" t="t" r="r" b="b"/>
            <a:pathLst>
              <a:path w="13394" h="763109">
                <a:moveTo>
                  <a:pt x="13394" y="0"/>
                </a:moveTo>
                <a:lnTo>
                  <a:pt x="13394" y="0"/>
                </a:lnTo>
                <a:lnTo>
                  <a:pt x="13394" y="763109"/>
                </a:lnTo>
                <a:lnTo>
                  <a:pt x="13394" y="763109"/>
                </a:lnTo>
                <a:cubicBezTo>
                  <a:pt x="5997" y="763109"/>
                  <a:pt x="0" y="757113"/>
                  <a:pt x="0" y="749715"/>
                </a:cubicBezTo>
                <a:lnTo>
                  <a:pt x="0" y="13394"/>
                </a:lnTo>
                <a:cubicBezTo>
                  <a:pt x="0" y="5997"/>
                  <a:pt x="5997" y="0"/>
                  <a:pt x="13394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5" name="Shape 33"/>
          <p:cNvSpPr/>
          <p:nvPr/>
        </p:nvSpPr>
        <p:spPr>
          <a:xfrm>
            <a:off x="640975" y="4938737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17747" y="17747"/>
                </a:moveTo>
                <a:cubicBezTo>
                  <a:pt x="17747" y="12839"/>
                  <a:pt x="13781" y="8873"/>
                  <a:pt x="8873" y="8873"/>
                </a:cubicBezTo>
                <a:cubicBezTo>
                  <a:pt x="3965" y="8873"/>
                  <a:pt x="0" y="12839"/>
                  <a:pt x="0" y="17747"/>
                </a:cubicBezTo>
                <a:lnTo>
                  <a:pt x="0" y="110917"/>
                </a:lnTo>
                <a:cubicBezTo>
                  <a:pt x="0" y="123173"/>
                  <a:pt x="9927" y="133100"/>
                  <a:pt x="22183" y="133100"/>
                </a:cubicBezTo>
                <a:lnTo>
                  <a:pt x="133100" y="133100"/>
                </a:lnTo>
                <a:cubicBezTo>
                  <a:pt x="138009" y="133100"/>
                  <a:pt x="141974" y="129135"/>
                  <a:pt x="141974" y="124227"/>
                </a:cubicBezTo>
                <a:cubicBezTo>
                  <a:pt x="141974" y="119319"/>
                  <a:pt x="138009" y="115354"/>
                  <a:pt x="133100" y="115354"/>
                </a:cubicBezTo>
                <a:lnTo>
                  <a:pt x="22183" y="115354"/>
                </a:lnTo>
                <a:cubicBezTo>
                  <a:pt x="19743" y="115354"/>
                  <a:pt x="17747" y="113357"/>
                  <a:pt x="17747" y="110917"/>
                </a:cubicBezTo>
                <a:lnTo>
                  <a:pt x="17747" y="17747"/>
                </a:lnTo>
                <a:close/>
                <a:moveTo>
                  <a:pt x="130494" y="41760"/>
                </a:moveTo>
                <a:cubicBezTo>
                  <a:pt x="133960" y="38294"/>
                  <a:pt x="133960" y="32665"/>
                  <a:pt x="130494" y="29199"/>
                </a:cubicBezTo>
                <a:cubicBezTo>
                  <a:pt x="127028" y="25733"/>
                  <a:pt x="121399" y="25733"/>
                  <a:pt x="117933" y="29199"/>
                </a:cubicBezTo>
                <a:lnTo>
                  <a:pt x="88734" y="58426"/>
                </a:lnTo>
                <a:lnTo>
                  <a:pt x="72817" y="42537"/>
                </a:lnTo>
                <a:cubicBezTo>
                  <a:pt x="69351" y="39071"/>
                  <a:pt x="63722" y="39071"/>
                  <a:pt x="60256" y="42537"/>
                </a:cubicBezTo>
                <a:lnTo>
                  <a:pt x="33636" y="69157"/>
                </a:lnTo>
                <a:cubicBezTo>
                  <a:pt x="30169" y="72623"/>
                  <a:pt x="30169" y="78252"/>
                  <a:pt x="33636" y="81718"/>
                </a:cubicBezTo>
                <a:cubicBezTo>
                  <a:pt x="37102" y="85184"/>
                  <a:pt x="42731" y="85184"/>
                  <a:pt x="46197" y="81718"/>
                </a:cubicBezTo>
                <a:lnTo>
                  <a:pt x="66550" y="61365"/>
                </a:lnTo>
                <a:lnTo>
                  <a:pt x="82467" y="77281"/>
                </a:lnTo>
                <a:cubicBezTo>
                  <a:pt x="85933" y="80748"/>
                  <a:pt x="91562" y="80748"/>
                  <a:pt x="95028" y="77281"/>
                </a:cubicBezTo>
                <a:lnTo>
                  <a:pt x="130522" y="41788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36" name="Text 34"/>
          <p:cNvSpPr/>
          <p:nvPr/>
        </p:nvSpPr>
        <p:spPr>
          <a:xfrm>
            <a:off x="871536" y="4903265"/>
            <a:ext cx="1916646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Business-Aligned Storytelling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3228" y="5151676"/>
            <a:ext cx="5208664" cy="177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Executive-ready dashboard narratives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1277" y="2380738"/>
            <a:ext cx="5667902" cy="3325334"/>
          </a:xfrm>
          <a:custGeom>
            <a:avLst/>
            <a:gdLst/>
            <a:ahLst/>
            <a:cxnLst/>
            <a:rect l="l" t="t" r="r" b="b"/>
            <a:pathLst>
              <a:path w="5667902" h="3325334">
                <a:moveTo>
                  <a:pt x="106477" y="0"/>
                </a:moveTo>
                <a:lnTo>
                  <a:pt x="5561425" y="0"/>
                </a:lnTo>
                <a:cubicBezTo>
                  <a:pt x="5620231" y="0"/>
                  <a:pt x="5667902" y="47671"/>
                  <a:pt x="5667902" y="106477"/>
                </a:cubicBezTo>
                <a:lnTo>
                  <a:pt x="5667902" y="3218857"/>
                </a:lnTo>
                <a:cubicBezTo>
                  <a:pt x="5667902" y="3277663"/>
                  <a:pt x="5620231" y="3325334"/>
                  <a:pt x="5561425" y="3325334"/>
                </a:cubicBezTo>
                <a:lnTo>
                  <a:pt x="106477" y="3325334"/>
                </a:lnTo>
                <a:cubicBezTo>
                  <a:pt x="47671" y="3325334"/>
                  <a:pt x="0" y="3277663"/>
                  <a:pt x="0" y="3218857"/>
                </a:cubicBezTo>
                <a:lnTo>
                  <a:pt x="0" y="106477"/>
                </a:lnTo>
                <a:cubicBezTo>
                  <a:pt x="0" y="47711"/>
                  <a:pt x="47711" y="0"/>
                  <a:pt x="106477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8699" y="2561451"/>
            <a:ext cx="177467" cy="177467"/>
          </a:xfrm>
          <a:custGeom>
            <a:avLst/>
            <a:gdLst/>
            <a:ahLst/>
            <a:cxnLst/>
            <a:rect l="l" t="t" r="r" b="b"/>
            <a:pathLst>
              <a:path w="177467" h="177467">
                <a:moveTo>
                  <a:pt x="155284" y="88734"/>
                </a:moveTo>
                <a:cubicBezTo>
                  <a:pt x="155284" y="52004"/>
                  <a:pt x="125464" y="22183"/>
                  <a:pt x="88734" y="22183"/>
                </a:cubicBezTo>
                <a:cubicBezTo>
                  <a:pt x="52004" y="22183"/>
                  <a:pt x="22183" y="52004"/>
                  <a:pt x="22183" y="88734"/>
                </a:cubicBezTo>
                <a:cubicBezTo>
                  <a:pt x="22183" y="125464"/>
                  <a:pt x="52004" y="155284"/>
                  <a:pt x="88734" y="155284"/>
                </a:cubicBezTo>
                <a:cubicBezTo>
                  <a:pt x="125464" y="155284"/>
                  <a:pt x="155284" y="125464"/>
                  <a:pt x="155284" y="88734"/>
                </a:cubicBezTo>
                <a:close/>
                <a:moveTo>
                  <a:pt x="0" y="88734"/>
                </a:moveTo>
                <a:cubicBezTo>
                  <a:pt x="0" y="39760"/>
                  <a:pt x="39760" y="0"/>
                  <a:pt x="88734" y="0"/>
                </a:cubicBezTo>
                <a:cubicBezTo>
                  <a:pt x="137707" y="0"/>
                  <a:pt x="177467" y="39760"/>
                  <a:pt x="177467" y="88734"/>
                </a:cubicBezTo>
                <a:cubicBezTo>
                  <a:pt x="177467" y="137707"/>
                  <a:pt x="137707" y="177467"/>
                  <a:pt x="88734" y="177467"/>
                </a:cubicBezTo>
                <a:cubicBezTo>
                  <a:pt x="39760" y="177467"/>
                  <a:pt x="0" y="137707"/>
                  <a:pt x="0" y="88734"/>
                </a:cubicBezTo>
                <a:close/>
                <a:moveTo>
                  <a:pt x="88734" y="116463"/>
                </a:moveTo>
                <a:cubicBezTo>
                  <a:pt x="104038" y="116463"/>
                  <a:pt x="116463" y="104038"/>
                  <a:pt x="116463" y="88734"/>
                </a:cubicBezTo>
                <a:cubicBezTo>
                  <a:pt x="116463" y="73429"/>
                  <a:pt x="104038" y="61004"/>
                  <a:pt x="88734" y="61004"/>
                </a:cubicBezTo>
                <a:cubicBezTo>
                  <a:pt x="73429" y="61004"/>
                  <a:pt x="61004" y="73429"/>
                  <a:pt x="61004" y="88734"/>
                </a:cubicBezTo>
                <a:cubicBezTo>
                  <a:pt x="61004" y="104038"/>
                  <a:pt x="73429" y="116463"/>
                  <a:pt x="88734" y="116463"/>
                </a:cubicBezTo>
                <a:close/>
                <a:moveTo>
                  <a:pt x="88734" y="38821"/>
                </a:moveTo>
                <a:cubicBezTo>
                  <a:pt x="116281" y="38821"/>
                  <a:pt x="138646" y="61186"/>
                  <a:pt x="138646" y="88734"/>
                </a:cubicBezTo>
                <a:cubicBezTo>
                  <a:pt x="138646" y="116281"/>
                  <a:pt x="116281" y="138646"/>
                  <a:pt x="88734" y="138646"/>
                </a:cubicBezTo>
                <a:cubicBezTo>
                  <a:pt x="61186" y="138646"/>
                  <a:pt x="38821" y="116281"/>
                  <a:pt x="38821" y="88734"/>
                </a:cubicBezTo>
                <a:cubicBezTo>
                  <a:pt x="38821" y="61186"/>
                  <a:pt x="61186" y="38821"/>
                  <a:pt x="88734" y="38821"/>
                </a:cubicBezTo>
                <a:close/>
                <a:moveTo>
                  <a:pt x="77642" y="88734"/>
                </a:moveTo>
                <a:cubicBezTo>
                  <a:pt x="77642" y="82612"/>
                  <a:pt x="82612" y="77642"/>
                  <a:pt x="88734" y="77642"/>
                </a:cubicBezTo>
                <a:cubicBezTo>
                  <a:pt x="94855" y="77642"/>
                  <a:pt x="99825" y="82612"/>
                  <a:pt x="99825" y="88734"/>
                </a:cubicBezTo>
                <a:cubicBezTo>
                  <a:pt x="99825" y="94855"/>
                  <a:pt x="94855" y="99825"/>
                  <a:pt x="88734" y="99825"/>
                </a:cubicBezTo>
                <a:cubicBezTo>
                  <a:pt x="82612" y="99825"/>
                  <a:pt x="77642" y="94855"/>
                  <a:pt x="77642" y="88734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0" name="Text 38"/>
          <p:cNvSpPr/>
          <p:nvPr/>
        </p:nvSpPr>
        <p:spPr>
          <a:xfrm>
            <a:off x="6538350" y="2525979"/>
            <a:ext cx="5244157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Dashboard Identifies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19864" y="2884158"/>
            <a:ext cx="5366208" cy="610086"/>
          </a:xfrm>
          <a:custGeom>
            <a:avLst/>
            <a:gdLst/>
            <a:ahLst/>
            <a:cxnLst/>
            <a:rect l="l" t="t" r="r" b="b"/>
            <a:pathLst>
              <a:path w="5366208" h="610086">
                <a:moveTo>
                  <a:pt x="70990" y="0"/>
                </a:moveTo>
                <a:lnTo>
                  <a:pt x="5295218" y="0"/>
                </a:lnTo>
                <a:cubicBezTo>
                  <a:pt x="5334425" y="0"/>
                  <a:pt x="5366208" y="31783"/>
                  <a:pt x="5366208" y="70990"/>
                </a:cubicBezTo>
                <a:lnTo>
                  <a:pt x="5366208" y="539096"/>
                </a:lnTo>
                <a:cubicBezTo>
                  <a:pt x="5366208" y="578302"/>
                  <a:pt x="5334425" y="610086"/>
                  <a:pt x="5295218" y="610086"/>
                </a:cubicBezTo>
                <a:lnTo>
                  <a:pt x="70990" y="610086"/>
                </a:lnTo>
                <a:cubicBezTo>
                  <a:pt x="31809" y="610086"/>
                  <a:pt x="0" y="578276"/>
                  <a:pt x="0" y="539096"/>
                </a:cubicBezTo>
                <a:lnTo>
                  <a:pt x="0" y="70990"/>
                </a:lnTo>
                <a:cubicBezTo>
                  <a:pt x="0" y="31809"/>
                  <a:pt x="31809" y="0"/>
                  <a:pt x="7099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29630" y="3011605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177467" y="0"/>
                </a:moveTo>
                <a:lnTo>
                  <a:pt x="177467" y="0"/>
                </a:lnTo>
                <a:cubicBezTo>
                  <a:pt x="275414" y="0"/>
                  <a:pt x="354934" y="79520"/>
                  <a:pt x="354934" y="177467"/>
                </a:cubicBezTo>
                <a:lnTo>
                  <a:pt x="354934" y="177467"/>
                </a:lnTo>
                <a:cubicBezTo>
                  <a:pt x="354934" y="275414"/>
                  <a:pt x="275414" y="354934"/>
                  <a:pt x="177467" y="354934"/>
                </a:cubicBezTo>
                <a:lnTo>
                  <a:pt x="177467" y="354934"/>
                </a:lnTo>
                <a:cubicBezTo>
                  <a:pt x="79520" y="354934"/>
                  <a:pt x="0" y="275414"/>
                  <a:pt x="0" y="177467"/>
                </a:cubicBezTo>
                <a:lnTo>
                  <a:pt x="0" y="177467"/>
                </a:lnTo>
                <a:cubicBezTo>
                  <a:pt x="0" y="79520"/>
                  <a:pt x="79520" y="0"/>
                  <a:pt x="177467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6536110" y="3118025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70987" y="141974"/>
                </a:moveTo>
                <a:cubicBezTo>
                  <a:pt x="110166" y="141974"/>
                  <a:pt x="141974" y="110166"/>
                  <a:pt x="141974" y="70987"/>
                </a:cubicBezTo>
                <a:cubicBezTo>
                  <a:pt x="141974" y="31808"/>
                  <a:pt x="110166" y="0"/>
                  <a:pt x="70987" y="0"/>
                </a:cubicBezTo>
                <a:cubicBezTo>
                  <a:pt x="31808" y="0"/>
                  <a:pt x="0" y="31808"/>
                  <a:pt x="0" y="70987"/>
                </a:cubicBezTo>
                <a:cubicBezTo>
                  <a:pt x="0" y="110166"/>
                  <a:pt x="31808" y="141974"/>
                  <a:pt x="70987" y="141974"/>
                </a:cubicBezTo>
                <a:close/>
                <a:moveTo>
                  <a:pt x="70987" y="37712"/>
                </a:moveTo>
                <a:cubicBezTo>
                  <a:pt x="74675" y="37712"/>
                  <a:pt x="77642" y="40679"/>
                  <a:pt x="77642" y="44367"/>
                </a:cubicBezTo>
                <a:lnTo>
                  <a:pt x="77642" y="75424"/>
                </a:lnTo>
                <a:cubicBezTo>
                  <a:pt x="77642" y="79112"/>
                  <a:pt x="74675" y="82079"/>
                  <a:pt x="70987" y="82079"/>
                </a:cubicBezTo>
                <a:cubicBezTo>
                  <a:pt x="67299" y="82079"/>
                  <a:pt x="64332" y="79112"/>
                  <a:pt x="64332" y="75424"/>
                </a:cubicBezTo>
                <a:lnTo>
                  <a:pt x="64332" y="44367"/>
                </a:lnTo>
                <a:cubicBezTo>
                  <a:pt x="64332" y="40679"/>
                  <a:pt x="67299" y="37712"/>
                  <a:pt x="70987" y="37712"/>
                </a:cubicBezTo>
                <a:close/>
                <a:moveTo>
                  <a:pt x="63583" y="97607"/>
                </a:moveTo>
                <a:cubicBezTo>
                  <a:pt x="63415" y="94859"/>
                  <a:pt x="64785" y="92244"/>
                  <a:pt x="67141" y="90819"/>
                </a:cubicBezTo>
                <a:cubicBezTo>
                  <a:pt x="69497" y="89394"/>
                  <a:pt x="72449" y="89394"/>
                  <a:pt x="74805" y="90819"/>
                </a:cubicBezTo>
                <a:cubicBezTo>
                  <a:pt x="77161" y="92244"/>
                  <a:pt x="78531" y="94859"/>
                  <a:pt x="78363" y="97607"/>
                </a:cubicBezTo>
                <a:cubicBezTo>
                  <a:pt x="78531" y="100355"/>
                  <a:pt x="77161" y="102970"/>
                  <a:pt x="74805" y="104395"/>
                </a:cubicBezTo>
                <a:cubicBezTo>
                  <a:pt x="72449" y="105820"/>
                  <a:pt x="69497" y="105820"/>
                  <a:pt x="67141" y="104395"/>
                </a:cubicBezTo>
                <a:cubicBezTo>
                  <a:pt x="64785" y="102970"/>
                  <a:pt x="63415" y="100355"/>
                  <a:pt x="63583" y="97607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4" name="Text 42"/>
          <p:cNvSpPr/>
          <p:nvPr/>
        </p:nvSpPr>
        <p:spPr>
          <a:xfrm>
            <a:off x="6890878" y="2993924"/>
            <a:ext cx="2395808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Revenue Vulnerabilities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90878" y="3206863"/>
            <a:ext cx="2386934" cy="177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Geographic &amp; category concentration risks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19864" y="3571632"/>
            <a:ext cx="5366208" cy="610086"/>
          </a:xfrm>
          <a:custGeom>
            <a:avLst/>
            <a:gdLst/>
            <a:ahLst/>
            <a:cxnLst/>
            <a:rect l="l" t="t" r="r" b="b"/>
            <a:pathLst>
              <a:path w="5366208" h="610086">
                <a:moveTo>
                  <a:pt x="70990" y="0"/>
                </a:moveTo>
                <a:lnTo>
                  <a:pt x="5295218" y="0"/>
                </a:lnTo>
                <a:cubicBezTo>
                  <a:pt x="5334425" y="0"/>
                  <a:pt x="5366208" y="31783"/>
                  <a:pt x="5366208" y="70990"/>
                </a:cubicBezTo>
                <a:lnTo>
                  <a:pt x="5366208" y="539096"/>
                </a:lnTo>
                <a:cubicBezTo>
                  <a:pt x="5366208" y="578302"/>
                  <a:pt x="5334425" y="610086"/>
                  <a:pt x="5295218" y="610086"/>
                </a:cubicBezTo>
                <a:lnTo>
                  <a:pt x="70990" y="610086"/>
                </a:lnTo>
                <a:cubicBezTo>
                  <a:pt x="31809" y="610086"/>
                  <a:pt x="0" y="578276"/>
                  <a:pt x="0" y="539096"/>
                </a:cubicBezTo>
                <a:lnTo>
                  <a:pt x="0" y="70990"/>
                </a:lnTo>
                <a:cubicBezTo>
                  <a:pt x="0" y="31809"/>
                  <a:pt x="31809" y="0"/>
                  <a:pt x="7099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9585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29630" y="3699083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177467" y="0"/>
                </a:moveTo>
                <a:lnTo>
                  <a:pt x="177467" y="0"/>
                </a:lnTo>
                <a:cubicBezTo>
                  <a:pt x="275414" y="0"/>
                  <a:pt x="354934" y="79520"/>
                  <a:pt x="354934" y="177467"/>
                </a:cubicBezTo>
                <a:lnTo>
                  <a:pt x="354934" y="177467"/>
                </a:lnTo>
                <a:cubicBezTo>
                  <a:pt x="354934" y="275414"/>
                  <a:pt x="275414" y="354934"/>
                  <a:pt x="177467" y="354934"/>
                </a:cubicBezTo>
                <a:lnTo>
                  <a:pt x="177467" y="354934"/>
                </a:lnTo>
                <a:cubicBezTo>
                  <a:pt x="79520" y="354934"/>
                  <a:pt x="0" y="275414"/>
                  <a:pt x="0" y="177467"/>
                </a:cubicBezTo>
                <a:lnTo>
                  <a:pt x="0" y="177467"/>
                </a:lnTo>
                <a:cubicBezTo>
                  <a:pt x="0" y="79520"/>
                  <a:pt x="79520" y="0"/>
                  <a:pt x="177467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6518364" y="3805503"/>
            <a:ext cx="177467" cy="141974"/>
          </a:xfrm>
          <a:custGeom>
            <a:avLst/>
            <a:gdLst/>
            <a:ahLst/>
            <a:cxnLst/>
            <a:rect l="l" t="t" r="r" b="b"/>
            <a:pathLst>
              <a:path w="177467" h="141974">
                <a:moveTo>
                  <a:pt x="115326" y="58370"/>
                </a:moveTo>
                <a:cubicBezTo>
                  <a:pt x="118709" y="57455"/>
                  <a:pt x="122258" y="59063"/>
                  <a:pt x="123783" y="62197"/>
                </a:cubicBezTo>
                <a:lnTo>
                  <a:pt x="128941" y="72623"/>
                </a:lnTo>
                <a:cubicBezTo>
                  <a:pt x="131797" y="73011"/>
                  <a:pt x="134598" y="73788"/>
                  <a:pt x="137232" y="74869"/>
                </a:cubicBezTo>
                <a:lnTo>
                  <a:pt x="146937" y="68408"/>
                </a:lnTo>
                <a:cubicBezTo>
                  <a:pt x="149849" y="66467"/>
                  <a:pt x="153703" y="66855"/>
                  <a:pt x="156171" y="69323"/>
                </a:cubicBezTo>
                <a:lnTo>
                  <a:pt x="161495" y="74647"/>
                </a:lnTo>
                <a:cubicBezTo>
                  <a:pt x="163963" y="77115"/>
                  <a:pt x="164351" y="80997"/>
                  <a:pt x="162410" y="83881"/>
                </a:cubicBezTo>
                <a:lnTo>
                  <a:pt x="155949" y="93559"/>
                </a:lnTo>
                <a:cubicBezTo>
                  <a:pt x="156476" y="94862"/>
                  <a:pt x="156948" y="96221"/>
                  <a:pt x="157336" y="97635"/>
                </a:cubicBezTo>
                <a:cubicBezTo>
                  <a:pt x="157724" y="99049"/>
                  <a:pt x="157974" y="100435"/>
                  <a:pt x="158168" y="101850"/>
                </a:cubicBezTo>
                <a:lnTo>
                  <a:pt x="168622" y="107007"/>
                </a:lnTo>
                <a:cubicBezTo>
                  <a:pt x="171755" y="108560"/>
                  <a:pt x="173363" y="112109"/>
                  <a:pt x="172448" y="115465"/>
                </a:cubicBezTo>
                <a:lnTo>
                  <a:pt x="170507" y="122730"/>
                </a:lnTo>
                <a:cubicBezTo>
                  <a:pt x="169592" y="126085"/>
                  <a:pt x="166459" y="128359"/>
                  <a:pt x="162965" y="128137"/>
                </a:cubicBezTo>
                <a:lnTo>
                  <a:pt x="151319" y="127388"/>
                </a:lnTo>
                <a:cubicBezTo>
                  <a:pt x="149572" y="129634"/>
                  <a:pt x="147547" y="131714"/>
                  <a:pt x="145246" y="133489"/>
                </a:cubicBezTo>
                <a:lnTo>
                  <a:pt x="145995" y="145107"/>
                </a:lnTo>
                <a:cubicBezTo>
                  <a:pt x="146216" y="148601"/>
                  <a:pt x="143943" y="151762"/>
                  <a:pt x="140587" y="152650"/>
                </a:cubicBezTo>
                <a:lnTo>
                  <a:pt x="133322" y="154591"/>
                </a:lnTo>
                <a:cubicBezTo>
                  <a:pt x="129939" y="155506"/>
                  <a:pt x="126418" y="153897"/>
                  <a:pt x="124865" y="150764"/>
                </a:cubicBezTo>
                <a:lnTo>
                  <a:pt x="119707" y="140338"/>
                </a:lnTo>
                <a:cubicBezTo>
                  <a:pt x="116851" y="139950"/>
                  <a:pt x="114050" y="139173"/>
                  <a:pt x="111416" y="138092"/>
                </a:cubicBezTo>
                <a:lnTo>
                  <a:pt x="101711" y="144553"/>
                </a:lnTo>
                <a:cubicBezTo>
                  <a:pt x="98799" y="146494"/>
                  <a:pt x="94945" y="146105"/>
                  <a:pt x="92477" y="143638"/>
                </a:cubicBezTo>
                <a:lnTo>
                  <a:pt x="87153" y="138314"/>
                </a:lnTo>
                <a:cubicBezTo>
                  <a:pt x="84685" y="135846"/>
                  <a:pt x="84297" y="131991"/>
                  <a:pt x="86238" y="129080"/>
                </a:cubicBezTo>
                <a:lnTo>
                  <a:pt x="92699" y="119374"/>
                </a:lnTo>
                <a:cubicBezTo>
                  <a:pt x="92172" y="118071"/>
                  <a:pt x="91701" y="116712"/>
                  <a:pt x="91312" y="115298"/>
                </a:cubicBezTo>
                <a:cubicBezTo>
                  <a:pt x="90924" y="113884"/>
                  <a:pt x="90675" y="112470"/>
                  <a:pt x="90481" y="111083"/>
                </a:cubicBezTo>
                <a:lnTo>
                  <a:pt x="80027" y="105926"/>
                </a:lnTo>
                <a:cubicBezTo>
                  <a:pt x="76893" y="104373"/>
                  <a:pt x="75313" y="100824"/>
                  <a:pt x="76200" y="97468"/>
                </a:cubicBezTo>
                <a:lnTo>
                  <a:pt x="78141" y="90203"/>
                </a:lnTo>
                <a:cubicBezTo>
                  <a:pt x="79056" y="86848"/>
                  <a:pt x="82190" y="84574"/>
                  <a:pt x="85683" y="84796"/>
                </a:cubicBezTo>
                <a:lnTo>
                  <a:pt x="97302" y="85545"/>
                </a:lnTo>
                <a:cubicBezTo>
                  <a:pt x="99049" y="83299"/>
                  <a:pt x="101073" y="81219"/>
                  <a:pt x="103375" y="79444"/>
                </a:cubicBezTo>
                <a:lnTo>
                  <a:pt x="102626" y="67853"/>
                </a:lnTo>
                <a:cubicBezTo>
                  <a:pt x="102404" y="64360"/>
                  <a:pt x="104678" y="61198"/>
                  <a:pt x="108033" y="60311"/>
                </a:cubicBezTo>
                <a:lnTo>
                  <a:pt x="115298" y="58370"/>
                </a:lnTo>
                <a:close/>
                <a:moveTo>
                  <a:pt x="124338" y="94279"/>
                </a:moveTo>
                <a:cubicBezTo>
                  <a:pt x="117604" y="94287"/>
                  <a:pt x="112143" y="99760"/>
                  <a:pt x="112151" y="106494"/>
                </a:cubicBezTo>
                <a:cubicBezTo>
                  <a:pt x="112159" y="113228"/>
                  <a:pt x="117632" y="118689"/>
                  <a:pt x="124366" y="118681"/>
                </a:cubicBezTo>
                <a:cubicBezTo>
                  <a:pt x="131100" y="118674"/>
                  <a:pt x="136560" y="113200"/>
                  <a:pt x="136553" y="106466"/>
                </a:cubicBezTo>
                <a:cubicBezTo>
                  <a:pt x="136545" y="99733"/>
                  <a:pt x="131072" y="94272"/>
                  <a:pt x="124338" y="94279"/>
                </a:cubicBezTo>
                <a:close/>
                <a:moveTo>
                  <a:pt x="62363" y="-12617"/>
                </a:moveTo>
                <a:lnTo>
                  <a:pt x="69628" y="-10676"/>
                </a:lnTo>
                <a:cubicBezTo>
                  <a:pt x="72983" y="-9761"/>
                  <a:pt x="75257" y="-6600"/>
                  <a:pt x="75035" y="-3133"/>
                </a:cubicBezTo>
                <a:lnTo>
                  <a:pt x="74287" y="8457"/>
                </a:lnTo>
                <a:cubicBezTo>
                  <a:pt x="76588" y="10232"/>
                  <a:pt x="78612" y="12284"/>
                  <a:pt x="80359" y="14558"/>
                </a:cubicBezTo>
                <a:lnTo>
                  <a:pt x="92006" y="13809"/>
                </a:lnTo>
                <a:cubicBezTo>
                  <a:pt x="95472" y="13587"/>
                  <a:pt x="98633" y="15861"/>
                  <a:pt x="99548" y="19216"/>
                </a:cubicBezTo>
                <a:lnTo>
                  <a:pt x="101489" y="26481"/>
                </a:lnTo>
                <a:cubicBezTo>
                  <a:pt x="102376" y="29837"/>
                  <a:pt x="100796" y="33386"/>
                  <a:pt x="97662" y="34939"/>
                </a:cubicBezTo>
                <a:lnTo>
                  <a:pt x="87209" y="40097"/>
                </a:lnTo>
                <a:cubicBezTo>
                  <a:pt x="87014" y="41511"/>
                  <a:pt x="86737" y="42925"/>
                  <a:pt x="86377" y="44311"/>
                </a:cubicBezTo>
                <a:cubicBezTo>
                  <a:pt x="86016" y="45698"/>
                  <a:pt x="85517" y="47084"/>
                  <a:pt x="84990" y="48388"/>
                </a:cubicBezTo>
                <a:lnTo>
                  <a:pt x="91451" y="58093"/>
                </a:lnTo>
                <a:cubicBezTo>
                  <a:pt x="93392" y="61004"/>
                  <a:pt x="93004" y="64859"/>
                  <a:pt x="90536" y="67327"/>
                </a:cubicBezTo>
                <a:lnTo>
                  <a:pt x="85212" y="72651"/>
                </a:lnTo>
                <a:cubicBezTo>
                  <a:pt x="82744" y="75119"/>
                  <a:pt x="78890" y="75507"/>
                  <a:pt x="75978" y="73566"/>
                </a:cubicBezTo>
                <a:lnTo>
                  <a:pt x="66273" y="67105"/>
                </a:lnTo>
                <a:cubicBezTo>
                  <a:pt x="63639" y="68186"/>
                  <a:pt x="60838" y="68963"/>
                  <a:pt x="57982" y="69351"/>
                </a:cubicBezTo>
                <a:lnTo>
                  <a:pt x="52824" y="79777"/>
                </a:lnTo>
                <a:cubicBezTo>
                  <a:pt x="51271" y="82910"/>
                  <a:pt x="47722" y="84491"/>
                  <a:pt x="44367" y="83604"/>
                </a:cubicBezTo>
                <a:lnTo>
                  <a:pt x="37102" y="81663"/>
                </a:lnTo>
                <a:cubicBezTo>
                  <a:pt x="33719" y="80748"/>
                  <a:pt x="31473" y="77586"/>
                  <a:pt x="31695" y="74120"/>
                </a:cubicBezTo>
                <a:lnTo>
                  <a:pt x="32443" y="62502"/>
                </a:lnTo>
                <a:cubicBezTo>
                  <a:pt x="30142" y="60727"/>
                  <a:pt x="28117" y="58675"/>
                  <a:pt x="26371" y="56401"/>
                </a:cubicBezTo>
                <a:lnTo>
                  <a:pt x="14724" y="57150"/>
                </a:lnTo>
                <a:cubicBezTo>
                  <a:pt x="11258" y="57372"/>
                  <a:pt x="8097" y="55098"/>
                  <a:pt x="7182" y="51743"/>
                </a:cubicBezTo>
                <a:lnTo>
                  <a:pt x="5241" y="44478"/>
                </a:lnTo>
                <a:cubicBezTo>
                  <a:pt x="4353" y="41122"/>
                  <a:pt x="5934" y="37573"/>
                  <a:pt x="9067" y="36020"/>
                </a:cubicBezTo>
                <a:lnTo>
                  <a:pt x="19521" y="30863"/>
                </a:lnTo>
                <a:cubicBezTo>
                  <a:pt x="19716" y="29448"/>
                  <a:pt x="19993" y="28062"/>
                  <a:pt x="20353" y="26648"/>
                </a:cubicBezTo>
                <a:cubicBezTo>
                  <a:pt x="20741" y="25234"/>
                  <a:pt x="21185" y="23875"/>
                  <a:pt x="21740" y="22572"/>
                </a:cubicBezTo>
                <a:lnTo>
                  <a:pt x="15279" y="12894"/>
                </a:lnTo>
                <a:cubicBezTo>
                  <a:pt x="13338" y="9983"/>
                  <a:pt x="13726" y="6128"/>
                  <a:pt x="16194" y="3660"/>
                </a:cubicBezTo>
                <a:lnTo>
                  <a:pt x="21518" y="-1664"/>
                </a:lnTo>
                <a:cubicBezTo>
                  <a:pt x="23986" y="-4132"/>
                  <a:pt x="27840" y="-4520"/>
                  <a:pt x="30752" y="-2579"/>
                </a:cubicBezTo>
                <a:lnTo>
                  <a:pt x="40457" y="3882"/>
                </a:lnTo>
                <a:cubicBezTo>
                  <a:pt x="43091" y="2801"/>
                  <a:pt x="45892" y="2024"/>
                  <a:pt x="48748" y="1636"/>
                </a:cubicBezTo>
                <a:lnTo>
                  <a:pt x="53906" y="-8790"/>
                </a:lnTo>
                <a:cubicBezTo>
                  <a:pt x="55459" y="-11924"/>
                  <a:pt x="58980" y="-13504"/>
                  <a:pt x="62363" y="-12617"/>
                </a:cubicBezTo>
                <a:close/>
                <a:moveTo>
                  <a:pt x="53351" y="23293"/>
                </a:moveTo>
                <a:cubicBezTo>
                  <a:pt x="46617" y="23293"/>
                  <a:pt x="41150" y="28760"/>
                  <a:pt x="41150" y="35493"/>
                </a:cubicBezTo>
                <a:cubicBezTo>
                  <a:pt x="41150" y="42227"/>
                  <a:pt x="46617" y="47694"/>
                  <a:pt x="53351" y="47694"/>
                </a:cubicBezTo>
                <a:cubicBezTo>
                  <a:pt x="60085" y="47694"/>
                  <a:pt x="65552" y="42227"/>
                  <a:pt x="65552" y="35493"/>
                </a:cubicBezTo>
                <a:cubicBezTo>
                  <a:pt x="65552" y="28760"/>
                  <a:pt x="60085" y="23293"/>
                  <a:pt x="53351" y="23293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9" name="Text 47"/>
          <p:cNvSpPr/>
          <p:nvPr/>
        </p:nvSpPr>
        <p:spPr>
          <a:xfrm>
            <a:off x="6890878" y="3681397"/>
            <a:ext cx="1668192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Operational Inefficiencies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90878" y="3894340"/>
            <a:ext cx="1659319" cy="177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Delivery performance gaps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19864" y="4259109"/>
            <a:ext cx="5366208" cy="610086"/>
          </a:xfrm>
          <a:custGeom>
            <a:avLst/>
            <a:gdLst/>
            <a:ahLst/>
            <a:cxnLst/>
            <a:rect l="l" t="t" r="r" b="b"/>
            <a:pathLst>
              <a:path w="5366208" h="610086">
                <a:moveTo>
                  <a:pt x="70990" y="0"/>
                </a:moveTo>
                <a:lnTo>
                  <a:pt x="5295218" y="0"/>
                </a:lnTo>
                <a:cubicBezTo>
                  <a:pt x="5334425" y="0"/>
                  <a:pt x="5366208" y="31783"/>
                  <a:pt x="5366208" y="70990"/>
                </a:cubicBezTo>
                <a:lnTo>
                  <a:pt x="5366208" y="539096"/>
                </a:lnTo>
                <a:cubicBezTo>
                  <a:pt x="5366208" y="578302"/>
                  <a:pt x="5334425" y="610086"/>
                  <a:pt x="5295218" y="610086"/>
                </a:cubicBezTo>
                <a:lnTo>
                  <a:pt x="70990" y="610086"/>
                </a:lnTo>
                <a:cubicBezTo>
                  <a:pt x="31809" y="610086"/>
                  <a:pt x="0" y="578276"/>
                  <a:pt x="0" y="539096"/>
                </a:cubicBezTo>
                <a:lnTo>
                  <a:pt x="0" y="70990"/>
                </a:lnTo>
                <a:cubicBezTo>
                  <a:pt x="0" y="31809"/>
                  <a:pt x="31809" y="0"/>
                  <a:pt x="70990" y="0"/>
                </a:cubicBezTo>
                <a:close/>
              </a:path>
            </a:pathLst>
          </a:custGeom>
          <a:solidFill>
            <a:srgbClr val="4A5C6A">
              <a:alpha val="2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29630" y="4386561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177467" y="0"/>
                </a:moveTo>
                <a:lnTo>
                  <a:pt x="177467" y="0"/>
                </a:lnTo>
                <a:cubicBezTo>
                  <a:pt x="275414" y="0"/>
                  <a:pt x="354934" y="79520"/>
                  <a:pt x="354934" y="177467"/>
                </a:cubicBezTo>
                <a:lnTo>
                  <a:pt x="354934" y="177467"/>
                </a:lnTo>
                <a:cubicBezTo>
                  <a:pt x="354934" y="275414"/>
                  <a:pt x="275414" y="354934"/>
                  <a:pt x="177467" y="354934"/>
                </a:cubicBezTo>
                <a:lnTo>
                  <a:pt x="177467" y="354934"/>
                </a:lnTo>
                <a:cubicBezTo>
                  <a:pt x="79520" y="354934"/>
                  <a:pt x="0" y="275414"/>
                  <a:pt x="0" y="177467"/>
                </a:cubicBezTo>
                <a:lnTo>
                  <a:pt x="0" y="177467"/>
                </a:lnTo>
                <a:cubicBezTo>
                  <a:pt x="0" y="79520"/>
                  <a:pt x="79520" y="0"/>
                  <a:pt x="177467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</p:spPr>
      </p:sp>
      <p:sp>
        <p:nvSpPr>
          <p:cNvPr id="53" name="Shape 51"/>
          <p:cNvSpPr/>
          <p:nvPr/>
        </p:nvSpPr>
        <p:spPr>
          <a:xfrm>
            <a:off x="6536110" y="4492976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126445" y="62114"/>
                </a:moveTo>
                <a:lnTo>
                  <a:pt x="86515" y="62114"/>
                </a:lnTo>
                <a:cubicBezTo>
                  <a:pt x="82827" y="62114"/>
                  <a:pt x="79860" y="59147"/>
                  <a:pt x="79860" y="55459"/>
                </a:cubicBezTo>
                <a:lnTo>
                  <a:pt x="79860" y="15528"/>
                </a:lnTo>
                <a:cubicBezTo>
                  <a:pt x="79860" y="12839"/>
                  <a:pt x="81469" y="10398"/>
                  <a:pt x="83964" y="9372"/>
                </a:cubicBezTo>
                <a:cubicBezTo>
                  <a:pt x="86460" y="8347"/>
                  <a:pt x="89316" y="8929"/>
                  <a:pt x="91229" y="10814"/>
                </a:cubicBezTo>
                <a:lnTo>
                  <a:pt x="102321" y="21906"/>
                </a:lnTo>
                <a:lnTo>
                  <a:pt x="122674" y="1553"/>
                </a:lnTo>
                <a:cubicBezTo>
                  <a:pt x="123672" y="555"/>
                  <a:pt x="125031" y="0"/>
                  <a:pt x="126445" y="0"/>
                </a:cubicBezTo>
                <a:cubicBezTo>
                  <a:pt x="127860" y="0"/>
                  <a:pt x="129218" y="555"/>
                  <a:pt x="130244" y="1581"/>
                </a:cubicBezTo>
                <a:lnTo>
                  <a:pt x="140421" y="11757"/>
                </a:lnTo>
                <a:cubicBezTo>
                  <a:pt x="141419" y="12755"/>
                  <a:pt x="141974" y="14114"/>
                  <a:pt x="141974" y="15528"/>
                </a:cubicBezTo>
                <a:cubicBezTo>
                  <a:pt x="141974" y="16943"/>
                  <a:pt x="141419" y="18301"/>
                  <a:pt x="140393" y="19327"/>
                </a:cubicBezTo>
                <a:lnTo>
                  <a:pt x="120068" y="39653"/>
                </a:lnTo>
                <a:lnTo>
                  <a:pt x="131159" y="50745"/>
                </a:lnTo>
                <a:cubicBezTo>
                  <a:pt x="133073" y="52658"/>
                  <a:pt x="133627" y="55514"/>
                  <a:pt x="132601" y="58010"/>
                </a:cubicBezTo>
                <a:cubicBezTo>
                  <a:pt x="131575" y="60505"/>
                  <a:pt x="129135" y="62114"/>
                  <a:pt x="126445" y="62114"/>
                </a:cubicBezTo>
                <a:close/>
                <a:moveTo>
                  <a:pt x="126445" y="79860"/>
                </a:moveTo>
                <a:cubicBezTo>
                  <a:pt x="129135" y="79860"/>
                  <a:pt x="131575" y="81469"/>
                  <a:pt x="132601" y="83964"/>
                </a:cubicBezTo>
                <a:cubicBezTo>
                  <a:pt x="133627" y="86460"/>
                  <a:pt x="133073" y="89316"/>
                  <a:pt x="131159" y="91229"/>
                </a:cubicBezTo>
                <a:lnTo>
                  <a:pt x="120068" y="102321"/>
                </a:lnTo>
                <a:lnTo>
                  <a:pt x="140421" y="122674"/>
                </a:lnTo>
                <a:cubicBezTo>
                  <a:pt x="141419" y="123672"/>
                  <a:pt x="142002" y="125031"/>
                  <a:pt x="142002" y="126473"/>
                </a:cubicBezTo>
                <a:cubicBezTo>
                  <a:pt x="142002" y="127915"/>
                  <a:pt x="141447" y="129246"/>
                  <a:pt x="140421" y="130272"/>
                </a:cubicBezTo>
                <a:lnTo>
                  <a:pt x="130244" y="140449"/>
                </a:lnTo>
                <a:cubicBezTo>
                  <a:pt x="129218" y="141419"/>
                  <a:pt x="127860" y="141974"/>
                  <a:pt x="126445" y="141974"/>
                </a:cubicBezTo>
                <a:cubicBezTo>
                  <a:pt x="125031" y="141974"/>
                  <a:pt x="123672" y="141419"/>
                  <a:pt x="122647" y="140393"/>
                </a:cubicBezTo>
                <a:lnTo>
                  <a:pt x="102321" y="120068"/>
                </a:lnTo>
                <a:lnTo>
                  <a:pt x="91229" y="131159"/>
                </a:lnTo>
                <a:cubicBezTo>
                  <a:pt x="89316" y="133073"/>
                  <a:pt x="86460" y="133627"/>
                  <a:pt x="83964" y="132601"/>
                </a:cubicBezTo>
                <a:cubicBezTo>
                  <a:pt x="81469" y="131575"/>
                  <a:pt x="79860" y="129135"/>
                  <a:pt x="79860" y="126445"/>
                </a:cubicBezTo>
                <a:lnTo>
                  <a:pt x="79860" y="86515"/>
                </a:lnTo>
                <a:cubicBezTo>
                  <a:pt x="79860" y="82827"/>
                  <a:pt x="82827" y="79860"/>
                  <a:pt x="86515" y="79860"/>
                </a:cubicBezTo>
                <a:lnTo>
                  <a:pt x="126445" y="79860"/>
                </a:lnTo>
                <a:close/>
                <a:moveTo>
                  <a:pt x="55459" y="79860"/>
                </a:moveTo>
                <a:cubicBezTo>
                  <a:pt x="59147" y="79860"/>
                  <a:pt x="62114" y="82827"/>
                  <a:pt x="62114" y="86515"/>
                </a:cubicBezTo>
                <a:lnTo>
                  <a:pt x="62114" y="126445"/>
                </a:lnTo>
                <a:cubicBezTo>
                  <a:pt x="62114" y="129135"/>
                  <a:pt x="60505" y="131575"/>
                  <a:pt x="58010" y="132601"/>
                </a:cubicBezTo>
                <a:cubicBezTo>
                  <a:pt x="55514" y="133627"/>
                  <a:pt x="52658" y="133073"/>
                  <a:pt x="50745" y="131159"/>
                </a:cubicBezTo>
                <a:lnTo>
                  <a:pt x="39653" y="120068"/>
                </a:lnTo>
                <a:lnTo>
                  <a:pt x="19300" y="140421"/>
                </a:lnTo>
                <a:cubicBezTo>
                  <a:pt x="18301" y="141419"/>
                  <a:pt x="16943" y="141974"/>
                  <a:pt x="15528" y="141974"/>
                </a:cubicBezTo>
                <a:cubicBezTo>
                  <a:pt x="14114" y="141974"/>
                  <a:pt x="12755" y="141419"/>
                  <a:pt x="11729" y="140393"/>
                </a:cubicBezTo>
                <a:lnTo>
                  <a:pt x="1581" y="130244"/>
                </a:lnTo>
                <a:cubicBezTo>
                  <a:pt x="555" y="129218"/>
                  <a:pt x="0" y="127860"/>
                  <a:pt x="0" y="126445"/>
                </a:cubicBezTo>
                <a:cubicBezTo>
                  <a:pt x="0" y="125031"/>
                  <a:pt x="555" y="123672"/>
                  <a:pt x="1581" y="122647"/>
                </a:cubicBezTo>
                <a:lnTo>
                  <a:pt x="21906" y="102321"/>
                </a:lnTo>
                <a:lnTo>
                  <a:pt x="10814" y="91229"/>
                </a:lnTo>
                <a:cubicBezTo>
                  <a:pt x="8901" y="89316"/>
                  <a:pt x="8347" y="86460"/>
                  <a:pt x="9372" y="83964"/>
                </a:cubicBezTo>
                <a:cubicBezTo>
                  <a:pt x="10398" y="81469"/>
                  <a:pt x="12839" y="79860"/>
                  <a:pt x="15528" y="79860"/>
                </a:cubicBezTo>
                <a:lnTo>
                  <a:pt x="55459" y="79860"/>
                </a:lnTo>
                <a:close/>
                <a:moveTo>
                  <a:pt x="15528" y="62114"/>
                </a:moveTo>
                <a:cubicBezTo>
                  <a:pt x="12839" y="62114"/>
                  <a:pt x="10398" y="60505"/>
                  <a:pt x="9372" y="58010"/>
                </a:cubicBezTo>
                <a:cubicBezTo>
                  <a:pt x="8347" y="55514"/>
                  <a:pt x="8929" y="52658"/>
                  <a:pt x="10814" y="50745"/>
                </a:cubicBezTo>
                <a:lnTo>
                  <a:pt x="21906" y="39653"/>
                </a:lnTo>
                <a:lnTo>
                  <a:pt x="1581" y="19327"/>
                </a:lnTo>
                <a:cubicBezTo>
                  <a:pt x="555" y="18301"/>
                  <a:pt x="0" y="16943"/>
                  <a:pt x="0" y="15528"/>
                </a:cubicBezTo>
                <a:cubicBezTo>
                  <a:pt x="0" y="14114"/>
                  <a:pt x="555" y="12755"/>
                  <a:pt x="1581" y="11729"/>
                </a:cubicBezTo>
                <a:lnTo>
                  <a:pt x="11729" y="1581"/>
                </a:lnTo>
                <a:cubicBezTo>
                  <a:pt x="12755" y="555"/>
                  <a:pt x="14114" y="0"/>
                  <a:pt x="15528" y="0"/>
                </a:cubicBezTo>
                <a:cubicBezTo>
                  <a:pt x="16943" y="0"/>
                  <a:pt x="18301" y="555"/>
                  <a:pt x="19327" y="1581"/>
                </a:cubicBezTo>
                <a:lnTo>
                  <a:pt x="39653" y="21906"/>
                </a:lnTo>
                <a:lnTo>
                  <a:pt x="50745" y="10814"/>
                </a:lnTo>
                <a:cubicBezTo>
                  <a:pt x="52658" y="8901"/>
                  <a:pt x="55514" y="8347"/>
                  <a:pt x="58010" y="9372"/>
                </a:cubicBezTo>
                <a:cubicBezTo>
                  <a:pt x="60505" y="10398"/>
                  <a:pt x="62114" y="12839"/>
                  <a:pt x="62114" y="15528"/>
                </a:cubicBezTo>
                <a:lnTo>
                  <a:pt x="62114" y="55459"/>
                </a:lnTo>
                <a:cubicBezTo>
                  <a:pt x="62114" y="59147"/>
                  <a:pt x="59147" y="62114"/>
                  <a:pt x="55459" y="62114"/>
                </a:cubicBezTo>
                <a:lnTo>
                  <a:pt x="15528" y="62114"/>
                </a:lnTo>
                <a:close/>
              </a:path>
            </a:pathLst>
          </a:custGeom>
          <a:solidFill>
            <a:srgbClr val="EDF2F4"/>
          </a:solidFill>
        </p:spPr>
      </p:sp>
      <p:sp>
        <p:nvSpPr>
          <p:cNvPr id="54" name="Text 52"/>
          <p:cNvSpPr/>
          <p:nvPr/>
        </p:nvSpPr>
        <p:spPr>
          <a:xfrm>
            <a:off x="6890878" y="4368875"/>
            <a:ext cx="1588332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Margin Pressure Areas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90878" y="4581814"/>
            <a:ext cx="1579459" cy="177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High freight cost categories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19864" y="4946587"/>
            <a:ext cx="5366208" cy="610086"/>
          </a:xfrm>
          <a:custGeom>
            <a:avLst/>
            <a:gdLst/>
            <a:ahLst/>
            <a:cxnLst/>
            <a:rect l="l" t="t" r="r" b="b"/>
            <a:pathLst>
              <a:path w="5366208" h="610086">
                <a:moveTo>
                  <a:pt x="70990" y="0"/>
                </a:moveTo>
                <a:lnTo>
                  <a:pt x="5295218" y="0"/>
                </a:lnTo>
                <a:cubicBezTo>
                  <a:pt x="5334425" y="0"/>
                  <a:pt x="5366208" y="31783"/>
                  <a:pt x="5366208" y="70990"/>
                </a:cubicBezTo>
                <a:lnTo>
                  <a:pt x="5366208" y="539096"/>
                </a:lnTo>
                <a:cubicBezTo>
                  <a:pt x="5366208" y="578302"/>
                  <a:pt x="5334425" y="610086"/>
                  <a:pt x="5295218" y="610086"/>
                </a:cubicBezTo>
                <a:lnTo>
                  <a:pt x="70990" y="610086"/>
                </a:lnTo>
                <a:cubicBezTo>
                  <a:pt x="31809" y="610086"/>
                  <a:pt x="0" y="578276"/>
                  <a:pt x="0" y="539096"/>
                </a:cubicBezTo>
                <a:lnTo>
                  <a:pt x="0" y="70990"/>
                </a:lnTo>
                <a:cubicBezTo>
                  <a:pt x="0" y="31809"/>
                  <a:pt x="31809" y="0"/>
                  <a:pt x="7099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29630" y="5074034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177467" y="0"/>
                </a:moveTo>
                <a:lnTo>
                  <a:pt x="177467" y="0"/>
                </a:lnTo>
                <a:cubicBezTo>
                  <a:pt x="275414" y="0"/>
                  <a:pt x="354934" y="79520"/>
                  <a:pt x="354934" y="177467"/>
                </a:cubicBezTo>
                <a:lnTo>
                  <a:pt x="354934" y="177467"/>
                </a:lnTo>
                <a:cubicBezTo>
                  <a:pt x="354934" y="275414"/>
                  <a:pt x="275414" y="354934"/>
                  <a:pt x="177467" y="354934"/>
                </a:cubicBezTo>
                <a:lnTo>
                  <a:pt x="177467" y="354934"/>
                </a:lnTo>
                <a:cubicBezTo>
                  <a:pt x="79520" y="354934"/>
                  <a:pt x="0" y="275414"/>
                  <a:pt x="0" y="177467"/>
                </a:cubicBezTo>
                <a:lnTo>
                  <a:pt x="0" y="177467"/>
                </a:lnTo>
                <a:cubicBezTo>
                  <a:pt x="0" y="79520"/>
                  <a:pt x="79520" y="0"/>
                  <a:pt x="177467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58" name="Shape 56"/>
          <p:cNvSpPr/>
          <p:nvPr/>
        </p:nvSpPr>
        <p:spPr>
          <a:xfrm>
            <a:off x="6536110" y="5180454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35493" y="88734"/>
                </a:moveTo>
                <a:lnTo>
                  <a:pt x="6794" y="88734"/>
                </a:lnTo>
                <a:cubicBezTo>
                  <a:pt x="-111" y="88734"/>
                  <a:pt x="-4353" y="81219"/>
                  <a:pt x="-804" y="75285"/>
                </a:cubicBezTo>
                <a:lnTo>
                  <a:pt x="13865" y="50828"/>
                </a:lnTo>
                <a:cubicBezTo>
                  <a:pt x="16277" y="46807"/>
                  <a:pt x="20603" y="44367"/>
                  <a:pt x="25289" y="44367"/>
                </a:cubicBezTo>
                <a:lnTo>
                  <a:pt x="51632" y="44367"/>
                </a:lnTo>
                <a:cubicBezTo>
                  <a:pt x="72734" y="8624"/>
                  <a:pt x="104207" y="6821"/>
                  <a:pt x="125253" y="9899"/>
                </a:cubicBezTo>
                <a:cubicBezTo>
                  <a:pt x="128802" y="10426"/>
                  <a:pt x="131575" y="13199"/>
                  <a:pt x="132074" y="16721"/>
                </a:cubicBezTo>
                <a:cubicBezTo>
                  <a:pt x="135152" y="37767"/>
                  <a:pt x="133350" y="69240"/>
                  <a:pt x="97607" y="90342"/>
                </a:cubicBezTo>
                <a:lnTo>
                  <a:pt x="97607" y="116685"/>
                </a:lnTo>
                <a:cubicBezTo>
                  <a:pt x="97607" y="121371"/>
                  <a:pt x="95167" y="125697"/>
                  <a:pt x="91146" y="128109"/>
                </a:cubicBezTo>
                <a:lnTo>
                  <a:pt x="66689" y="142778"/>
                </a:lnTo>
                <a:cubicBezTo>
                  <a:pt x="60783" y="146327"/>
                  <a:pt x="53240" y="142057"/>
                  <a:pt x="53240" y="135180"/>
                </a:cubicBezTo>
                <a:lnTo>
                  <a:pt x="53240" y="106480"/>
                </a:lnTo>
                <a:cubicBezTo>
                  <a:pt x="53240" y="96692"/>
                  <a:pt x="45282" y="88734"/>
                  <a:pt x="35493" y="88734"/>
                </a:cubicBezTo>
                <a:lnTo>
                  <a:pt x="35466" y="88734"/>
                </a:lnTo>
                <a:close/>
                <a:moveTo>
                  <a:pt x="110917" y="44367"/>
                </a:moveTo>
                <a:cubicBezTo>
                  <a:pt x="110917" y="37021"/>
                  <a:pt x="104953" y="31057"/>
                  <a:pt x="97607" y="31057"/>
                </a:cubicBezTo>
                <a:cubicBezTo>
                  <a:pt x="90261" y="31057"/>
                  <a:pt x="84297" y="37021"/>
                  <a:pt x="84297" y="44367"/>
                </a:cubicBezTo>
                <a:cubicBezTo>
                  <a:pt x="84297" y="51713"/>
                  <a:pt x="90261" y="57677"/>
                  <a:pt x="97607" y="57677"/>
                </a:cubicBezTo>
                <a:cubicBezTo>
                  <a:pt x="104953" y="57677"/>
                  <a:pt x="110917" y="51713"/>
                  <a:pt x="110917" y="44367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59" name="Text 57"/>
          <p:cNvSpPr/>
          <p:nvPr/>
        </p:nvSpPr>
        <p:spPr>
          <a:xfrm>
            <a:off x="6890878" y="5056352"/>
            <a:ext cx="1881153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Growth Opportunities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90878" y="5269291"/>
            <a:ext cx="1872279" cy="177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Expansion &amp; diversification paths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58178" y="5853594"/>
            <a:ext cx="11479955" cy="894033"/>
          </a:xfrm>
          <a:custGeom>
            <a:avLst/>
            <a:gdLst/>
            <a:ahLst/>
            <a:cxnLst/>
            <a:rect l="l" t="t" r="r" b="b"/>
            <a:pathLst>
              <a:path w="11479955" h="894033">
                <a:moveTo>
                  <a:pt x="106479" y="0"/>
                </a:moveTo>
                <a:lnTo>
                  <a:pt x="11373475" y="0"/>
                </a:lnTo>
                <a:cubicBezTo>
                  <a:pt x="11432282" y="0"/>
                  <a:pt x="11479955" y="47672"/>
                  <a:pt x="11479955" y="106479"/>
                </a:cubicBezTo>
                <a:lnTo>
                  <a:pt x="11479955" y="787554"/>
                </a:lnTo>
                <a:cubicBezTo>
                  <a:pt x="11479955" y="846361"/>
                  <a:pt x="11432282" y="894033"/>
                  <a:pt x="11373475" y="894033"/>
                </a:cubicBezTo>
                <a:lnTo>
                  <a:pt x="106479" y="894033"/>
                </a:lnTo>
                <a:cubicBezTo>
                  <a:pt x="47672" y="894033"/>
                  <a:pt x="0" y="846361"/>
                  <a:pt x="0" y="787554"/>
                </a:cubicBezTo>
                <a:lnTo>
                  <a:pt x="0" y="106479"/>
                </a:lnTo>
                <a:cubicBezTo>
                  <a:pt x="0" y="47712"/>
                  <a:pt x="47712" y="0"/>
                  <a:pt x="10647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9585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1198" y="6167299"/>
            <a:ext cx="332751" cy="266201"/>
          </a:xfrm>
          <a:custGeom>
            <a:avLst/>
            <a:gdLst/>
            <a:ahLst/>
            <a:cxnLst/>
            <a:rect l="l" t="t" r="r" b="b"/>
            <a:pathLst>
              <a:path w="332751" h="266201">
                <a:moveTo>
                  <a:pt x="166376" y="8319"/>
                </a:moveTo>
                <a:cubicBezTo>
                  <a:pt x="196219" y="8319"/>
                  <a:pt x="220448" y="32548"/>
                  <a:pt x="220448" y="62391"/>
                </a:cubicBezTo>
                <a:cubicBezTo>
                  <a:pt x="220448" y="92234"/>
                  <a:pt x="196219" y="116463"/>
                  <a:pt x="166376" y="116463"/>
                </a:cubicBezTo>
                <a:cubicBezTo>
                  <a:pt x="136532" y="116463"/>
                  <a:pt x="112303" y="92234"/>
                  <a:pt x="112303" y="62391"/>
                </a:cubicBezTo>
                <a:cubicBezTo>
                  <a:pt x="112303" y="32548"/>
                  <a:pt x="136532" y="8319"/>
                  <a:pt x="166376" y="8319"/>
                </a:cubicBezTo>
                <a:close/>
                <a:moveTo>
                  <a:pt x="49913" y="45753"/>
                </a:moveTo>
                <a:cubicBezTo>
                  <a:pt x="70573" y="45753"/>
                  <a:pt x="87347" y="62527"/>
                  <a:pt x="87347" y="83188"/>
                </a:cubicBezTo>
                <a:cubicBezTo>
                  <a:pt x="87347" y="103848"/>
                  <a:pt x="70573" y="120622"/>
                  <a:pt x="49913" y="120622"/>
                </a:cubicBezTo>
                <a:cubicBezTo>
                  <a:pt x="29252" y="120622"/>
                  <a:pt x="12478" y="103848"/>
                  <a:pt x="12478" y="83188"/>
                </a:cubicBezTo>
                <a:cubicBezTo>
                  <a:pt x="12478" y="62527"/>
                  <a:pt x="29252" y="45753"/>
                  <a:pt x="49913" y="45753"/>
                </a:cubicBezTo>
                <a:close/>
                <a:moveTo>
                  <a:pt x="0" y="216288"/>
                </a:moveTo>
                <a:cubicBezTo>
                  <a:pt x="0" y="179530"/>
                  <a:pt x="29792" y="149738"/>
                  <a:pt x="66550" y="149738"/>
                </a:cubicBezTo>
                <a:cubicBezTo>
                  <a:pt x="73205" y="149738"/>
                  <a:pt x="79652" y="150726"/>
                  <a:pt x="85735" y="152546"/>
                </a:cubicBezTo>
                <a:cubicBezTo>
                  <a:pt x="68630" y="171679"/>
                  <a:pt x="58231" y="196947"/>
                  <a:pt x="58231" y="224607"/>
                </a:cubicBezTo>
                <a:lnTo>
                  <a:pt x="58231" y="232926"/>
                </a:lnTo>
                <a:cubicBezTo>
                  <a:pt x="58231" y="238853"/>
                  <a:pt x="59479" y="244468"/>
                  <a:pt x="61715" y="249563"/>
                </a:cubicBezTo>
                <a:lnTo>
                  <a:pt x="16638" y="249563"/>
                </a:lnTo>
                <a:cubicBezTo>
                  <a:pt x="7435" y="249563"/>
                  <a:pt x="0" y="242128"/>
                  <a:pt x="0" y="232926"/>
                </a:cubicBezTo>
                <a:lnTo>
                  <a:pt x="0" y="216288"/>
                </a:lnTo>
                <a:close/>
                <a:moveTo>
                  <a:pt x="271036" y="249563"/>
                </a:moveTo>
                <a:cubicBezTo>
                  <a:pt x="273272" y="244468"/>
                  <a:pt x="274520" y="238853"/>
                  <a:pt x="274520" y="232926"/>
                </a:cubicBezTo>
                <a:lnTo>
                  <a:pt x="274520" y="224607"/>
                </a:lnTo>
                <a:cubicBezTo>
                  <a:pt x="274520" y="196947"/>
                  <a:pt x="264121" y="171679"/>
                  <a:pt x="247016" y="152546"/>
                </a:cubicBezTo>
                <a:cubicBezTo>
                  <a:pt x="253099" y="150726"/>
                  <a:pt x="259546" y="149738"/>
                  <a:pt x="266201" y="149738"/>
                </a:cubicBezTo>
                <a:cubicBezTo>
                  <a:pt x="302959" y="149738"/>
                  <a:pt x="332751" y="179530"/>
                  <a:pt x="332751" y="216288"/>
                </a:cubicBezTo>
                <a:lnTo>
                  <a:pt x="332751" y="232926"/>
                </a:lnTo>
                <a:cubicBezTo>
                  <a:pt x="332751" y="242128"/>
                  <a:pt x="325316" y="249563"/>
                  <a:pt x="316114" y="249563"/>
                </a:cubicBezTo>
                <a:lnTo>
                  <a:pt x="271036" y="249563"/>
                </a:lnTo>
                <a:close/>
                <a:moveTo>
                  <a:pt x="245404" y="83188"/>
                </a:moveTo>
                <a:cubicBezTo>
                  <a:pt x="245404" y="62527"/>
                  <a:pt x="262178" y="45753"/>
                  <a:pt x="282838" y="45753"/>
                </a:cubicBezTo>
                <a:cubicBezTo>
                  <a:pt x="303499" y="45753"/>
                  <a:pt x="320273" y="62527"/>
                  <a:pt x="320273" y="83188"/>
                </a:cubicBezTo>
                <a:cubicBezTo>
                  <a:pt x="320273" y="103848"/>
                  <a:pt x="303499" y="120622"/>
                  <a:pt x="282838" y="120622"/>
                </a:cubicBezTo>
                <a:cubicBezTo>
                  <a:pt x="262178" y="120622"/>
                  <a:pt x="245404" y="103848"/>
                  <a:pt x="245404" y="83188"/>
                </a:cubicBezTo>
                <a:close/>
                <a:moveTo>
                  <a:pt x="83188" y="224607"/>
                </a:moveTo>
                <a:cubicBezTo>
                  <a:pt x="83188" y="178646"/>
                  <a:pt x="120414" y="141419"/>
                  <a:pt x="166376" y="141419"/>
                </a:cubicBezTo>
                <a:cubicBezTo>
                  <a:pt x="212337" y="141419"/>
                  <a:pt x="249563" y="178646"/>
                  <a:pt x="249563" y="224607"/>
                </a:cubicBezTo>
                <a:lnTo>
                  <a:pt x="249563" y="232926"/>
                </a:lnTo>
                <a:cubicBezTo>
                  <a:pt x="249563" y="242128"/>
                  <a:pt x="242128" y="249563"/>
                  <a:pt x="232926" y="249563"/>
                </a:cubicBezTo>
                <a:lnTo>
                  <a:pt x="99825" y="249563"/>
                </a:lnTo>
                <a:cubicBezTo>
                  <a:pt x="90623" y="249563"/>
                  <a:pt x="83188" y="242128"/>
                  <a:pt x="83188" y="232926"/>
                </a:cubicBezTo>
                <a:lnTo>
                  <a:pt x="83188" y="224607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3" name="Text 61"/>
          <p:cNvSpPr/>
          <p:nvPr/>
        </p:nvSpPr>
        <p:spPr>
          <a:xfrm>
            <a:off x="977953" y="6051988"/>
            <a:ext cx="8269974" cy="2484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0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Multi-Stakeholder Solution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77953" y="6335767"/>
            <a:ext cx="8261100" cy="212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Designed for </a:t>
            </a:r>
            <a:r>
              <a:rPr lang="en-US" sz="112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executive, operational, and strategic stakeholders</a:t>
            </a:r>
            <a:r>
              <a:rPr lang="en-US" sz="112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 — providing actionable insights at every level of decision-making.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308555" y="5998831"/>
            <a:ext cx="1242271" cy="603389"/>
          </a:xfrm>
          <a:custGeom>
            <a:avLst/>
            <a:gdLst/>
            <a:ahLst/>
            <a:cxnLst/>
            <a:rect l="l" t="t" r="r" b="b"/>
            <a:pathLst>
              <a:path w="1242271" h="603389">
                <a:moveTo>
                  <a:pt x="70989" y="0"/>
                </a:moveTo>
                <a:lnTo>
                  <a:pt x="1171282" y="0"/>
                </a:lnTo>
                <a:cubicBezTo>
                  <a:pt x="1210488" y="0"/>
                  <a:pt x="1242271" y="31783"/>
                  <a:pt x="1242271" y="70989"/>
                </a:cubicBezTo>
                <a:lnTo>
                  <a:pt x="1242271" y="532400"/>
                </a:lnTo>
                <a:cubicBezTo>
                  <a:pt x="1242271" y="571606"/>
                  <a:pt x="1210488" y="603389"/>
                  <a:pt x="1171282" y="603389"/>
                </a:cubicBezTo>
                <a:lnTo>
                  <a:pt x="70989" y="603389"/>
                </a:lnTo>
                <a:cubicBezTo>
                  <a:pt x="31783" y="603389"/>
                  <a:pt x="0" y="571606"/>
                  <a:pt x="0" y="532400"/>
                </a:cubicBezTo>
                <a:lnTo>
                  <a:pt x="0" y="70989"/>
                </a:lnTo>
                <a:cubicBezTo>
                  <a:pt x="0" y="31783"/>
                  <a:pt x="31783" y="0"/>
                  <a:pt x="70989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</p:spPr>
      </p:sp>
      <p:sp>
        <p:nvSpPr>
          <p:cNvPr id="66" name="Text 64"/>
          <p:cNvSpPr/>
          <p:nvPr/>
        </p:nvSpPr>
        <p:spPr>
          <a:xfrm>
            <a:off x="9397205" y="6069779"/>
            <a:ext cx="1064803" cy="2839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5" b="1" dirty="0">
                <a:solidFill>
                  <a:srgbClr val="E07A5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419388" y="6353661"/>
            <a:ext cx="1020437" cy="177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Dashboard Pages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658918" y="5998831"/>
            <a:ext cx="1029310" cy="603389"/>
          </a:xfrm>
          <a:custGeom>
            <a:avLst/>
            <a:gdLst/>
            <a:ahLst/>
            <a:cxnLst/>
            <a:rect l="l" t="t" r="r" b="b"/>
            <a:pathLst>
              <a:path w="1029310" h="603389">
                <a:moveTo>
                  <a:pt x="70989" y="0"/>
                </a:moveTo>
                <a:lnTo>
                  <a:pt x="958321" y="0"/>
                </a:lnTo>
                <a:cubicBezTo>
                  <a:pt x="997527" y="0"/>
                  <a:pt x="1029310" y="31783"/>
                  <a:pt x="1029310" y="70989"/>
                </a:cubicBezTo>
                <a:lnTo>
                  <a:pt x="1029310" y="532400"/>
                </a:lnTo>
                <a:cubicBezTo>
                  <a:pt x="1029310" y="571606"/>
                  <a:pt x="997527" y="603389"/>
                  <a:pt x="958321" y="603389"/>
                </a:cubicBezTo>
                <a:lnTo>
                  <a:pt x="70989" y="603389"/>
                </a:lnTo>
                <a:cubicBezTo>
                  <a:pt x="31783" y="603389"/>
                  <a:pt x="0" y="571606"/>
                  <a:pt x="0" y="532400"/>
                </a:cubicBezTo>
                <a:lnTo>
                  <a:pt x="0" y="70989"/>
                </a:lnTo>
                <a:cubicBezTo>
                  <a:pt x="0" y="31783"/>
                  <a:pt x="31783" y="0"/>
                  <a:pt x="70989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</p:spPr>
      </p:sp>
      <p:sp>
        <p:nvSpPr>
          <p:cNvPr id="69" name="Text 67"/>
          <p:cNvSpPr/>
          <p:nvPr/>
        </p:nvSpPr>
        <p:spPr>
          <a:xfrm>
            <a:off x="10747568" y="6069779"/>
            <a:ext cx="851843" cy="2839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75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8+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769751" y="6353661"/>
            <a:ext cx="807476" cy="177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KPI Measures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d7d923b4b4e8c69f60bf2c58505529d042df788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4A5C6A">
                  <a:alpha val="80000"/>
                </a:srgbClr>
              </a:gs>
              <a:gs pos="100000">
                <a:srgbClr val="1A1D24">
                  <a:alpha val="9500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638733" y="774246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2"/>
          <p:cNvSpPr/>
          <p:nvPr/>
        </p:nvSpPr>
        <p:spPr>
          <a:xfrm>
            <a:off x="5895863" y="1002823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88263" y="62597"/>
                </a:moveTo>
                <a:cubicBezTo>
                  <a:pt x="401032" y="71884"/>
                  <a:pt x="403890" y="89743"/>
                  <a:pt x="394603" y="102513"/>
                </a:cubicBezTo>
                <a:lnTo>
                  <a:pt x="166003" y="416838"/>
                </a:lnTo>
                <a:cubicBezTo>
                  <a:pt x="161092" y="423624"/>
                  <a:pt x="153501" y="427821"/>
                  <a:pt x="145107" y="428536"/>
                </a:cubicBezTo>
                <a:cubicBezTo>
                  <a:pt x="136714" y="429250"/>
                  <a:pt x="128588" y="426125"/>
                  <a:pt x="122694" y="420231"/>
                </a:cubicBezTo>
                <a:lnTo>
                  <a:pt x="8394" y="305931"/>
                </a:lnTo>
                <a:cubicBezTo>
                  <a:pt x="-2768" y="294769"/>
                  <a:pt x="-2768" y="276642"/>
                  <a:pt x="8394" y="265480"/>
                </a:cubicBezTo>
                <a:cubicBezTo>
                  <a:pt x="19556" y="254318"/>
                  <a:pt x="37683" y="254318"/>
                  <a:pt x="48845" y="265480"/>
                </a:cubicBezTo>
                <a:lnTo>
                  <a:pt x="139482" y="356116"/>
                </a:lnTo>
                <a:lnTo>
                  <a:pt x="348436" y="68848"/>
                </a:lnTo>
                <a:cubicBezTo>
                  <a:pt x="357723" y="56078"/>
                  <a:pt x="375583" y="53221"/>
                  <a:pt x="388352" y="62508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6" name="Text 3"/>
          <p:cNvSpPr/>
          <p:nvPr/>
        </p:nvSpPr>
        <p:spPr>
          <a:xfrm>
            <a:off x="2579231" y="1917134"/>
            <a:ext cx="702945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310" y="2755288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5"/>
          <p:cNvSpPr/>
          <p:nvPr/>
        </p:nvSpPr>
        <p:spPr>
          <a:xfrm>
            <a:off x="2679243" y="3021941"/>
            <a:ext cx="68294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68725" y="3721100"/>
            <a:ext cx="4649470" cy="1873885"/>
          </a:xfrm>
          <a:custGeom>
            <a:avLst/>
            <a:gdLst/>
            <a:ahLst/>
            <a:cxnLst/>
            <a:rect l="l" t="t" r="r" b="b"/>
            <a:pathLst>
              <a:path w="6684214" h="1874089">
                <a:moveTo>
                  <a:pt x="152401" y="0"/>
                </a:moveTo>
                <a:lnTo>
                  <a:pt x="6531813" y="0"/>
                </a:lnTo>
                <a:cubicBezTo>
                  <a:pt x="6615981" y="0"/>
                  <a:pt x="6684214" y="68232"/>
                  <a:pt x="6684214" y="152401"/>
                </a:cubicBezTo>
                <a:lnTo>
                  <a:pt x="6684214" y="1721688"/>
                </a:lnTo>
                <a:cubicBezTo>
                  <a:pt x="6684214" y="1805856"/>
                  <a:pt x="6615981" y="1874089"/>
                  <a:pt x="6531813" y="1874089"/>
                </a:cubicBezTo>
                <a:lnTo>
                  <a:pt x="152401" y="1874089"/>
                </a:lnTo>
                <a:cubicBezTo>
                  <a:pt x="68232" y="1874089"/>
                  <a:pt x="0" y="1805856"/>
                  <a:pt x="0" y="1721688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9585">
            <a:solidFill>
              <a:srgbClr val="4A5C6A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71345" y="40296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4976065" y="422016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49247" y="0"/>
                  <a:pt x="42863" y="6385"/>
                  <a:pt x="42863" y="14288"/>
                </a:cubicBezTo>
                <a:lnTo>
                  <a:pt x="42863" y="28575"/>
                </a:lnTo>
                <a:lnTo>
                  <a:pt x="28575" y="28575"/>
                </a:lnTo>
                <a:cubicBezTo>
                  <a:pt x="12814" y="28575"/>
                  <a:pt x="0" y="41389"/>
                  <a:pt x="0" y="57150"/>
                </a:cubicBezTo>
                <a:lnTo>
                  <a:pt x="0" y="78581"/>
                </a:lnTo>
                <a:lnTo>
                  <a:pt x="200025" y="78581"/>
                </a:ln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57163" y="28575"/>
                </a:lnTo>
                <a:lnTo>
                  <a:pt x="157163" y="14288"/>
                </a:lnTo>
                <a:cubicBezTo>
                  <a:pt x="157163" y="6385"/>
                  <a:pt x="150778" y="0"/>
                  <a:pt x="142875" y="0"/>
                </a:cubicBezTo>
                <a:cubicBezTo>
                  <a:pt x="134972" y="0"/>
                  <a:pt x="128588" y="6385"/>
                  <a:pt x="128588" y="14288"/>
                </a:cubicBezTo>
                <a:lnTo>
                  <a:pt x="128588" y="28575"/>
                </a:lnTo>
                <a:lnTo>
                  <a:pt x="71438" y="28575"/>
                </a:lnTo>
                <a:lnTo>
                  <a:pt x="71438" y="14288"/>
                </a:lnTo>
                <a:cubicBezTo>
                  <a:pt x="71438" y="6385"/>
                  <a:pt x="65053" y="0"/>
                  <a:pt x="57150" y="0"/>
                </a:cubicBezTo>
                <a:close/>
                <a:moveTo>
                  <a:pt x="0" y="100013"/>
                </a:move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00013"/>
                </a:lnTo>
                <a:lnTo>
                  <a:pt x="0" y="100013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16" name="Text 13"/>
          <p:cNvSpPr/>
          <p:nvPr/>
        </p:nvSpPr>
        <p:spPr>
          <a:xfrm>
            <a:off x="4128497" y="4753480"/>
            <a:ext cx="1895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Date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23735" y="5020133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895150" y="4029663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5C6A">
              <a:alpha val="40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7114158" y="422016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EDF2F4"/>
          </a:solidFill>
        </p:spPr>
      </p:sp>
      <p:sp>
        <p:nvSpPr>
          <p:cNvPr id="20" name="Text 17"/>
          <p:cNvSpPr/>
          <p:nvPr/>
        </p:nvSpPr>
        <p:spPr>
          <a:xfrm>
            <a:off x="6252303" y="4753480"/>
            <a:ext cx="1895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Location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47541" y="5020133"/>
            <a:ext cx="19050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Bangalore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318936" y="5883594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3" name="Text 20"/>
          <p:cNvSpPr/>
          <p:nvPr/>
        </p:nvSpPr>
        <p:spPr>
          <a:xfrm>
            <a:off x="4541426" y="5855066"/>
            <a:ext cx="6667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400495" y="5950316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5" name="Shape 22"/>
          <p:cNvSpPr/>
          <p:nvPr/>
        </p:nvSpPr>
        <p:spPr>
          <a:xfrm>
            <a:off x="5675485" y="5883594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6" name="Text 23"/>
          <p:cNvSpPr/>
          <p:nvPr/>
        </p:nvSpPr>
        <p:spPr>
          <a:xfrm>
            <a:off x="5919406" y="5855066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DAX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92501" y="5950316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8" name="Shape 25"/>
          <p:cNvSpPr/>
          <p:nvPr/>
        </p:nvSpPr>
        <p:spPr>
          <a:xfrm>
            <a:off x="6778206" y="588359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9" name="Text 26"/>
          <p:cNvSpPr/>
          <p:nvPr/>
        </p:nvSpPr>
        <p:spPr>
          <a:xfrm>
            <a:off x="7011411" y="5855066"/>
            <a:ext cx="933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Star Schema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7463</Words>
  <Application>WPS Presentation</Application>
  <PresentationFormat>On-screen Show (16:9)</PresentationFormat>
  <Paragraphs>546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Liter</vt:lpstr>
      <vt:lpstr>Liter</vt:lpstr>
      <vt:lpstr>Liter</vt:lpstr>
      <vt:lpstr>Calibri</vt:lpstr>
      <vt:lpstr>Microsoft YaHei</vt:lpstr>
      <vt:lpstr>Arial Unicode MS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Intelligence and Behavioral Analysis Dashboard</dc:title>
  <dc:creator>Kimi</dc:creator>
  <dc:subject>Customer Intelligence and Behavioral Analysis Dashboard</dc:subject>
  <cp:lastModifiedBy>WPS_1756206956</cp:lastModifiedBy>
  <cp:revision>9</cp:revision>
  <dcterms:created xsi:type="dcterms:W3CDTF">2026-03-03T05:48:00Z</dcterms:created>
  <dcterms:modified xsi:type="dcterms:W3CDTF">2026-03-03T10:16:10Z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{"Label":"Customer Intelligence and Behavioral Analysis Dashboard","ContentProducer":"001191110108MACG2KBH8F10000","ProduceID":"19cb2374-97b2-8e63-8000-0000bb0c2fdf","ReservedCode1":"","ContentPropagator":"001191110108MACG2KBH8F20000","PropagateID":"19cb2374-97b2-8e63-8000-0000bb0c2fdf","ReservedCode2":""}</vt:lpwstr>
  </property>
  <property fmtid="{D5CDD505-2E9C-101B-9397-08002B2CF9AE}" pid="3" name="ICV">
    <vt:lpwstr>57680B7005CD49149C5AFA863EF2F780_12</vt:lpwstr>
  </property>
  <property fmtid="{D5CDD505-2E9C-101B-9397-08002B2CF9AE}" pid="4" name="KSOProductBuildVer">
    <vt:lpwstr>1033-12.2.0.23196</vt:lpwstr>
  </property>
</Properties>
</file>